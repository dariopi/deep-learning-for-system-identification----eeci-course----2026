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7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6303" r:id="rId2"/>
    <p:sldId id="6344" r:id="rId3"/>
    <p:sldId id="6314" r:id="rId4"/>
    <p:sldId id="6324" r:id="rId5"/>
    <p:sldId id="6337" r:id="rId6"/>
    <p:sldId id="6342" r:id="rId7"/>
    <p:sldId id="6325" r:id="rId8"/>
    <p:sldId id="6326" r:id="rId9"/>
    <p:sldId id="6328" r:id="rId10"/>
    <p:sldId id="6329" r:id="rId11"/>
    <p:sldId id="6339" r:id="rId12"/>
    <p:sldId id="6332" r:id="rId13"/>
    <p:sldId id="6338" r:id="rId14"/>
    <p:sldId id="6330" r:id="rId15"/>
    <p:sldId id="6331" r:id="rId16"/>
    <p:sldId id="6316" r:id="rId17"/>
    <p:sldId id="6304" r:id="rId18"/>
    <p:sldId id="6319" r:id="rId19"/>
  </p:sldIdLst>
  <p:sldSz cx="12192000" cy="6858000"/>
  <p:notesSz cx="6858000" cy="9144000"/>
  <p:defaultTextStyle>
    <a:defPPr>
      <a:defRPr lang="it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80" autoAdjust="0"/>
    <p:restoredTop sz="94660"/>
  </p:normalViewPr>
  <p:slideViewPr>
    <p:cSldViewPr snapToGrid="0">
      <p:cViewPr varScale="1">
        <p:scale>
          <a:sx n="63" d="100"/>
          <a:sy n="63" d="100"/>
        </p:scale>
        <p:origin x="6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CH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D4630A-6D3B-4C97-A7DC-509EB0048625}" type="datetimeFigureOut">
              <a:rPr lang="it-CH" smtClean="0"/>
              <a:t>04.06.2026</a:t>
            </a:fld>
            <a:endParaRPr lang="it-CH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CH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CH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AB120-BC75-4CF8-A646-8F594D18F614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974353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94045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E5DF0-8DC2-4965-5948-44FCA7F7F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30BFA78-E93B-D831-2BEC-B8DDA201D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D368C33-6EEB-C5CC-0AE4-B80140F92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60B5B64-F0DF-111E-25B7-C6AF7CF2C6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2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603053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3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490604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4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68487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5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52630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6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40442849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7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6692198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8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42791615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9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0723868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10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8832744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11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594569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12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3769201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13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0697342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14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5518119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15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9170196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16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0205282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17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7810397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18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903138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20B484-5030-D323-3799-18FA1EE76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9F607B8-D98E-2C2D-FD15-3E6921D6C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E2C49ED-4AE3-3ABD-9CB8-D661A6030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04.06.2026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A1FB008-ACE7-DA06-5DBF-8A8094406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4AAF54B-A0BB-172F-FFB5-76E038F2E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906596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ACD8D2-7F26-51BF-53AF-D314B772D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49697EA-A1D6-343E-9013-5B20BA7D3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FDD92C8-9503-541F-ED04-2CBCA5849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04.06.2026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F1CF8E1-BCD7-AE00-D4F0-9AA876441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439E997-E27F-22A4-BDE8-0BB5D3C27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40859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4FAE7E-1311-376E-12CD-43708CB8A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E359590-B5DF-055B-0A41-C61323F45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388A398-9D7E-9161-4789-27E7A86BF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04.06.2026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585AF01-354D-58B0-9B55-512AC0026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C12635B-81C4-B102-DBA3-C627FFC62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192156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870519-A0B9-6161-B990-85EC53198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CB62B06-CA6D-DC89-D3F1-D9B689A872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7332277-1682-7AB1-A155-EDC31B592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D850E56-92AA-D52D-F08C-A8212F630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04.06.2026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0651B1D-DEE6-2B35-D94D-6787C83C5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76BE208-B222-0984-247E-D53A9CAA0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26025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022027-0EF9-C671-52E4-20557A58B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3709EF0-8438-0DD6-4124-A0C50878A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062E512-0261-B21F-CA8C-50BFD0EE5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15CA723-7328-CED3-9475-D68C9B081D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93D6203-BBF9-A08E-5229-DDA0B85CC9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96AB44D-1F20-9C96-5CE3-46DAE87EC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04.06.2026</a:t>
            </a:fld>
            <a:endParaRPr lang="it-CH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5717CC5-EA27-DB3F-85C8-040F7257A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A362AB5-378D-93CE-A14E-5E59B0693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57275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016366-24B4-9045-8CE8-113CADB61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BC3538B-67EB-9087-DD95-7501248C2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04.06.2026</a:t>
            </a:fld>
            <a:endParaRPr lang="it-CH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4C76070-7C60-65D3-D778-2479CEEB0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E783E5A-A005-449B-90F2-109BB45AA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751788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20BC331-97F2-ACC1-F23C-CE6007665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04.06.2026</a:t>
            </a:fld>
            <a:endParaRPr lang="it-CH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AA7527E-8A6D-DD64-3A80-16335E8A9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BF6F9BA-1DD3-EF35-4CAD-85C079998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014587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03D1C2-D40E-A5DB-586A-DFFEE4847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31EA32E-BC47-511D-F5A7-5DD04E98D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61C5C7E-DB9D-421C-13B1-569C5AD58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CE291CC-2352-B728-EB3C-9C627413F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04.06.2026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21A0E64-AAB1-7067-F142-10B0F0DF7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B1FE456-524C-82F1-8545-CCB6E36F0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75648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CE44FD-2718-23AC-43E0-EDF4F4C08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A2A1BE1-0B89-72BD-F44E-D30DFFCFBA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CH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FF456F9-4757-5831-A5B0-1E5FE5963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1FFAA7E-1BAE-3D49-3080-0B6CEEC64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04.06.2026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7C37025-82BA-C9E7-BCDF-672A98665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42D7A8-1672-AE15-148C-054E202A1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376213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96D4D1-9A0B-C3B1-D44B-D74E4DD12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B1BC625-60FE-6F53-1450-E2EED6AD67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2B5FECE-4E78-A0B1-37BD-E54E1FB64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04.06.2026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51C8BB3-DB20-7A61-02FF-03A580D02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0F7CA1F-E5A8-366B-4E60-D41A202A3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504809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14F5905-E42A-0078-807D-D1FDD330B8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9508D6-F0FC-F070-F9E6-8FE91B7D48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67D89D-2FB3-B467-D1BA-F5A1775B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04.06.2026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60D6AAE-9366-A499-CBA6-7CFCF7249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A1487E1-D98D-28A9-E619-564484C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4051392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D291D90-F333-1EC7-570B-03EC023CD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598149F-EF5F-F06A-84E3-2189368E5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A4A68CE-624B-7CC1-9580-0547409D34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47C38-CC24-4E9D-9FE1-BE5105214113}" type="datetimeFigureOut">
              <a:rPr lang="it-CH" smtClean="0"/>
              <a:t>04.06.2026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F897E9-F9F4-5B60-DEF7-EE25EBCFC2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2B8217B-F0E3-B9EE-4F9B-60C6D674E6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648298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0.png"/><Relationship Id="rId3" Type="http://schemas.openxmlformats.org/officeDocument/2006/relationships/image" Target="../media/image53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0.png"/><Relationship Id="rId5" Type="http://schemas.openxmlformats.org/officeDocument/2006/relationships/image" Target="../media/image550.png"/><Relationship Id="rId4" Type="http://schemas.openxmlformats.org/officeDocument/2006/relationships/image" Target="../media/image540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tags" Target="../tags/tag3.xml"/><Relationship Id="rId7" Type="http://schemas.openxmlformats.org/officeDocument/2006/relationships/notesSlide" Target="../notesSlides/notesSlide4.xml"/><Relationship Id="rId12" Type="http://schemas.openxmlformats.org/officeDocument/2006/relationships/image" Target="../media/image10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11" Type="http://schemas.openxmlformats.org/officeDocument/2006/relationships/image" Target="../media/image9.png"/><Relationship Id="rId5" Type="http://schemas.openxmlformats.org/officeDocument/2006/relationships/tags" Target="../tags/tag5.xml"/><Relationship Id="rId10" Type="http://schemas.openxmlformats.org/officeDocument/2006/relationships/image" Target="../media/image8.png"/><Relationship Id="rId4" Type="http://schemas.openxmlformats.org/officeDocument/2006/relationships/tags" Target="../tags/tag4.xml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1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png"/><Relationship Id="rId3" Type="http://schemas.openxmlformats.org/officeDocument/2006/relationships/tags" Target="../tags/tag10.xml"/><Relationship Id="rId7" Type="http://schemas.openxmlformats.org/officeDocument/2006/relationships/image" Target="../media/image23.png"/><Relationship Id="rId12" Type="http://schemas.openxmlformats.org/officeDocument/2006/relationships/image" Target="../media/image820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780.png"/><Relationship Id="rId11" Type="http://schemas.openxmlformats.org/officeDocument/2006/relationships/image" Target="../media/image810.png"/><Relationship Id="rId5" Type="http://schemas.openxmlformats.org/officeDocument/2006/relationships/notesSlide" Target="../notesSlides/notesSlide9.xml"/><Relationship Id="rId10" Type="http://schemas.openxmlformats.org/officeDocument/2006/relationships/image" Target="../media/image800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790.png"/><Relationship Id="rId1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0.png"/><Relationship Id="rId5" Type="http://schemas.openxmlformats.org/officeDocument/2006/relationships/image" Target="../media/image900.png"/><Relationship Id="rId4" Type="http://schemas.openxmlformats.org/officeDocument/2006/relationships/image" Target="../media/image89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0.png"/><Relationship Id="rId5" Type="http://schemas.openxmlformats.org/officeDocument/2006/relationships/image" Target="../media/image900.png"/><Relationship Id="rId4" Type="http://schemas.openxmlformats.org/officeDocument/2006/relationships/image" Target="../media/image89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7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notesSlide" Target="../notesSlides/notesSlide15.xml"/><Relationship Id="rId9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27.xml"/><Relationship Id="rId18" Type="http://schemas.openxmlformats.org/officeDocument/2006/relationships/slideLayout" Target="../slideLayouts/slideLayout1.xml"/><Relationship Id="rId26" Type="http://schemas.openxmlformats.org/officeDocument/2006/relationships/image" Target="../media/image46.png"/><Relationship Id="rId3" Type="http://schemas.openxmlformats.org/officeDocument/2006/relationships/tags" Target="../tags/tag17.xml"/><Relationship Id="rId21" Type="http://schemas.openxmlformats.org/officeDocument/2006/relationships/image" Target="../media/image41.png"/><Relationship Id="rId7" Type="http://schemas.openxmlformats.org/officeDocument/2006/relationships/tags" Target="../tags/tag21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25" Type="http://schemas.openxmlformats.org/officeDocument/2006/relationships/image" Target="../media/image45.png"/><Relationship Id="rId33" Type="http://schemas.openxmlformats.org/officeDocument/2006/relationships/image" Target="../media/image53.png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20" Type="http://schemas.openxmlformats.org/officeDocument/2006/relationships/image" Target="../media/image40.png"/><Relationship Id="rId29" Type="http://schemas.openxmlformats.org/officeDocument/2006/relationships/image" Target="../media/image49.png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tags" Target="../tags/tag25.xml"/><Relationship Id="rId24" Type="http://schemas.openxmlformats.org/officeDocument/2006/relationships/image" Target="../media/image44.png"/><Relationship Id="rId32" Type="http://schemas.openxmlformats.org/officeDocument/2006/relationships/image" Target="../media/image52.png"/><Relationship Id="rId5" Type="http://schemas.openxmlformats.org/officeDocument/2006/relationships/tags" Target="../tags/tag19.xml"/><Relationship Id="rId15" Type="http://schemas.openxmlformats.org/officeDocument/2006/relationships/tags" Target="../tags/tag29.xml"/><Relationship Id="rId23" Type="http://schemas.openxmlformats.org/officeDocument/2006/relationships/image" Target="../media/image43.png"/><Relationship Id="rId28" Type="http://schemas.openxmlformats.org/officeDocument/2006/relationships/image" Target="../media/image48.png"/><Relationship Id="rId10" Type="http://schemas.openxmlformats.org/officeDocument/2006/relationships/tags" Target="../tags/tag24.xml"/><Relationship Id="rId19" Type="http://schemas.openxmlformats.org/officeDocument/2006/relationships/notesSlide" Target="../notesSlides/notesSlide17.xml"/><Relationship Id="rId31" Type="http://schemas.openxmlformats.org/officeDocument/2006/relationships/image" Target="../media/image51.png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Relationship Id="rId22" Type="http://schemas.openxmlformats.org/officeDocument/2006/relationships/image" Target="../media/image42.png"/><Relationship Id="rId27" Type="http://schemas.openxmlformats.org/officeDocument/2006/relationships/image" Target="../media/image47.png"/><Relationship Id="rId30" Type="http://schemas.openxmlformats.org/officeDocument/2006/relationships/image" Target="../media/image50.png"/><Relationship Id="rId8" Type="http://schemas.openxmlformats.org/officeDocument/2006/relationships/tags" Target="../tags/tag2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26" Type="http://schemas.openxmlformats.org/officeDocument/2006/relationships/image" Target="../media/image63.png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12" Type="http://schemas.openxmlformats.org/officeDocument/2006/relationships/notesSlide" Target="../notesSlides/notesSlide18.xml"/><Relationship Id="rId17" Type="http://schemas.openxmlformats.org/officeDocument/2006/relationships/image" Target="../media/image58.png"/><Relationship Id="rId25" Type="http://schemas.openxmlformats.org/officeDocument/2006/relationships/image" Target="../media/image62.png"/><Relationship Id="rId2" Type="http://schemas.openxmlformats.org/officeDocument/2006/relationships/tags" Target="../tags/tag33.xml"/><Relationship Id="rId16" Type="http://schemas.openxmlformats.org/officeDocument/2006/relationships/image" Target="../media/image57.png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slideLayout" Target="../slideLayouts/slideLayout1.xml"/><Relationship Id="rId24" Type="http://schemas.openxmlformats.org/officeDocument/2006/relationships/image" Target="../media/image61.png"/><Relationship Id="rId5" Type="http://schemas.openxmlformats.org/officeDocument/2006/relationships/tags" Target="../tags/tag36.xml"/><Relationship Id="rId15" Type="http://schemas.openxmlformats.org/officeDocument/2006/relationships/image" Target="../media/image56.png"/><Relationship Id="rId23" Type="http://schemas.openxmlformats.org/officeDocument/2006/relationships/image" Target="../media/image60.png"/><Relationship Id="rId10" Type="http://schemas.openxmlformats.org/officeDocument/2006/relationships/tags" Target="../tags/tag41.xml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4" Type="http://schemas.openxmlformats.org/officeDocument/2006/relationships/image" Target="../media/image55.png"/><Relationship Id="rId22" Type="http://schemas.openxmlformats.org/officeDocument/2006/relationships/image" Target="../media/image1340.png"/><Relationship Id="rId27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448638" y="2767729"/>
            <a:ext cx="117433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Deep Learning</a:t>
            </a: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033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D06D8-1276-671A-13E8-977ACCF5E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EC8CC60F-1156-68EE-ABAA-B2A31AF363FB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C94876FB-C6E0-6C12-99C5-5D11DBC4AD7B}"/>
              </a:ext>
            </a:extLst>
          </p:cNvPr>
          <p:cNvSpPr txBox="1"/>
          <p:nvPr/>
        </p:nvSpPr>
        <p:spPr>
          <a:xfrm>
            <a:off x="246581" y="-8806"/>
            <a:ext cx="1174336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Machine Learning: Regression</a:t>
            </a: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C1B2E627-9A9A-3523-3F33-0E0B2D6BB706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6">
                <a:extLst>
                  <a:ext uri="{FF2B5EF4-FFF2-40B4-BE49-F238E27FC236}">
                    <a16:creationId xmlns:a16="http://schemas.microsoft.com/office/drawing/2014/main" id="{A7D7822F-A4F3-878F-85A3-9A097B9C51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1800" y="1916114"/>
                <a:ext cx="5562600" cy="2965555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it-CH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it-CH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CH" sz="200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it-CH" sz="20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it-CH" sz="200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it-CH" sz="200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it-CH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CH" sz="200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it-CH" sz="200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it-CH" sz="200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it-CH" sz="200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it-CH" sz="200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it-CH" sz="200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it-CH" sz="200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CH" sz="200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it-CH" sz="2000" dirty="0"/>
                  <a:t>  </a:t>
                </a:r>
                <a:r>
                  <a:rPr lang="it-CH" sz="2000" dirty="0">
                    <a:solidFill>
                      <a:srgbClr val="FF0000"/>
                    </a:solidFill>
                  </a:rPr>
                  <a:t>available dataset</a:t>
                </a:r>
                <a:br>
                  <a:rPr lang="it-CH" sz="2000" dirty="0">
                    <a:solidFill>
                      <a:srgbClr val="FF0000"/>
                    </a:solidFill>
                  </a:rPr>
                </a:br>
                <a:br>
                  <a:rPr lang="it-CH" sz="2000" dirty="0">
                    <a:solidFill>
                      <a:srgbClr val="FF0000"/>
                    </a:solidFill>
                  </a:rPr>
                </a:br>
                <a:endParaRPr lang="it-CH" sz="2000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it-CH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it-CH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CH" sz="200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it-CH" sz="200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it-CH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CH" sz="200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it-CH" sz="200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it-CH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CH" sz="20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it-CH" sz="200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it-CH" sz="200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it-CH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it-CH" sz="200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it-CH" sz="2000" dirty="0"/>
                  <a:t>                </a:t>
                </a:r>
                <a:r>
                  <a:rPr lang="it-CH" sz="2000" dirty="0">
                    <a:solidFill>
                      <a:srgbClr val="FF0000"/>
                    </a:solidFill>
                  </a:rPr>
                  <a:t>parametric model</a:t>
                </a:r>
                <a:br>
                  <a:rPr lang="it-CH" sz="2000" dirty="0">
                    <a:solidFill>
                      <a:srgbClr val="FF0000"/>
                    </a:solidFill>
                  </a:rPr>
                </a:br>
                <a:br>
                  <a:rPr lang="it-CH" sz="2000" dirty="0">
                    <a:solidFill>
                      <a:srgbClr val="FF0000"/>
                    </a:solidFill>
                  </a:rPr>
                </a:br>
                <a:endParaRPr lang="it-CH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it-CH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it-CH" sz="20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CH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it-CH" sz="2000" i="1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it-CH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CH" sz="200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it-CH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CH" sz="20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it-CH" sz="200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it-CH" sz="20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it-CH" sz="200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it-CH" sz="200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it-CH" sz="200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p>
                              <m:sSupPr>
                                <m:ctrlPr>
                                  <a:rPr lang="it-CH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it-CH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it-CH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it-CH" sz="20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it-CH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p>
                                    <m:r>
                                      <a:rPr lang="it-CH" sz="200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it-CH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it-CH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it-CH" sz="200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p>
                                        <m:r>
                                          <a:rPr lang="it-CH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p>
                                    <m:r>
                                      <a:rPr lang="it-CH" sz="200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it-CH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it-CH" sz="200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it-CH" sz="20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it-CH" sz="2000" dirty="0"/>
                  <a:t>   </a:t>
                </a:r>
                <a:r>
                  <a:rPr lang="it-CH" sz="2000" dirty="0">
                    <a:solidFill>
                      <a:srgbClr val="FF0000"/>
                    </a:solidFill>
                  </a:rPr>
                  <a:t>Loss (MSE)</a:t>
                </a:r>
              </a:p>
              <a:p>
                <a:endParaRPr lang="it-CH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CasellaDiTesto 6">
                <a:extLst>
                  <a:ext uri="{FF2B5EF4-FFF2-40B4-BE49-F238E27FC236}">
                    <a16:creationId xmlns:a16="http://schemas.microsoft.com/office/drawing/2014/main" id="{A7D7822F-A4F3-878F-85A3-9A097B9C5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00" y="1916114"/>
                <a:ext cx="5562600" cy="2965555"/>
              </a:xfrm>
              <a:prstGeom prst="rect">
                <a:avLst/>
              </a:prstGeom>
              <a:blipFill>
                <a:blip r:embed="rId3"/>
                <a:stretch>
                  <a:fillRect t="-2979" b="-5532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1F5B4AC6-3F8A-F296-10EA-EEBEB52F7F97}"/>
              </a:ext>
            </a:extLst>
          </p:cNvPr>
          <p:cNvSpPr txBox="1">
            <a:spLocks/>
          </p:cNvSpPr>
          <p:nvPr/>
        </p:nvSpPr>
        <p:spPr>
          <a:xfrm>
            <a:off x="6840962" y="1103753"/>
            <a:ext cx="4742567" cy="646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it-CH" sz="2400" dirty="0"/>
              <a:t>	</a:t>
            </a:r>
            <a:r>
              <a:rPr lang="en-US" sz="2400" dirty="0"/>
              <a:t>Real estate application</a:t>
            </a:r>
            <a:endParaRPr lang="it-CH" sz="24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39DBBF8-D1F5-4383-B1A1-0409329936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858" y="1705936"/>
            <a:ext cx="5707770" cy="36486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9">
                <a:extLst>
                  <a:ext uri="{FF2B5EF4-FFF2-40B4-BE49-F238E27FC236}">
                    <a16:creationId xmlns:a16="http://schemas.microsoft.com/office/drawing/2014/main" id="{46004CFB-49A1-05A8-EBB9-744817BB1B8C}"/>
                  </a:ext>
                </a:extLst>
              </p:cNvPr>
              <p:cNvSpPr txBox="1"/>
              <p:nvPr/>
            </p:nvSpPr>
            <p:spPr>
              <a:xfrm>
                <a:off x="1192741" y="5091847"/>
                <a:ext cx="4131470" cy="560923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CH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CH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it-CH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it-CH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CH" sz="2800" b="0" i="1" smtClean="0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it-CH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it-CH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it-CH" sz="28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it-CH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it-CH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r>
                            <a:rPr lang="it-CH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CH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it-CH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it-CH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CasellaDiTesto 9">
                <a:extLst>
                  <a:ext uri="{FF2B5EF4-FFF2-40B4-BE49-F238E27FC236}">
                    <a16:creationId xmlns:a16="http://schemas.microsoft.com/office/drawing/2014/main" id="{46004CFB-49A1-05A8-EBB9-744817BB1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741" y="5091847"/>
                <a:ext cx="4131470" cy="560923"/>
              </a:xfrm>
              <a:prstGeom prst="rect">
                <a:avLst/>
              </a:prstGeom>
              <a:blipFill>
                <a:blip r:embed="rId5"/>
                <a:stretch>
                  <a:fillRect b="-15217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8160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Basic units for Neural Networks</a:t>
            </a: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0F9F11FF-C931-7C46-700D-09CEA937C1AA}"/>
                  </a:ext>
                </a:extLst>
              </p:cNvPr>
              <p:cNvSpPr txBox="1"/>
              <p:nvPr/>
            </p:nvSpPr>
            <p:spPr bwMode="auto">
              <a:xfrm>
                <a:off x="201241" y="3459957"/>
                <a:ext cx="4104456" cy="9908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rtlCol="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it-CH" sz="2000" i="1" kern="0" smtClean="0">
                              <a:latin typeface="Cambria Math" panose="02040503050406030204" pitchFamily="18" charset="0"/>
                              <a:ea typeface="ＭＳ Ｐゴシック" pitchFamily="-112" charset="-128"/>
                            </a:rPr>
                          </m:ctrlPr>
                        </m:accPr>
                        <m:e>
                          <m:r>
                            <a:rPr lang="it-CH" sz="2000" i="1" kern="0">
                              <a:latin typeface="Cambria Math" panose="02040503050406030204" pitchFamily="18" charset="0"/>
                              <a:ea typeface="ＭＳ Ｐゴシック" pitchFamily="-112" charset="-128"/>
                            </a:rPr>
                            <m:t>𝑦</m:t>
                          </m:r>
                        </m:e>
                      </m:acc>
                      <m:r>
                        <a:rPr lang="it-CH" sz="2000" b="0" i="1" kern="0" smtClean="0">
                          <a:latin typeface="Cambria Math" panose="02040503050406030204" pitchFamily="18" charset="0"/>
                          <a:ea typeface="ＭＳ Ｐゴシック" pitchFamily="-112" charset="-128"/>
                          <a:cs typeface="ＭＳ Ｐゴシック" pitchFamily="-112" charset="-128"/>
                        </a:rPr>
                        <m:t>=</m:t>
                      </m:r>
                      <m:r>
                        <a:rPr lang="it-CH" sz="2000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ＭＳ Ｐゴシック" pitchFamily="-112" charset="-128"/>
                        </a:rPr>
                        <m:t>𝜎</m:t>
                      </m:r>
                      <m:d>
                        <m:dPr>
                          <m:ctrlPr>
                            <a:rPr lang="it-CH" sz="20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it-CH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it-CH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CH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it-CH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it-CH" sz="2000" i="1" kern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CH" sz="2000" i="1" ker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it-CH" sz="2000" i="1" ker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it-CH" sz="2000" i="1" ker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CH" sz="2000" i="1" ker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it-CH" sz="2000" i="1" ker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  <m:r>
                            <a:rPr lang="it-CH" sz="2000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it-CH" sz="2000" b="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GB" sz="2000" kern="0" dirty="0">
                  <a:latin typeface="+mn-lt"/>
                  <a:ea typeface="ＭＳ Ｐゴシック" pitchFamily="-112" charset="-128"/>
                  <a:cs typeface="ＭＳ Ｐゴシック" pitchFamily="-112" charset="-128"/>
                </a:endParaRPr>
              </a:p>
            </p:txBody>
          </p:sp>
        </mc:Choice>
        <mc:Fallback xmlns=""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0F9F11FF-C931-7C46-700D-09CEA937C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1241" y="3459957"/>
                <a:ext cx="4104456" cy="9908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sellaDiTesto 33">
                <a:extLst>
                  <a:ext uri="{FF2B5EF4-FFF2-40B4-BE49-F238E27FC236}">
                    <a16:creationId xmlns:a16="http://schemas.microsoft.com/office/drawing/2014/main" id="{62C3DF6A-8864-97DF-A982-4FC707B0967B}"/>
                  </a:ext>
                </a:extLst>
              </p:cNvPr>
              <p:cNvSpPr txBox="1"/>
              <p:nvPr/>
            </p:nvSpPr>
            <p:spPr bwMode="auto">
              <a:xfrm>
                <a:off x="4981576" y="3539305"/>
                <a:ext cx="4104456" cy="6099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rtlCol="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CH" sz="2000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ＭＳ Ｐゴシック" pitchFamily="-112" charset="-128"/>
                        </a:rPr>
                        <m:t>𝜎</m:t>
                      </m:r>
                      <m:d>
                        <m:dPr>
                          <m:ctrlPr>
                            <a:rPr lang="it-CH" sz="20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CH" sz="20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it-CH" sz="2000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CH" sz="2000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CH" sz="200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CH" sz="2000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it-CH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CH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it-CH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CH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  <m:r>
                        <a:rPr lang="it-CH" sz="2000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CH" sz="20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it-CH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CH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it-CH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num>
                        <m:den>
                          <m:r>
                            <a:rPr lang="it-CH" sz="20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it-CH" sz="2000" b="0" i="1" kern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CH" sz="2000" b="0" i="1" kern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it-CH" sz="2000" b="0" i="1" kern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000" kern="0" dirty="0">
                  <a:latin typeface="+mn-lt"/>
                  <a:ea typeface="ＭＳ Ｐゴシック" pitchFamily="-112" charset="-128"/>
                  <a:cs typeface="ＭＳ Ｐゴシック" pitchFamily="-112" charset="-128"/>
                </a:endParaRPr>
              </a:p>
            </p:txBody>
          </p:sp>
        </mc:Choice>
        <mc:Fallback xmlns="">
          <p:sp>
            <p:nvSpPr>
              <p:cNvPr id="34" name="CasellaDiTesto 33">
                <a:extLst>
                  <a:ext uri="{FF2B5EF4-FFF2-40B4-BE49-F238E27FC236}">
                    <a16:creationId xmlns:a16="http://schemas.microsoft.com/office/drawing/2014/main" id="{62C3DF6A-8864-97DF-A982-4FC707B09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81576" y="3539305"/>
                <a:ext cx="4104456" cy="6099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e 34">
            <a:extLst>
              <a:ext uri="{FF2B5EF4-FFF2-40B4-BE49-F238E27FC236}">
                <a16:creationId xmlns:a16="http://schemas.microsoft.com/office/drawing/2014/main" id="{AF5DA458-096C-E131-E537-E67B91E8C408}"/>
              </a:ext>
            </a:extLst>
          </p:cNvPr>
          <p:cNvSpPr/>
          <p:nvPr/>
        </p:nvSpPr>
        <p:spPr>
          <a:xfrm>
            <a:off x="2420938" y="1334666"/>
            <a:ext cx="1106363" cy="1152128"/>
          </a:xfrm>
          <a:prstGeom prst="ellipse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CH" sz="4000" dirty="0">
                <a:solidFill>
                  <a:srgbClr val="FF0000"/>
                </a:solidFill>
              </a:rPr>
              <a:t>Σ</a:t>
            </a:r>
            <a:endParaRPr lang="en-GB" sz="4000" dirty="0">
              <a:solidFill>
                <a:srgbClr val="FF0000"/>
              </a:solidFill>
            </a:endParaRPr>
          </a:p>
        </p:txBody>
      </p: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072FA41F-ED10-8529-CF69-12898F16A80F}"/>
              </a:ext>
            </a:extLst>
          </p:cNvPr>
          <p:cNvCxnSpPr/>
          <p:nvPr/>
        </p:nvCxnSpPr>
        <p:spPr>
          <a:xfrm>
            <a:off x="1439069" y="1118642"/>
            <a:ext cx="1080120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631EFAB0-6E1E-A0B3-B565-CCB44335AF9A}"/>
              </a:ext>
            </a:extLst>
          </p:cNvPr>
          <p:cNvSpPr txBox="1"/>
          <p:nvPr/>
        </p:nvSpPr>
        <p:spPr bwMode="auto">
          <a:xfrm>
            <a:off x="1259049" y="898929"/>
            <a:ext cx="36004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CH" sz="14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x</a:t>
            </a:r>
            <a:r>
              <a:rPr lang="it-CH" sz="1400" kern="0" baseline="-2500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1</a:t>
            </a:r>
            <a:endParaRPr lang="en-GB" sz="1400" kern="0" baseline="-2500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C25FAB05-A418-503D-ADCF-F4EDB162FBCA}"/>
              </a:ext>
            </a:extLst>
          </p:cNvPr>
          <p:cNvCxnSpPr/>
          <p:nvPr/>
        </p:nvCxnSpPr>
        <p:spPr>
          <a:xfrm>
            <a:off x="1259049" y="1757714"/>
            <a:ext cx="1188132" cy="173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2B3EFEFD-BAE0-61E9-0102-BB0814270C29}"/>
              </a:ext>
            </a:extLst>
          </p:cNvPr>
          <p:cNvSpPr txBox="1"/>
          <p:nvPr/>
        </p:nvSpPr>
        <p:spPr bwMode="auto">
          <a:xfrm>
            <a:off x="1079029" y="1551270"/>
            <a:ext cx="36004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CH" sz="14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x</a:t>
            </a:r>
            <a:r>
              <a:rPr lang="it-CH" sz="1400" kern="0" baseline="-2500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2</a:t>
            </a:r>
            <a:endParaRPr lang="en-GB" sz="1400" kern="0" baseline="-2500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C74D5449-344D-5016-0AB7-545463E2E3CA}"/>
              </a:ext>
            </a:extLst>
          </p:cNvPr>
          <p:cNvCxnSpPr/>
          <p:nvPr/>
        </p:nvCxnSpPr>
        <p:spPr>
          <a:xfrm flipV="1">
            <a:off x="1524282" y="2256931"/>
            <a:ext cx="948457" cy="6677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AD11E032-1154-27C0-3B95-09AC42EA646E}"/>
              </a:ext>
            </a:extLst>
          </p:cNvPr>
          <p:cNvSpPr txBox="1"/>
          <p:nvPr/>
        </p:nvSpPr>
        <p:spPr bwMode="auto">
          <a:xfrm>
            <a:off x="1231429" y="2631390"/>
            <a:ext cx="36004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CH" sz="1400" kern="0" dirty="0" err="1">
                <a:latin typeface="+mn-lt"/>
                <a:ea typeface="ＭＳ Ｐゴシック" pitchFamily="-112" charset="-128"/>
                <a:cs typeface="ＭＳ Ｐゴシック" pitchFamily="-112" charset="-128"/>
              </a:rPr>
              <a:t>x</a:t>
            </a:r>
            <a:r>
              <a:rPr lang="it-CH" sz="1400" kern="0" baseline="-25000" dirty="0" err="1">
                <a:latin typeface="+mn-lt"/>
                <a:ea typeface="ＭＳ Ｐゴシック" pitchFamily="-112" charset="-128"/>
                <a:cs typeface="ＭＳ Ｐゴシック" pitchFamily="-112" charset="-128"/>
              </a:rPr>
              <a:t>d</a:t>
            </a:r>
            <a:endParaRPr lang="en-GB" sz="1400" kern="0" baseline="-2500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4E4BEF0D-B7C1-0D90-FA6F-18E3926EC469}"/>
              </a:ext>
            </a:extLst>
          </p:cNvPr>
          <p:cNvSpPr txBox="1"/>
          <p:nvPr/>
        </p:nvSpPr>
        <p:spPr bwMode="auto">
          <a:xfrm>
            <a:off x="1655093" y="1479262"/>
            <a:ext cx="36004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CH" sz="14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w</a:t>
            </a:r>
            <a:r>
              <a:rPr lang="it-CH" sz="1400" kern="0" baseline="-2500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2</a:t>
            </a:r>
            <a:endParaRPr lang="en-GB" sz="1400" kern="0" baseline="-2500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4854142F-3FDD-7F0A-B157-D5469FDBD6A4}"/>
              </a:ext>
            </a:extLst>
          </p:cNvPr>
          <p:cNvSpPr txBox="1"/>
          <p:nvPr/>
        </p:nvSpPr>
        <p:spPr bwMode="auto">
          <a:xfrm>
            <a:off x="1807493" y="974626"/>
            <a:ext cx="36004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CH" sz="14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w</a:t>
            </a:r>
            <a:r>
              <a:rPr lang="it-CH" sz="1400" kern="0" baseline="-2500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1</a:t>
            </a:r>
            <a:endParaRPr lang="en-GB" sz="1400" kern="0" baseline="-2500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2285D769-8DA2-0778-DE41-510F678BF6E0}"/>
              </a:ext>
            </a:extLst>
          </p:cNvPr>
          <p:cNvSpPr txBox="1"/>
          <p:nvPr/>
        </p:nvSpPr>
        <p:spPr bwMode="auto">
          <a:xfrm>
            <a:off x="1727101" y="2415366"/>
            <a:ext cx="36004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CH" sz="1400" kern="0" dirty="0" err="1">
                <a:latin typeface="+mn-lt"/>
                <a:ea typeface="ＭＳ Ｐゴシック" pitchFamily="-112" charset="-128"/>
                <a:cs typeface="ＭＳ Ｐゴシック" pitchFamily="-112" charset="-128"/>
              </a:rPr>
              <a:t>w</a:t>
            </a:r>
            <a:r>
              <a:rPr lang="it-CH" sz="1400" kern="0" baseline="-25000" dirty="0" err="1">
                <a:latin typeface="+mn-lt"/>
                <a:ea typeface="ＭＳ Ｐゴシック" pitchFamily="-112" charset="-128"/>
                <a:cs typeface="ＭＳ Ｐゴシック" pitchFamily="-112" charset="-128"/>
              </a:rPr>
              <a:t>d</a:t>
            </a:r>
            <a:endParaRPr lang="en-GB" sz="1400" kern="0" baseline="-2500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cxnSp>
        <p:nvCxnSpPr>
          <p:cNvPr id="45" name="Connettore 2 44">
            <a:extLst>
              <a:ext uri="{FF2B5EF4-FFF2-40B4-BE49-F238E27FC236}">
                <a16:creationId xmlns:a16="http://schemas.microsoft.com/office/drawing/2014/main" id="{C2A6DA3B-7E35-A92F-8EED-EDA7BF47EBF2}"/>
              </a:ext>
            </a:extLst>
          </p:cNvPr>
          <p:cNvCxnSpPr/>
          <p:nvPr/>
        </p:nvCxnSpPr>
        <p:spPr>
          <a:xfrm flipV="1">
            <a:off x="2194384" y="2374619"/>
            <a:ext cx="445253" cy="869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6EBF70A5-ED6E-F20F-8677-FC8BA5C26D95}"/>
              </a:ext>
            </a:extLst>
          </p:cNvPr>
          <p:cNvSpPr txBox="1"/>
          <p:nvPr/>
        </p:nvSpPr>
        <p:spPr bwMode="auto">
          <a:xfrm>
            <a:off x="1943125" y="3063438"/>
            <a:ext cx="36004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CH" sz="14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1</a:t>
            </a:r>
            <a:endParaRPr lang="en-GB" sz="1400" kern="0" baseline="-2500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C0A700C7-BCB8-73D4-1EE7-450051732CF3}"/>
              </a:ext>
            </a:extLst>
          </p:cNvPr>
          <p:cNvSpPr txBox="1"/>
          <p:nvPr/>
        </p:nvSpPr>
        <p:spPr bwMode="auto">
          <a:xfrm>
            <a:off x="2519189" y="2631390"/>
            <a:ext cx="36004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CH" sz="14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b</a:t>
            </a:r>
            <a:endParaRPr lang="en-GB" sz="1400" kern="0" baseline="-2500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9CFFC73E-E211-3E5F-8672-A676E88A13FF}"/>
              </a:ext>
            </a:extLst>
          </p:cNvPr>
          <p:cNvSpPr/>
          <p:nvPr/>
        </p:nvSpPr>
        <p:spPr>
          <a:xfrm>
            <a:off x="4751437" y="1550690"/>
            <a:ext cx="988987" cy="71849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8BD8C882-5CD2-8FB3-BA63-94052DEED524}"/>
              </a:ext>
            </a:extLst>
          </p:cNvPr>
          <p:cNvCxnSpPr/>
          <p:nvPr/>
        </p:nvCxnSpPr>
        <p:spPr>
          <a:xfrm>
            <a:off x="3563305" y="1910730"/>
            <a:ext cx="1188132" cy="173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ttore 2 49">
            <a:extLst>
              <a:ext uri="{FF2B5EF4-FFF2-40B4-BE49-F238E27FC236}">
                <a16:creationId xmlns:a16="http://schemas.microsoft.com/office/drawing/2014/main" id="{81A7FC9E-115C-4C90-634C-CBDA58BDB561}"/>
              </a:ext>
            </a:extLst>
          </p:cNvPr>
          <p:cNvCxnSpPr/>
          <p:nvPr/>
        </p:nvCxnSpPr>
        <p:spPr>
          <a:xfrm>
            <a:off x="5759549" y="1910730"/>
            <a:ext cx="1188132" cy="173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CB71A18E-C602-B3A1-6976-6ECD5AA9FB0D}"/>
              </a:ext>
            </a:extLst>
          </p:cNvPr>
          <p:cNvSpPr txBox="1"/>
          <p:nvPr/>
        </p:nvSpPr>
        <p:spPr bwMode="auto">
          <a:xfrm>
            <a:off x="3959349" y="1551270"/>
            <a:ext cx="36004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CH" sz="14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z</a:t>
            </a:r>
            <a:endParaRPr lang="en-GB" sz="1400" kern="0" baseline="-2500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938B6347-67AC-BE0F-3EC4-ADAE27C01C8F}"/>
              </a:ext>
            </a:extLst>
          </p:cNvPr>
          <p:cNvSpPr txBox="1"/>
          <p:nvPr/>
        </p:nvSpPr>
        <p:spPr bwMode="auto">
          <a:xfrm>
            <a:off x="6249516" y="985317"/>
            <a:ext cx="252028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CH" sz="1400" kern="0" dirty="0" err="1">
                <a:latin typeface="+mn-lt"/>
                <a:ea typeface="ＭＳ Ｐゴシック" pitchFamily="-112" charset="-128"/>
                <a:cs typeface="ＭＳ Ｐゴシック" pitchFamily="-112" charset="-128"/>
              </a:rPr>
              <a:t>nonlinear</a:t>
            </a:r>
            <a:r>
              <a:rPr lang="it-CH" sz="14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 </a:t>
            </a:r>
            <a:r>
              <a:rPr lang="it-CH" sz="1400" kern="0" dirty="0" err="1">
                <a:latin typeface="+mn-lt"/>
                <a:ea typeface="ＭＳ Ｐゴシック" pitchFamily="-112" charset="-128"/>
                <a:cs typeface="ＭＳ Ｐゴシック" pitchFamily="-112" charset="-128"/>
              </a:rPr>
              <a:t>activation</a:t>
            </a:r>
            <a:r>
              <a:rPr lang="it-CH" sz="1400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 </a:t>
            </a:r>
            <a:r>
              <a:rPr lang="it-CH" sz="1400" kern="0" dirty="0" err="1">
                <a:latin typeface="+mn-lt"/>
                <a:ea typeface="ＭＳ Ｐゴシック" pitchFamily="-112" charset="-128"/>
                <a:cs typeface="ＭＳ Ｐゴシック" pitchFamily="-112" charset="-128"/>
              </a:rPr>
              <a:t>function</a:t>
            </a:r>
            <a:endParaRPr lang="en-GB" sz="14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2050D33E-0EE8-3CB0-BA82-15375FA89D63}"/>
              </a:ext>
            </a:extLst>
          </p:cNvPr>
          <p:cNvCxnSpPr/>
          <p:nvPr/>
        </p:nvCxnSpPr>
        <p:spPr>
          <a:xfrm flipH="1">
            <a:off x="5399509" y="1190070"/>
            <a:ext cx="648072" cy="2891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ttangolo 54">
                <a:extLst>
                  <a:ext uri="{FF2B5EF4-FFF2-40B4-BE49-F238E27FC236}">
                    <a16:creationId xmlns:a16="http://schemas.microsoft.com/office/drawing/2014/main" id="{2C4503DF-380C-C8E3-7223-87E4D0FFC67E}"/>
                  </a:ext>
                </a:extLst>
              </p:cNvPr>
              <p:cNvSpPr/>
              <p:nvPr/>
            </p:nvSpPr>
            <p:spPr>
              <a:xfrm>
                <a:off x="6369195" y="1469390"/>
                <a:ext cx="36004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it-CH" sz="1800" i="1" kern="0">
                              <a:latin typeface="Cambria Math" panose="02040503050406030204" pitchFamily="18" charset="0"/>
                              <a:ea typeface="ＭＳ Ｐゴシック" pitchFamily="-112" charset="-128"/>
                            </a:rPr>
                          </m:ctrlPr>
                        </m:accPr>
                        <m:e>
                          <m:r>
                            <a:rPr lang="it-CH" sz="1800" i="1" kern="0">
                              <a:latin typeface="Cambria Math" panose="02040503050406030204" pitchFamily="18" charset="0"/>
                              <a:ea typeface="ＭＳ Ｐゴシック" pitchFamily="-112" charset="-128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GB" sz="1800" dirty="0"/>
              </a:p>
            </p:txBody>
          </p:sp>
        </mc:Choice>
        <mc:Fallback xmlns="">
          <p:sp>
            <p:nvSpPr>
              <p:cNvPr id="55" name="Rettangolo 54">
                <a:extLst>
                  <a:ext uri="{FF2B5EF4-FFF2-40B4-BE49-F238E27FC236}">
                    <a16:creationId xmlns:a16="http://schemas.microsoft.com/office/drawing/2014/main" id="{2C4503DF-380C-C8E3-7223-87E4D0FFC6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9195" y="1469390"/>
                <a:ext cx="360040" cy="369332"/>
              </a:xfrm>
              <a:prstGeom prst="rect">
                <a:avLst/>
              </a:prstGeom>
              <a:blipFill>
                <a:blip r:embed="rId5"/>
                <a:stretch>
                  <a:fillRect t="-6557" r="-15254"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0796806F-1DD3-6163-17F2-BB1A030A00F0}"/>
                  </a:ext>
                </a:extLst>
              </p:cNvPr>
              <p:cNvSpPr txBox="1"/>
              <p:nvPr/>
            </p:nvSpPr>
            <p:spPr bwMode="auto">
              <a:xfrm>
                <a:off x="4372834" y="1737208"/>
                <a:ext cx="1746194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rtlCol="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CH" sz="2000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ＭＳ Ｐゴシック" pitchFamily="-112" charset="-128"/>
                        </a:rPr>
                        <m:t>𝜎</m:t>
                      </m:r>
                    </m:oMath>
                  </m:oMathPara>
                </a14:m>
                <a:endParaRPr lang="en-GB" sz="2000" kern="0" dirty="0">
                  <a:latin typeface="+mn-lt"/>
                  <a:ea typeface="ＭＳ Ｐゴシック" pitchFamily="-112" charset="-128"/>
                  <a:cs typeface="ＭＳ Ｐゴシック" pitchFamily="-112" charset="-128"/>
                </a:endParaRPr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0796806F-1DD3-6163-17F2-BB1A030A0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72834" y="1737208"/>
                <a:ext cx="1746194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magine 2">
            <a:extLst>
              <a:ext uri="{FF2B5EF4-FFF2-40B4-BE49-F238E27FC236}">
                <a16:creationId xmlns:a16="http://schemas.microsoft.com/office/drawing/2014/main" id="{948B301D-0BBD-1D06-AB02-B24527024F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8330" y="2586046"/>
            <a:ext cx="2483645" cy="16848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56F52DCB-43C1-DE13-DD24-DFFC1505789A}"/>
                  </a:ext>
                </a:extLst>
              </p:cNvPr>
              <p:cNvSpPr txBox="1"/>
              <p:nvPr/>
            </p:nvSpPr>
            <p:spPr bwMode="auto">
              <a:xfrm>
                <a:off x="4764385" y="5036515"/>
                <a:ext cx="4104456" cy="686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rtlCol="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CH" sz="200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ＭＳ Ｐゴシック" pitchFamily="-112" charset="-128"/>
                        </a:rPr>
                        <m:t>𝜎</m:t>
                      </m:r>
                      <m:d>
                        <m:dPr>
                          <m:ctrlPr>
                            <a:rPr lang="it-CH" sz="2000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CH" sz="2000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it-CH" sz="200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it-CH" sz="20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it-CH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ＭＳ Ｐゴシック" pitchFamily="-112" charset="-128"/>
                                </a:rPr>
                              </m:ctrlPr>
                            </m:eqArrPr>
                            <m:e>
                              <m:r>
                                <a:rPr lang="it-CH" sz="20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m:rPr>
                                  <m:nor/>
                                </m:rPr>
                                <a:rPr lang="en-GB" sz="2000" kern="0" dirty="0">
                                  <a:ea typeface="ＭＳ Ｐゴシック" pitchFamily="-112" charset="-128"/>
                                  <a:cs typeface="ＭＳ Ｐゴシック" pitchFamily="-112" charset="-128"/>
                                </a:rPr>
                                <m:t> </m:t>
                              </m:r>
                              <m:r>
                                <a:rPr lang="it-CH" sz="2000" b="0" i="1" kern="0" dirty="0" smtClean="0">
                                  <a:latin typeface="Cambria Math" panose="02040503050406030204" pitchFamily="18" charset="0"/>
                                  <a:ea typeface="ＭＳ Ｐゴシック" pitchFamily="-112" charset="-128"/>
                                  <a:cs typeface="ＭＳ Ｐゴシック" pitchFamily="-112" charset="-128"/>
                                </a:rPr>
                                <m:t> </m:t>
                              </m:r>
                              <m:r>
                                <a:rPr lang="it-CH" sz="2000" b="0" i="1" kern="0" dirty="0" smtClean="0">
                                  <a:latin typeface="Cambria Math" panose="02040503050406030204" pitchFamily="18" charset="0"/>
                                  <a:ea typeface="ＭＳ Ｐゴシック" pitchFamily="-112" charset="-128"/>
                                  <a:cs typeface="ＭＳ Ｐゴシック" pitchFamily="-112" charset="-128"/>
                                </a:rPr>
                                <m:t>𝑖𝑓</m:t>
                              </m:r>
                              <m:r>
                                <a:rPr lang="it-CH" sz="2000" b="0" i="1" kern="0" dirty="0" smtClean="0">
                                  <a:latin typeface="Cambria Math" panose="02040503050406030204" pitchFamily="18" charset="0"/>
                                  <a:ea typeface="ＭＳ Ｐゴシック" pitchFamily="-112" charset="-128"/>
                                  <a:cs typeface="ＭＳ Ｐゴシック" pitchFamily="-112" charset="-128"/>
                                </a:rPr>
                                <m:t> </m:t>
                              </m:r>
                              <m:r>
                                <a:rPr lang="it-CH" sz="2000" b="0" i="1" kern="0" dirty="0" smtClean="0">
                                  <a:latin typeface="Cambria Math" panose="02040503050406030204" pitchFamily="18" charset="0"/>
                                  <a:ea typeface="ＭＳ Ｐゴシック" pitchFamily="-112" charset="-128"/>
                                  <a:cs typeface="ＭＳ Ｐゴシック" pitchFamily="-112" charset="-128"/>
                                </a:rPr>
                                <m:t>𝑧</m:t>
                              </m:r>
                              <m:r>
                                <a:rPr lang="it-CH" sz="2000" b="0" i="1" kern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ＭＳ Ｐゴシック" pitchFamily="-112" charset="-128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it-CH" sz="2000" b="0" i="1" kern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ＭＳ Ｐゴシック" pitchFamily="-112" charset="-128"/>
                                </a:rPr>
                                <m:t>0  </m:t>
                              </m:r>
                              <m:r>
                                <a:rPr lang="it-CH" sz="2000" b="0" i="1" kern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ＭＳ Ｐゴシック" pitchFamily="-112" charset="-128"/>
                                </a:rPr>
                                <m:t>𝑖𝑓</m:t>
                              </m:r>
                              <m:r>
                                <a:rPr lang="it-CH" sz="2000" b="0" i="1" kern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ＭＳ Ｐゴシック" pitchFamily="-112" charset="-128"/>
                                </a:rPr>
                                <m:t> </m:t>
                              </m:r>
                              <m:r>
                                <a:rPr lang="it-CH" sz="2000" b="0" i="1" kern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ＭＳ Ｐゴシック" pitchFamily="-112" charset="-128"/>
                                </a:rPr>
                                <m:t>𝑧</m:t>
                              </m:r>
                              <m:r>
                                <a:rPr lang="it-CH" sz="2000" b="0" i="1" kern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ＭＳ Ｐゴシック" pitchFamily="-112" charset="-128"/>
                                </a:rPr>
                                <m:t>&lt;0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000" kern="0" dirty="0">
                  <a:latin typeface="+mn-lt"/>
                  <a:ea typeface="ＭＳ Ｐゴシック" pitchFamily="-112" charset="-128"/>
                  <a:cs typeface="ＭＳ Ｐゴシック" pitchFamily="-112" charset="-128"/>
                </a:endParaRPr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56F52DCB-43C1-DE13-DD24-DFFC15057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64385" y="5036515"/>
                <a:ext cx="4104456" cy="68653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Output image">
            <a:extLst>
              <a:ext uri="{FF2B5EF4-FFF2-40B4-BE49-F238E27FC236}">
                <a16:creationId xmlns:a16="http://schemas.microsoft.com/office/drawing/2014/main" id="{4581377C-5200-8D94-D5E2-9811F025E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8330" y="4677567"/>
            <a:ext cx="2576513" cy="1761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6E007135-A987-F2D9-560E-D80CC2395ADB}"/>
              </a:ext>
            </a:extLst>
          </p:cNvPr>
          <p:cNvSpPr txBox="1"/>
          <p:nvPr/>
        </p:nvSpPr>
        <p:spPr>
          <a:xfrm>
            <a:off x="196278" y="5974772"/>
            <a:ext cx="5203231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</a:rPr>
              <a:t>We have a non-linear relation between inputs and outputs!</a:t>
            </a:r>
          </a:p>
        </p:txBody>
      </p:sp>
    </p:spTree>
    <p:extLst>
      <p:ext uri="{BB962C8B-B14F-4D97-AF65-F5344CB8AC3E}">
        <p14:creationId xmlns:p14="http://schemas.microsoft.com/office/powerpoint/2010/main" val="109540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4" grpId="0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Fully-connected Feedforward Neural Networks</a:t>
            </a: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5E84E4F-E567-8C4F-407C-66D89696FDEB}"/>
              </a:ext>
            </a:extLst>
          </p:cNvPr>
          <p:cNvSpPr txBox="1"/>
          <p:nvPr/>
        </p:nvSpPr>
        <p:spPr>
          <a:xfrm>
            <a:off x="320929" y="793830"/>
            <a:ext cx="8251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Move from one neuron to a hierarchical structure with fully connected neurons</a:t>
            </a:r>
          </a:p>
        </p:txBody>
      </p:sp>
      <p:pic>
        <p:nvPicPr>
          <p:cNvPr id="53" name="Immagine 52" descr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definecolor{dgreen}{RGB}{0,100,0}&#10;\begin{document}&#10;&#10; \begin{align*}&#10;\textcolor{dgreen}{z_1^2} =\sigma\left(\sum_{j=1}^4 w^1_{1,j}\textcolor{red}{z^1_j} + b_1^1\right) = \sigma\left( W^1_1\textcolor{red}{z^1}+b_1^1  \right)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BA5ECEFB-271F-F5ED-8B49-FBABFC768D9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23" y="1231167"/>
            <a:ext cx="3966321" cy="763494"/>
          </a:xfrm>
          <a:prstGeom prst="rect">
            <a:avLst/>
          </a:prstGeom>
        </p:spPr>
      </p:pic>
      <p:pic>
        <p:nvPicPr>
          <p:cNvPr id="55" name="Immagine 54" descr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definecolor{dgreen}{RGB}{0,100,0}&#10;\begin{document}&#10;&#10; \begin{align*}&#10;\textcolor{blue}{z_2^3} =\sigma\left(\sum_{j=1}^5 w^2_{2,j}\textcolor{dgreen}{z^2_j} + b^2_2\right) = \sigma\left( W^2_2\textcolor{dgreen}{z^2}+b^2_2  \right)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A8086555-8E1D-74A9-0946-02A981BC4FF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23" y="2193742"/>
            <a:ext cx="3966322" cy="763494"/>
          </a:xfrm>
          <a:prstGeom prst="rect">
            <a:avLst/>
          </a:prstGeom>
        </p:spPr>
      </p:pic>
      <p:grpSp>
        <p:nvGrpSpPr>
          <p:cNvPr id="85" name="Gruppo 84">
            <a:extLst>
              <a:ext uri="{FF2B5EF4-FFF2-40B4-BE49-F238E27FC236}">
                <a16:creationId xmlns:a16="http://schemas.microsoft.com/office/drawing/2014/main" id="{1DA41EE7-E370-5BB4-FB92-46C7D712278F}"/>
              </a:ext>
            </a:extLst>
          </p:cNvPr>
          <p:cNvGrpSpPr/>
          <p:nvPr/>
        </p:nvGrpSpPr>
        <p:grpSpPr>
          <a:xfrm>
            <a:off x="202057" y="1256406"/>
            <a:ext cx="6065393" cy="3264596"/>
            <a:chOff x="202057" y="1256405"/>
            <a:chExt cx="6585302" cy="3497937"/>
          </a:xfrm>
        </p:grpSpPr>
        <p:grpSp>
          <p:nvGrpSpPr>
            <p:cNvPr id="23" name="Gruppo 22">
              <a:extLst>
                <a:ext uri="{FF2B5EF4-FFF2-40B4-BE49-F238E27FC236}">
                  <a16:creationId xmlns:a16="http://schemas.microsoft.com/office/drawing/2014/main" id="{8EB0B587-8EC1-10E7-462F-78D0D65E70AE}"/>
                </a:ext>
              </a:extLst>
            </p:cNvPr>
            <p:cNvGrpSpPr/>
            <p:nvPr/>
          </p:nvGrpSpPr>
          <p:grpSpPr>
            <a:xfrm>
              <a:off x="202057" y="1256405"/>
              <a:ext cx="6585302" cy="3497937"/>
              <a:chOff x="5849668" y="2042248"/>
              <a:chExt cx="6585302" cy="3497937"/>
            </a:xfrm>
          </p:grpSpPr>
          <p:pic>
            <p:nvPicPr>
              <p:cNvPr id="7" name="Immagine 6">
                <a:extLst>
                  <a:ext uri="{FF2B5EF4-FFF2-40B4-BE49-F238E27FC236}">
                    <a16:creationId xmlns:a16="http://schemas.microsoft.com/office/drawing/2014/main" id="{DB777152-4A37-295B-83C6-89CE7FDC53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519862" y="2042248"/>
                <a:ext cx="5319713" cy="2925434"/>
              </a:xfrm>
              <a:prstGeom prst="rect">
                <a:avLst/>
              </a:prstGeom>
            </p:spPr>
          </p:pic>
          <p:sp>
            <p:nvSpPr>
              <p:cNvPr id="9" name="Parentesi graffa aperta 8">
                <a:extLst>
                  <a:ext uri="{FF2B5EF4-FFF2-40B4-BE49-F238E27FC236}">
                    <a16:creationId xmlns:a16="http://schemas.microsoft.com/office/drawing/2014/main" id="{C230F142-E9C6-E2D4-150C-C76429005404}"/>
                  </a:ext>
                </a:extLst>
              </p:cNvPr>
              <p:cNvSpPr/>
              <p:nvPr/>
            </p:nvSpPr>
            <p:spPr>
              <a:xfrm>
                <a:off x="6173056" y="2133603"/>
                <a:ext cx="456344" cy="2044332"/>
              </a:xfrm>
              <a:prstGeom prst="leftBrac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AC209DD3-1B8B-2955-928F-017CD2D2D0D3}"/>
                  </a:ext>
                </a:extLst>
              </p:cNvPr>
              <p:cNvSpPr txBox="1"/>
              <p:nvPr/>
            </p:nvSpPr>
            <p:spPr>
              <a:xfrm rot="16200000">
                <a:off x="5354027" y="2986492"/>
                <a:ext cx="13298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Input  layer</a:t>
                </a:r>
              </a:p>
            </p:txBody>
          </p:sp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EE2BCB49-A147-2B7A-B801-5D12B0D825B9}"/>
                  </a:ext>
                </a:extLst>
              </p:cNvPr>
              <p:cNvSpPr txBox="1"/>
              <p:nvPr/>
            </p:nvSpPr>
            <p:spPr>
              <a:xfrm>
                <a:off x="8053422" y="5201631"/>
                <a:ext cx="15789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Layer 2</a:t>
                </a:r>
              </a:p>
            </p:txBody>
          </p:sp>
          <p:sp>
            <p:nvSpPr>
              <p:cNvPr id="13" name="Parentesi graffa aperta 12">
                <a:extLst>
                  <a:ext uri="{FF2B5EF4-FFF2-40B4-BE49-F238E27FC236}">
                    <a16:creationId xmlns:a16="http://schemas.microsoft.com/office/drawing/2014/main" id="{56590F82-FD36-989B-A6A9-F0588BBE2D00}"/>
                  </a:ext>
                </a:extLst>
              </p:cNvPr>
              <p:cNvSpPr/>
              <p:nvPr/>
            </p:nvSpPr>
            <p:spPr>
              <a:xfrm rot="16200000">
                <a:off x="8262730" y="4777371"/>
                <a:ext cx="369333" cy="604745"/>
              </a:xfrm>
              <a:prstGeom prst="leftBrac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8" name="Parentesi graffa aperta 17">
                <a:extLst>
                  <a:ext uri="{FF2B5EF4-FFF2-40B4-BE49-F238E27FC236}">
                    <a16:creationId xmlns:a16="http://schemas.microsoft.com/office/drawing/2014/main" id="{0EE1DD29-3636-EC3A-EB7E-309C4BE48E89}"/>
                  </a:ext>
                </a:extLst>
              </p:cNvPr>
              <p:cNvSpPr/>
              <p:nvPr/>
            </p:nvSpPr>
            <p:spPr>
              <a:xfrm rot="16200000">
                <a:off x="9767680" y="4071305"/>
                <a:ext cx="369333" cy="604745"/>
              </a:xfrm>
              <a:prstGeom prst="leftBrac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FE908D4A-B614-8764-6548-B21195D86D59}"/>
                  </a:ext>
                </a:extLst>
              </p:cNvPr>
              <p:cNvSpPr txBox="1"/>
              <p:nvPr/>
            </p:nvSpPr>
            <p:spPr>
              <a:xfrm>
                <a:off x="10856029" y="4008658"/>
                <a:ext cx="15789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Output layer</a:t>
                </a:r>
              </a:p>
            </p:txBody>
          </p:sp>
          <p:sp>
            <p:nvSpPr>
              <p:cNvPr id="21" name="Parentesi graffa aperta 20">
                <a:extLst>
                  <a:ext uri="{FF2B5EF4-FFF2-40B4-BE49-F238E27FC236}">
                    <a16:creationId xmlns:a16="http://schemas.microsoft.com/office/drawing/2014/main" id="{D031E464-5663-5450-83B0-5FAB625899F0}"/>
                  </a:ext>
                </a:extLst>
              </p:cNvPr>
              <p:cNvSpPr/>
              <p:nvPr/>
            </p:nvSpPr>
            <p:spPr>
              <a:xfrm rot="16200000">
                <a:off x="11337009" y="3569071"/>
                <a:ext cx="369333" cy="604745"/>
              </a:xfrm>
              <a:prstGeom prst="leftBrace">
                <a:avLst/>
              </a:prstGeom>
              <a:ln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sp>
          <p:nvSpPr>
            <p:cNvPr id="48" name="CasellaDiTesto 47">
              <a:extLst>
                <a:ext uri="{FF2B5EF4-FFF2-40B4-BE49-F238E27FC236}">
                  <a16:creationId xmlns:a16="http://schemas.microsoft.com/office/drawing/2014/main" id="{E9CBC98B-26C2-5D31-61A8-2F297B8C46B5}"/>
                </a:ext>
              </a:extLst>
            </p:cNvPr>
            <p:cNvSpPr txBox="1"/>
            <p:nvPr/>
          </p:nvSpPr>
          <p:spPr>
            <a:xfrm>
              <a:off x="3975227" y="3954956"/>
              <a:ext cx="157894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Layer 3</a:t>
              </a:r>
            </a:p>
          </p:txBody>
        </p:sp>
      </p:grpSp>
      <p:pic>
        <p:nvPicPr>
          <p:cNvPr id="65" name="Immagine 64" descr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definecolor{dyel}{RGB}{155,155,0}&#10;\begin{document}&#10;&#10; \begin{align*}&#10;\textcolor{dyel}{y=z^4} = \sum_{j=1}^3 w^3_{1,j}\textcolor{blue}{z^3_j} + b^3 =    W^3_1\textcolor{blue}{z^3}+b^3 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90936F39-361D-905F-56FE-BA8B3FB651E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201" y="3155764"/>
            <a:ext cx="3482139" cy="644558"/>
          </a:xfrm>
          <a:prstGeom prst="rect">
            <a:avLst/>
          </a:prstGeom>
        </p:spPr>
      </p:pic>
      <p:sp>
        <p:nvSpPr>
          <p:cNvPr id="66" name="CasellaDiTesto 65">
            <a:extLst>
              <a:ext uri="{FF2B5EF4-FFF2-40B4-BE49-F238E27FC236}">
                <a16:creationId xmlns:a16="http://schemas.microsoft.com/office/drawing/2014/main" id="{D1528E38-6456-4609-B08B-A51741823CE3}"/>
              </a:ext>
            </a:extLst>
          </p:cNvPr>
          <p:cNvSpPr txBox="1"/>
          <p:nvPr/>
        </p:nvSpPr>
        <p:spPr>
          <a:xfrm>
            <a:off x="310395" y="5239714"/>
            <a:ext cx="975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We can easily define a NARX structures parameterized by the weights (and biases) of the network</a:t>
            </a:r>
          </a:p>
        </p:txBody>
      </p:sp>
      <p:pic>
        <p:nvPicPr>
          <p:cNvPr id="71" name="Immagine 70" descr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definecolor{dyel}{RGB}{155,155,0}&#10;\definecolor{dgreen}{RGB}{0,100,0}&#10;\begin{document}&#10;&#10; \begin{align*}&#10;\textcolor{dyel}{y=z^4} = f(\textcolor{blue}{z^3}(\textcolor{dgreen}{z^2}(\textcolor{red}{z^1}));W,b)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B20EC986-C441-2C23-6815-10807AA1404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211" y="3991001"/>
            <a:ext cx="2561344" cy="240175"/>
          </a:xfrm>
          <a:prstGeom prst="rect">
            <a:avLst/>
          </a:prstGeom>
        </p:spPr>
      </p:pic>
      <p:pic>
        <p:nvPicPr>
          <p:cNvPr id="95" name="Immagine 94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\textcolor{dyel}{\hat{y}(k)}   = &amp;  f\big(\underset{\textcolor{red}{z^1(k)}}{\underbrace{y(k-1),  \ldots, y(k-na), u(k),  u(k-1), \ldots,  u(k-nb)}}; W,b \big)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B2C004F6-C835-AC02-9B79-E62D97A98C6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231" y="5660246"/>
            <a:ext cx="7081325" cy="65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853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FFN: </a:t>
            </a:r>
            <a:r>
              <a:rPr lang="en-US" sz="3600" dirty="0" err="1">
                <a:solidFill>
                  <a:schemeClr val="accent1"/>
                </a:solidFill>
              </a:rPr>
              <a:t>PyTorch</a:t>
            </a:r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magine 3">
            <a:extLst>
              <a:ext uri="{FF2B5EF4-FFF2-40B4-BE49-F238E27FC236}">
                <a16:creationId xmlns:a16="http://schemas.microsoft.com/office/drawing/2014/main" id="{89AB47C8-DB20-E464-ED84-5342E2C06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07" y="1350281"/>
            <a:ext cx="4822905" cy="474345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F4A278D3-D7DE-C363-8B76-F6EBCB9BF89D}"/>
              </a:ext>
            </a:extLst>
          </p:cNvPr>
          <p:cNvSpPr txBox="1"/>
          <p:nvPr/>
        </p:nvSpPr>
        <p:spPr>
          <a:xfrm>
            <a:off x="1379496" y="868357"/>
            <a:ext cx="2981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Definition of the model class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2A23018-2BAF-5B1F-05AA-1818CD809B04}"/>
              </a:ext>
            </a:extLst>
          </p:cNvPr>
          <p:cNvSpPr txBox="1"/>
          <p:nvPr/>
        </p:nvSpPr>
        <p:spPr>
          <a:xfrm>
            <a:off x="6515100" y="861333"/>
            <a:ext cx="5095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Instantiate the model class, run and show model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41279BF7-9187-54C2-8DD4-CDDC7EFFCF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1699" y="1350281"/>
            <a:ext cx="5629275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003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FFN: Training in </a:t>
            </a:r>
            <a:r>
              <a:rPr lang="en-US" sz="3600" dirty="0" err="1">
                <a:solidFill>
                  <a:schemeClr val="accent1"/>
                </a:solidFill>
              </a:rPr>
              <a:t>PyTorch</a:t>
            </a:r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magine 9">
            <a:extLst>
              <a:ext uri="{FF2B5EF4-FFF2-40B4-BE49-F238E27FC236}">
                <a16:creationId xmlns:a16="http://schemas.microsoft.com/office/drawing/2014/main" id="{A547CFDB-7A92-1695-73D0-ADC69FED4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217" y="1138869"/>
            <a:ext cx="7723673" cy="416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10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448638" y="2767729"/>
            <a:ext cx="1174336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39A2E06-C761-51B1-2749-2B9873E20A15}"/>
              </a:ext>
            </a:extLst>
          </p:cNvPr>
          <p:cNvSpPr txBox="1"/>
          <p:nvPr/>
        </p:nvSpPr>
        <p:spPr>
          <a:xfrm>
            <a:off x="246581" y="-8806"/>
            <a:ext cx="117433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Exercise description: F-16 Ground Vibration Test</a:t>
            </a: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32256D97-832F-62EA-AC33-D34C5D0FB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860" y="4492808"/>
            <a:ext cx="3214687" cy="1322516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4EB694F7-7774-ACC0-E654-9A30CD5CB752}"/>
              </a:ext>
            </a:extLst>
          </p:cNvPr>
          <p:cNvSpPr txBox="1"/>
          <p:nvPr/>
        </p:nvSpPr>
        <p:spPr>
          <a:xfrm>
            <a:off x="0" y="6210122"/>
            <a:ext cx="8497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Nonlinear benchmarks: https://www.nonlinearbenchmark.org/benchmarks/f-16-gvt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7F18A51-5CF5-CD79-86D0-52C20D318935}"/>
              </a:ext>
            </a:extLst>
          </p:cNvPr>
          <p:cNvSpPr txBox="1"/>
          <p:nvPr/>
        </p:nvSpPr>
        <p:spPr>
          <a:xfrm>
            <a:off x="221456" y="715537"/>
            <a:ext cx="1173713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0000"/>
                </a:solidFill>
                <a:effectLst/>
                <a:latin typeface="Söhne"/>
              </a:rPr>
              <a:t>Ground Vibration Test of an F-16 aircraft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, a key process in assessing the structural integrity and dynamic behavior of the aircraft under various 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D0D0D"/>
              </a:solidFill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Söhne"/>
              </a:rPr>
              <a:t>D</a:t>
            </a:r>
            <a:r>
              <a:rPr lang="en-US" b="0" i="0" dirty="0">
                <a:solidFill>
                  <a:srgbClr val="FF0000"/>
                </a:solidFill>
                <a:effectLst/>
                <a:latin typeface="Söhne"/>
              </a:rPr>
              <a:t>ummy payloads mounted at the wing tips. </a:t>
            </a:r>
            <a:endParaRPr lang="en-US" dirty="0">
              <a:solidFill>
                <a:srgbClr val="0D0D0D"/>
              </a:solidFill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D0D0D"/>
              </a:solidFill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Söhne"/>
              </a:rPr>
              <a:t>Goal: understand how the </a:t>
            </a:r>
            <a:r>
              <a:rPr lang="en-US" dirty="0">
                <a:solidFill>
                  <a:srgbClr val="FF0000"/>
                </a:solidFill>
                <a:latin typeface="Söhne"/>
              </a:rPr>
              <a:t>aircraft responds to vibrations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D0D0D"/>
              </a:solidFill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Instrumentation: </a:t>
            </a:r>
            <a:r>
              <a:rPr lang="en-US" b="0" i="0" dirty="0">
                <a:solidFill>
                  <a:srgbClr val="FF0000"/>
                </a:solidFill>
                <a:effectLst/>
                <a:latin typeface="Söhne"/>
              </a:rPr>
              <a:t>shaker was attached beneath the right wing to generate input signals, and accelerometers used to measure vibrations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D0D0D"/>
              </a:solidFill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Söhne"/>
              </a:rPr>
              <a:t>Nonlinearities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 due to mounting interfaces of the two payloads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D0D0D"/>
              </a:solidFill>
              <a:latin typeface="Söhne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95C43E00-B17D-BFBC-31D7-ECE03F4200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7825" y="3559878"/>
            <a:ext cx="2822600" cy="2104236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5DDF61B7-2316-69D1-6B30-97A07DC7CC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1900" y="3834986"/>
            <a:ext cx="2447683" cy="1835762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6344FD0E-EAAF-E52F-5525-206027BE2E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0021" y="4305711"/>
            <a:ext cx="2225407" cy="182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37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448638" y="2767729"/>
            <a:ext cx="1174336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39A2E06-C761-51B1-2749-2B9873E20A15}"/>
              </a:ext>
            </a:extLst>
          </p:cNvPr>
          <p:cNvSpPr txBox="1"/>
          <p:nvPr/>
        </p:nvSpPr>
        <p:spPr>
          <a:xfrm>
            <a:off x="246581" y="-8806"/>
            <a:ext cx="117433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Exercise description: F-16 Ground Vibration Test</a:t>
            </a: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7F18A51-5CF5-CD79-86D0-52C20D318935}"/>
              </a:ext>
            </a:extLst>
          </p:cNvPr>
          <p:cNvSpPr txBox="1"/>
          <p:nvPr/>
        </p:nvSpPr>
        <p:spPr>
          <a:xfrm>
            <a:off x="345282" y="763162"/>
            <a:ext cx="985599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0000"/>
                </a:solidFill>
                <a:effectLst/>
                <a:latin typeface="Söhne"/>
              </a:rPr>
              <a:t>Inputs: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voltage measured at the output of the signal generator amplifier, acting as a reference input,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rgbClr val="0D0D0D"/>
                </a:solidFill>
                <a:latin typeface="Söhne"/>
              </a:rPr>
              <a:t>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ctual force provided by the shaker and measured by an impedance head at the excitation location.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0000"/>
                </a:solidFill>
                <a:effectLst/>
                <a:latin typeface="Söhne"/>
              </a:rPr>
              <a:t>Outputs: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acceleration signals measured: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800" b="0" i="0" u="none" strike="noStrike" baseline="0" dirty="0">
                <a:latin typeface="CMR12"/>
              </a:rPr>
              <a:t>at the excitation location,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CMR12"/>
              </a:rPr>
              <a:t>o</a:t>
            </a:r>
            <a:r>
              <a:rPr lang="en-US" sz="1800" b="0" i="0" u="none" strike="noStrike" baseline="0" dirty="0">
                <a:latin typeface="CMR12"/>
              </a:rPr>
              <a:t>n the right wing next to the interface,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CMR12"/>
              </a:rPr>
              <a:t>o</a:t>
            </a:r>
            <a:r>
              <a:rPr lang="en-US" sz="1800" b="0" i="0" u="none" strike="noStrike" baseline="0" dirty="0">
                <a:latin typeface="CMR12"/>
              </a:rPr>
              <a:t>n the payload next to </a:t>
            </a:r>
            <a:r>
              <a:rPr lang="en-GB" sz="1800" b="0" i="0" u="none" strike="noStrike" baseline="0" dirty="0">
                <a:latin typeface="CMR12"/>
              </a:rPr>
              <a:t>the interface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C929A81-12BD-3197-436F-747E10A6B91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833"/>
          <a:stretch/>
        </p:blipFill>
        <p:spPr>
          <a:xfrm>
            <a:off x="9994200" y="728105"/>
            <a:ext cx="1995743" cy="2029569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56D6CB2-CD95-E777-3FDD-DCA931AF9C7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0000"/>
          <a:stretch/>
        </p:blipFill>
        <p:spPr>
          <a:xfrm>
            <a:off x="10022774" y="2724169"/>
            <a:ext cx="1995743" cy="1995743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0A5397E6-1E66-F103-DFA9-B8960F84F407}"/>
              </a:ext>
            </a:extLst>
          </p:cNvPr>
          <p:cNvSpPr txBox="1"/>
          <p:nvPr/>
        </p:nvSpPr>
        <p:spPr>
          <a:xfrm>
            <a:off x="345280" y="3429554"/>
            <a:ext cx="1026556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0000"/>
                </a:solidFill>
                <a:effectLst/>
                <a:latin typeface="Söhne"/>
              </a:rPr>
              <a:t>Models: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Three independent NARX models, one for each output (optional: unique model with 3 outputs)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Regressor for the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i-th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model</a:t>
            </a:r>
          </a:p>
          <a:p>
            <a:pPr lvl="1"/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800100" lvl="1" indent="-342900">
              <a:buFont typeface="+mj-lt"/>
              <a:buAutoNum type="arabicPeriod"/>
            </a:pPr>
            <a:endParaRPr lang="en-US" dirty="0">
              <a:solidFill>
                <a:srgbClr val="0D0D0D"/>
              </a:solidFill>
              <a:latin typeface="Söhne"/>
            </a:endParaRPr>
          </a:p>
        </p:txBody>
      </p:sp>
      <p:pic>
        <p:nvPicPr>
          <p:cNvPr id="4" name="Immagine 3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\textcolor{red}{z^1} = y_i(k-1), \ldots, y_i(k-na), u_1(k),  \ldots,  u_1(k-nb), u_2(k),  \ldots,  u_2(k-nb)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24379543-869D-0A6C-893F-77C12B1B00E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461" y="4389263"/>
            <a:ext cx="7737551" cy="272627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99495BC6-A192-15BE-04A6-716881D07BBB}"/>
              </a:ext>
            </a:extLst>
          </p:cNvPr>
          <p:cNvSpPr txBox="1"/>
          <p:nvPr/>
        </p:nvSpPr>
        <p:spPr>
          <a:xfrm>
            <a:off x="354805" y="4801154"/>
            <a:ext cx="1026556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0000"/>
                </a:solidFill>
                <a:effectLst/>
                <a:latin typeface="Söhne"/>
              </a:rPr>
              <a:t>Performance: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rgbClr val="0D0D0D"/>
                </a:solidFill>
                <a:latin typeface="Söhne"/>
              </a:rPr>
              <a:t>Simulation in test data (also check one-step ahead prediction)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lvl="1"/>
            <a:endParaRPr lang="en-US" dirty="0">
              <a:solidFill>
                <a:srgbClr val="0D0D0D"/>
              </a:solidFill>
              <a:latin typeface="Söhne"/>
            </a:endParaRPr>
          </a:p>
          <a:p>
            <a:pPr lvl="1"/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800100" lvl="1" indent="-342900">
              <a:buFont typeface="+mj-lt"/>
              <a:buAutoNum type="arabicPeriod" startAt="2"/>
            </a:pPr>
            <a:r>
              <a:rPr lang="en-US" dirty="0">
                <a:solidFill>
                  <a:srgbClr val="0D0D0D"/>
                </a:solidFill>
                <a:latin typeface="Söhne"/>
              </a:rPr>
              <a:t>Metrics: RMSE and/or R2 coefficient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800100" lvl="1" indent="-342900">
              <a:buFont typeface="+mj-lt"/>
              <a:buAutoNum type="arabicPeriod" startAt="2"/>
            </a:pPr>
            <a:endParaRPr lang="en-US" dirty="0">
              <a:solidFill>
                <a:srgbClr val="0D0D0D"/>
              </a:solidFill>
              <a:latin typeface="Söhne"/>
            </a:endParaRPr>
          </a:p>
        </p:txBody>
      </p:sp>
      <p:pic>
        <p:nvPicPr>
          <p:cNvPr id="10" name="Immagine 9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\textcolor{dyel}{\hat{y_i}(k)}   = &amp;  f\big(\underset{\textcolor{red}{\hat{z}^1(k)}}{\underbrace{ \textcolor{dyel}{\hat{y_i}(k-1)}, \ldots, \textcolor{dyel}{\hat{y_i}(k-na)}, u_1(k),  \ldots,  u_1(k-nb), u_2(k),  \ldots,  u_2(k-nb)}}; W,b \big)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2FE3F964-0C65-D0F2-4746-8CFBBA208D5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318" y="5497895"/>
            <a:ext cx="8856027" cy="65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917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sellaDiTesto 26">
                <a:extLst>
                  <a:ext uri="{FF2B5EF4-FFF2-40B4-BE49-F238E27FC236}">
                    <a16:creationId xmlns:a16="http://schemas.microsoft.com/office/drawing/2014/main" id="{61E186FA-1583-5C23-69D7-4848FDF3B0AD}"/>
                  </a:ext>
                </a:extLst>
              </p:cNvPr>
              <p:cNvSpPr txBox="1"/>
              <p:nvPr/>
            </p:nvSpPr>
            <p:spPr>
              <a:xfrm>
                <a:off x="1090550" y="1461247"/>
                <a:ext cx="7334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CH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CasellaDiTesto 26">
                <a:extLst>
                  <a:ext uri="{FF2B5EF4-FFF2-40B4-BE49-F238E27FC236}">
                    <a16:creationId xmlns:a16="http://schemas.microsoft.com/office/drawing/2014/main" id="{61E186FA-1583-5C23-69D7-4848FDF3B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550" y="1461247"/>
                <a:ext cx="733425" cy="369332"/>
              </a:xfrm>
              <a:prstGeom prst="rect">
                <a:avLst/>
              </a:prstGeom>
              <a:blipFill>
                <a:blip r:embed="rId6"/>
                <a:stretch>
                  <a:fillRect t="-6667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Recurrent Neural Networks (RNNs)</a:t>
            </a: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E86A722-AC86-04A0-A723-9B76886F8570}"/>
              </a:ext>
            </a:extLst>
          </p:cNvPr>
          <p:cNvSpPr txBox="1"/>
          <p:nvPr/>
        </p:nvSpPr>
        <p:spPr>
          <a:xfrm>
            <a:off x="261210" y="724231"/>
            <a:ext cx="112926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Architectures tailored to process 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time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series data and temporal information (audio, text, video, signals, etc. )</a:t>
            </a:r>
            <a:endParaRPr lang="en-US" dirty="0">
              <a:solidFill>
                <a:srgbClr val="0D0D0D"/>
              </a:solidFill>
              <a:latin typeface="Söhne"/>
            </a:endParaRPr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A2A16272-8FC0-707E-ABD2-7CEC1648BFC5}"/>
              </a:ext>
            </a:extLst>
          </p:cNvPr>
          <p:cNvSpPr/>
          <p:nvPr/>
        </p:nvSpPr>
        <p:spPr>
          <a:xfrm>
            <a:off x="548630" y="3609975"/>
            <a:ext cx="880110" cy="8762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9C3B526F-92CA-3BF6-9C14-E82FF0B509CB}"/>
              </a:ext>
            </a:extLst>
          </p:cNvPr>
          <p:cNvCxnSpPr>
            <a:cxnSpLocks/>
            <a:endCxn id="4" idx="4"/>
          </p:cNvCxnSpPr>
          <p:nvPr/>
        </p:nvCxnSpPr>
        <p:spPr>
          <a:xfrm flipV="1">
            <a:off x="988685" y="4486274"/>
            <a:ext cx="0" cy="7524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61C5ADFD-F859-294E-2A4E-FF63E2946812}"/>
              </a:ext>
            </a:extLst>
          </p:cNvPr>
          <p:cNvCxnSpPr>
            <a:cxnSpLocks/>
          </p:cNvCxnSpPr>
          <p:nvPr/>
        </p:nvCxnSpPr>
        <p:spPr>
          <a:xfrm flipV="1">
            <a:off x="967730" y="2859945"/>
            <a:ext cx="0" cy="7524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curvo 16">
            <a:extLst>
              <a:ext uri="{FF2B5EF4-FFF2-40B4-BE49-F238E27FC236}">
                <a16:creationId xmlns:a16="http://schemas.microsoft.com/office/drawing/2014/main" id="{E54E42E6-A2CD-D7DB-0885-B6849F4FE4DE}"/>
              </a:ext>
            </a:extLst>
          </p:cNvPr>
          <p:cNvCxnSpPr>
            <a:cxnSpLocks/>
            <a:endCxn id="4" idx="5"/>
          </p:cNvCxnSpPr>
          <p:nvPr/>
        </p:nvCxnSpPr>
        <p:spPr>
          <a:xfrm rot="16200000" flipH="1">
            <a:off x="625250" y="3683341"/>
            <a:ext cx="1016241" cy="332962"/>
          </a:xfrm>
          <a:prstGeom prst="curvedConnector5">
            <a:avLst>
              <a:gd name="adj1" fmla="val -22418"/>
              <a:gd name="adj2" fmla="val 207366"/>
              <a:gd name="adj3" fmla="val 122495"/>
            </a:avLst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D4ECA975-7F7B-7AD2-E16F-C33969DB553B}"/>
              </a:ext>
            </a:extLst>
          </p:cNvPr>
          <p:cNvSpPr txBox="1"/>
          <p:nvPr/>
        </p:nvSpPr>
        <p:spPr>
          <a:xfrm>
            <a:off x="1057265" y="4972050"/>
            <a:ext cx="733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u(t)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13BBC1D2-DFEA-5331-61BB-22F132570C48}"/>
              </a:ext>
            </a:extLst>
          </p:cNvPr>
          <p:cNvSpPr txBox="1"/>
          <p:nvPr/>
        </p:nvSpPr>
        <p:spPr>
          <a:xfrm>
            <a:off x="946159" y="3254193"/>
            <a:ext cx="971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h(t)</a:t>
            </a:r>
          </a:p>
        </p:txBody>
      </p:sp>
      <p:pic>
        <p:nvPicPr>
          <p:cNvPr id="30" name="Immagine 29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h(t) = f(h(t-1), u(t); \red{W_f})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2D4C70AA-C0EF-B024-A68D-1E27B12403E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511" y="5801386"/>
            <a:ext cx="2845986" cy="252530"/>
          </a:xfrm>
          <a:prstGeom prst="rect">
            <a:avLst/>
          </a:prstGeom>
        </p:spPr>
      </p:pic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640550D1-06CD-1977-7B37-36C87343C566}"/>
              </a:ext>
            </a:extLst>
          </p:cNvPr>
          <p:cNvSpPr txBox="1"/>
          <p:nvPr/>
        </p:nvSpPr>
        <p:spPr>
          <a:xfrm>
            <a:off x="11006236" y="4857600"/>
            <a:ext cx="1233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u(</a:t>
            </a:r>
            <a:r>
              <a:rPr lang="en-GB" dirty="0" err="1"/>
              <a:t>t+T</a:t>
            </a:r>
            <a:r>
              <a:rPr lang="en-GB" dirty="0"/>
              <a:t>)</a:t>
            </a:r>
          </a:p>
        </p:txBody>
      </p:sp>
      <p:sp>
        <p:nvSpPr>
          <p:cNvPr id="82" name="CasellaDiTesto 81">
            <a:extLst>
              <a:ext uri="{FF2B5EF4-FFF2-40B4-BE49-F238E27FC236}">
                <a16:creationId xmlns:a16="http://schemas.microsoft.com/office/drawing/2014/main" id="{3573543C-F442-D5FF-1A51-281DD51181CC}"/>
              </a:ext>
            </a:extLst>
          </p:cNvPr>
          <p:cNvSpPr txBox="1"/>
          <p:nvPr/>
        </p:nvSpPr>
        <p:spPr>
          <a:xfrm>
            <a:off x="11107200" y="3175148"/>
            <a:ext cx="1237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h(</a:t>
            </a:r>
            <a:r>
              <a:rPr lang="en-GB" dirty="0" err="1"/>
              <a:t>t+T</a:t>
            </a:r>
            <a:r>
              <a:rPr lang="en-GB" dirty="0"/>
              <a:t>)</a:t>
            </a:r>
          </a:p>
        </p:txBody>
      </p:sp>
      <p:sp>
        <p:nvSpPr>
          <p:cNvPr id="104" name="Freccia a destra 103">
            <a:extLst>
              <a:ext uri="{FF2B5EF4-FFF2-40B4-BE49-F238E27FC236}">
                <a16:creationId xmlns:a16="http://schemas.microsoft.com/office/drawing/2014/main" id="{1BF43C10-32AB-90FB-2EBB-560DAE8CFF67}"/>
              </a:ext>
            </a:extLst>
          </p:cNvPr>
          <p:cNvSpPr/>
          <p:nvPr/>
        </p:nvSpPr>
        <p:spPr>
          <a:xfrm>
            <a:off x="1933575" y="4019398"/>
            <a:ext cx="1164996" cy="24314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" name="CasellaDiTesto 104">
            <a:extLst>
              <a:ext uri="{FF2B5EF4-FFF2-40B4-BE49-F238E27FC236}">
                <a16:creationId xmlns:a16="http://schemas.microsoft.com/office/drawing/2014/main" id="{315997FA-A507-1218-31FA-189F6329305B}"/>
              </a:ext>
            </a:extLst>
          </p:cNvPr>
          <p:cNvSpPr txBox="1"/>
          <p:nvPr/>
        </p:nvSpPr>
        <p:spPr>
          <a:xfrm>
            <a:off x="2129564" y="3697030"/>
            <a:ext cx="789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unfold</a:t>
            </a: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69F39146-A439-A576-6596-9EDF3FC310D0}"/>
              </a:ext>
            </a:extLst>
          </p:cNvPr>
          <p:cNvSpPr/>
          <p:nvPr/>
        </p:nvSpPr>
        <p:spPr>
          <a:xfrm>
            <a:off x="522902" y="1979625"/>
            <a:ext cx="880110" cy="87629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824BF92B-A3D1-2CBB-C1F6-789CC7C19794}"/>
              </a:ext>
            </a:extLst>
          </p:cNvPr>
          <p:cNvCxnSpPr>
            <a:cxnSpLocks/>
          </p:cNvCxnSpPr>
          <p:nvPr/>
        </p:nvCxnSpPr>
        <p:spPr>
          <a:xfrm flipV="1">
            <a:off x="962957" y="1580358"/>
            <a:ext cx="0" cy="39926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uppo 32">
            <a:extLst>
              <a:ext uri="{FF2B5EF4-FFF2-40B4-BE49-F238E27FC236}">
                <a16:creationId xmlns:a16="http://schemas.microsoft.com/office/drawing/2014/main" id="{EA88B6EE-3A8A-63F8-531C-A1867A0A9A5E}"/>
              </a:ext>
            </a:extLst>
          </p:cNvPr>
          <p:cNvGrpSpPr/>
          <p:nvPr/>
        </p:nvGrpSpPr>
        <p:grpSpPr>
          <a:xfrm>
            <a:off x="3060471" y="1395692"/>
            <a:ext cx="8928946" cy="3831240"/>
            <a:chOff x="3060471" y="1395692"/>
            <a:chExt cx="8928946" cy="38312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CasellaDiTesto 46">
                  <a:extLst>
                    <a:ext uri="{FF2B5EF4-FFF2-40B4-BE49-F238E27FC236}">
                      <a16:creationId xmlns:a16="http://schemas.microsoft.com/office/drawing/2014/main" id="{4D878792-7215-8E9B-9C9D-C8614352B9A7}"/>
                    </a:ext>
                  </a:extLst>
                </p:cNvPr>
                <p:cNvSpPr txBox="1"/>
                <p:nvPr/>
              </p:nvSpPr>
              <p:spPr>
                <a:xfrm>
                  <a:off x="4186335" y="1461247"/>
                  <a:ext cx="7334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GB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CH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it-CH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CH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CH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7" name="CasellaDiTesto 46">
                  <a:extLst>
                    <a:ext uri="{FF2B5EF4-FFF2-40B4-BE49-F238E27FC236}">
                      <a16:creationId xmlns:a16="http://schemas.microsoft.com/office/drawing/2014/main" id="{4D878792-7215-8E9B-9C9D-C8614352B9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6335" y="1461247"/>
                  <a:ext cx="733425" cy="369332"/>
                </a:xfrm>
                <a:prstGeom prst="rect">
                  <a:avLst/>
                </a:prstGeom>
                <a:blipFill>
                  <a:blip r:embed="rId9"/>
                  <a:stretch>
                    <a:fillRect t="-6667" b="-13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CasellaDiTesto 47">
                  <a:extLst>
                    <a:ext uri="{FF2B5EF4-FFF2-40B4-BE49-F238E27FC236}">
                      <a16:creationId xmlns:a16="http://schemas.microsoft.com/office/drawing/2014/main" id="{D798EE4B-0D18-E84C-7AEF-5793F9A0CC95}"/>
                    </a:ext>
                  </a:extLst>
                </p:cNvPr>
                <p:cNvSpPr txBox="1"/>
                <p:nvPr/>
              </p:nvSpPr>
              <p:spPr>
                <a:xfrm>
                  <a:off x="6119327" y="1461247"/>
                  <a:ext cx="106335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GB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CH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it-CH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CH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CH" b="0" i="1" dirty="0" smtClean="0">
                            <a:latin typeface="Cambria Math" panose="02040503050406030204" pitchFamily="18" charset="0"/>
                          </a:rPr>
                          <m:t>+1)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8" name="CasellaDiTesto 47">
                  <a:extLst>
                    <a:ext uri="{FF2B5EF4-FFF2-40B4-BE49-F238E27FC236}">
                      <a16:creationId xmlns:a16="http://schemas.microsoft.com/office/drawing/2014/main" id="{D798EE4B-0D18-E84C-7AEF-5793F9A0CC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9327" y="1461247"/>
                  <a:ext cx="1063357" cy="369332"/>
                </a:xfrm>
                <a:prstGeom prst="rect">
                  <a:avLst/>
                </a:prstGeom>
                <a:blipFill>
                  <a:blip r:embed="rId10"/>
                  <a:stretch>
                    <a:fillRect t="-6667" b="-13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CasellaDiTesto 48">
                  <a:extLst>
                    <a:ext uri="{FF2B5EF4-FFF2-40B4-BE49-F238E27FC236}">
                      <a16:creationId xmlns:a16="http://schemas.microsoft.com/office/drawing/2014/main" id="{40E28776-2631-34C7-8CDD-EA19296B5EF8}"/>
                    </a:ext>
                  </a:extLst>
                </p:cNvPr>
                <p:cNvSpPr txBox="1"/>
                <p:nvPr/>
              </p:nvSpPr>
              <p:spPr>
                <a:xfrm>
                  <a:off x="8048656" y="1461247"/>
                  <a:ext cx="106335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GB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CH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it-CH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CH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CH" b="0" i="1" dirty="0" smtClean="0">
                            <a:latin typeface="Cambria Math" panose="02040503050406030204" pitchFamily="18" charset="0"/>
                          </a:rPr>
                          <m:t>+2)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9" name="CasellaDiTesto 48">
                  <a:extLst>
                    <a:ext uri="{FF2B5EF4-FFF2-40B4-BE49-F238E27FC236}">
                      <a16:creationId xmlns:a16="http://schemas.microsoft.com/office/drawing/2014/main" id="{40E28776-2631-34C7-8CDD-EA19296B5E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8656" y="1461247"/>
                  <a:ext cx="1063357" cy="369332"/>
                </a:xfrm>
                <a:prstGeom prst="rect">
                  <a:avLst/>
                </a:prstGeom>
                <a:blipFill>
                  <a:blip r:embed="rId11"/>
                  <a:stretch>
                    <a:fillRect t="-6667" b="-13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CasellaDiTesto 49">
                  <a:extLst>
                    <a:ext uri="{FF2B5EF4-FFF2-40B4-BE49-F238E27FC236}">
                      <a16:creationId xmlns:a16="http://schemas.microsoft.com/office/drawing/2014/main" id="{C0C8F371-27F0-B4EE-5897-3E389137AE32}"/>
                    </a:ext>
                  </a:extLst>
                </p:cNvPr>
                <p:cNvSpPr txBox="1"/>
                <p:nvPr/>
              </p:nvSpPr>
              <p:spPr>
                <a:xfrm>
                  <a:off x="10926060" y="1461247"/>
                  <a:ext cx="106335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GB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CH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it-CH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CH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CH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it-CH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it-CH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50" name="CasellaDiTesto 49">
                  <a:extLst>
                    <a:ext uri="{FF2B5EF4-FFF2-40B4-BE49-F238E27FC236}">
                      <a16:creationId xmlns:a16="http://schemas.microsoft.com/office/drawing/2014/main" id="{C0C8F371-27F0-B4EE-5897-3E389137AE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26060" y="1461247"/>
                  <a:ext cx="1063357" cy="369332"/>
                </a:xfrm>
                <a:prstGeom prst="rect">
                  <a:avLst/>
                </a:prstGeom>
                <a:blipFill>
                  <a:blip r:embed="rId12"/>
                  <a:stretch>
                    <a:fillRect t="-6667" b="-13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Ovale 38">
              <a:extLst>
                <a:ext uri="{FF2B5EF4-FFF2-40B4-BE49-F238E27FC236}">
                  <a16:creationId xmlns:a16="http://schemas.microsoft.com/office/drawing/2014/main" id="{64626EC8-D51F-6A26-FA2E-07C63CCE728B}"/>
                </a:ext>
              </a:extLst>
            </p:cNvPr>
            <p:cNvSpPr/>
            <p:nvPr/>
          </p:nvSpPr>
          <p:spPr>
            <a:xfrm>
              <a:off x="3677701" y="3552674"/>
              <a:ext cx="880110" cy="8762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0" name="Connettore 2 39">
              <a:extLst>
                <a:ext uri="{FF2B5EF4-FFF2-40B4-BE49-F238E27FC236}">
                  <a16:creationId xmlns:a16="http://schemas.microsoft.com/office/drawing/2014/main" id="{3517DC20-6EFB-F57C-F4D5-DEDAB1A1D52E}"/>
                </a:ext>
              </a:extLst>
            </p:cNvPr>
            <p:cNvCxnSpPr>
              <a:cxnSpLocks/>
              <a:endCxn id="39" idx="4"/>
            </p:cNvCxnSpPr>
            <p:nvPr/>
          </p:nvCxnSpPr>
          <p:spPr>
            <a:xfrm flipV="1">
              <a:off x="4117756" y="4428973"/>
              <a:ext cx="0" cy="75247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ttore 2 40">
              <a:extLst>
                <a:ext uri="{FF2B5EF4-FFF2-40B4-BE49-F238E27FC236}">
                  <a16:creationId xmlns:a16="http://schemas.microsoft.com/office/drawing/2014/main" id="{FFBB2995-0C87-CEF0-D66F-66A4415DD6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6326" y="2802644"/>
              <a:ext cx="0" cy="75247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ttore curvo 41">
              <a:extLst>
                <a:ext uri="{FF2B5EF4-FFF2-40B4-BE49-F238E27FC236}">
                  <a16:creationId xmlns:a16="http://schemas.microsoft.com/office/drawing/2014/main" id="{0FEF7F61-45BF-8B71-6FAE-48E38E1F9F39}"/>
                </a:ext>
              </a:extLst>
            </p:cNvPr>
            <p:cNvCxnSpPr>
              <a:cxnSpLocks/>
            </p:cNvCxnSpPr>
            <p:nvPr/>
          </p:nvCxnSpPr>
          <p:spPr>
            <a:xfrm>
              <a:off x="4433256" y="3687354"/>
              <a:ext cx="1308068" cy="546612"/>
            </a:xfrm>
            <a:prstGeom prst="curvedConnector4">
              <a:avLst>
                <a:gd name="adj1" fmla="val 45073"/>
                <a:gd name="adj2" fmla="val 141821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CasellaDiTesto 42">
              <a:extLst>
                <a:ext uri="{FF2B5EF4-FFF2-40B4-BE49-F238E27FC236}">
                  <a16:creationId xmlns:a16="http://schemas.microsoft.com/office/drawing/2014/main" id="{E8AC8375-E0CC-4BF3-397F-F74BC611F5D5}"/>
                </a:ext>
              </a:extLst>
            </p:cNvPr>
            <p:cNvSpPr txBox="1"/>
            <p:nvPr/>
          </p:nvSpPr>
          <p:spPr>
            <a:xfrm>
              <a:off x="4186336" y="4857600"/>
              <a:ext cx="7334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u(t)</a:t>
              </a:r>
            </a:p>
          </p:txBody>
        </p:sp>
        <p:sp>
          <p:nvSpPr>
            <p:cNvPr id="45" name="CasellaDiTesto 44">
              <a:extLst>
                <a:ext uri="{FF2B5EF4-FFF2-40B4-BE49-F238E27FC236}">
                  <a16:creationId xmlns:a16="http://schemas.microsoft.com/office/drawing/2014/main" id="{8C8AC95B-5B1B-C533-7FE9-0369F388F949}"/>
                </a:ext>
              </a:extLst>
            </p:cNvPr>
            <p:cNvSpPr txBox="1"/>
            <p:nvPr/>
          </p:nvSpPr>
          <p:spPr>
            <a:xfrm>
              <a:off x="4297886" y="3175148"/>
              <a:ext cx="97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h(t)</a:t>
              </a:r>
            </a:p>
          </p:txBody>
        </p:sp>
        <p:sp>
          <p:nvSpPr>
            <p:cNvPr id="57" name="Ovale 56">
              <a:extLst>
                <a:ext uri="{FF2B5EF4-FFF2-40B4-BE49-F238E27FC236}">
                  <a16:creationId xmlns:a16="http://schemas.microsoft.com/office/drawing/2014/main" id="{3ED62660-B459-1379-4CE5-3E1EA37F52F7}"/>
                </a:ext>
              </a:extLst>
            </p:cNvPr>
            <p:cNvSpPr/>
            <p:nvPr/>
          </p:nvSpPr>
          <p:spPr>
            <a:xfrm>
              <a:off x="5601751" y="3485999"/>
              <a:ext cx="880110" cy="8762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8" name="Connettore 2 57">
              <a:extLst>
                <a:ext uri="{FF2B5EF4-FFF2-40B4-BE49-F238E27FC236}">
                  <a16:creationId xmlns:a16="http://schemas.microsoft.com/office/drawing/2014/main" id="{FC01E6EC-EA3A-049C-B77D-AD37C4296EEB}"/>
                </a:ext>
              </a:extLst>
            </p:cNvPr>
            <p:cNvCxnSpPr>
              <a:cxnSpLocks/>
              <a:endCxn id="57" idx="4"/>
            </p:cNvCxnSpPr>
            <p:nvPr/>
          </p:nvCxnSpPr>
          <p:spPr>
            <a:xfrm flipV="1">
              <a:off x="6041806" y="4362298"/>
              <a:ext cx="0" cy="75247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ttore 2 58">
              <a:extLst>
                <a:ext uri="{FF2B5EF4-FFF2-40B4-BE49-F238E27FC236}">
                  <a16:creationId xmlns:a16="http://schemas.microsoft.com/office/drawing/2014/main" id="{3B9B3863-F128-6973-C21C-EEFDAE006D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30376" y="2735969"/>
              <a:ext cx="0" cy="75247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CasellaDiTesto 60">
              <a:extLst>
                <a:ext uri="{FF2B5EF4-FFF2-40B4-BE49-F238E27FC236}">
                  <a16:creationId xmlns:a16="http://schemas.microsoft.com/office/drawing/2014/main" id="{7447476E-E173-3921-22C1-D688CF2E3EEA}"/>
                </a:ext>
              </a:extLst>
            </p:cNvPr>
            <p:cNvSpPr txBox="1"/>
            <p:nvPr/>
          </p:nvSpPr>
          <p:spPr>
            <a:xfrm>
              <a:off x="6110386" y="4857600"/>
              <a:ext cx="12333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u(t+1)</a:t>
              </a:r>
            </a:p>
          </p:txBody>
        </p:sp>
        <p:sp>
          <p:nvSpPr>
            <p:cNvPr id="63" name="CasellaDiTesto 62">
              <a:extLst>
                <a:ext uri="{FF2B5EF4-FFF2-40B4-BE49-F238E27FC236}">
                  <a16:creationId xmlns:a16="http://schemas.microsoft.com/office/drawing/2014/main" id="{A7FD9752-D9C4-D1D2-7A70-40FDF180C82F}"/>
                </a:ext>
              </a:extLst>
            </p:cNvPr>
            <p:cNvSpPr txBox="1"/>
            <p:nvPr/>
          </p:nvSpPr>
          <p:spPr>
            <a:xfrm>
              <a:off x="6211351" y="3175148"/>
              <a:ext cx="97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h(t+1)</a:t>
              </a:r>
            </a:p>
          </p:txBody>
        </p:sp>
        <p:sp>
          <p:nvSpPr>
            <p:cNvPr id="67" name="Ovale 66">
              <a:extLst>
                <a:ext uri="{FF2B5EF4-FFF2-40B4-BE49-F238E27FC236}">
                  <a16:creationId xmlns:a16="http://schemas.microsoft.com/office/drawing/2014/main" id="{C58904D5-38E1-17AE-B9CF-FEAD2CB56584}"/>
                </a:ext>
              </a:extLst>
            </p:cNvPr>
            <p:cNvSpPr/>
            <p:nvPr/>
          </p:nvSpPr>
          <p:spPr>
            <a:xfrm>
              <a:off x="7592476" y="3495524"/>
              <a:ext cx="880110" cy="8762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68" name="Connettore 2 67">
              <a:extLst>
                <a:ext uri="{FF2B5EF4-FFF2-40B4-BE49-F238E27FC236}">
                  <a16:creationId xmlns:a16="http://schemas.microsoft.com/office/drawing/2014/main" id="{97848275-DF3B-85B4-FB5C-FFBED2B5887C}"/>
                </a:ext>
              </a:extLst>
            </p:cNvPr>
            <p:cNvCxnSpPr>
              <a:cxnSpLocks/>
              <a:endCxn id="67" idx="4"/>
            </p:cNvCxnSpPr>
            <p:nvPr/>
          </p:nvCxnSpPr>
          <p:spPr>
            <a:xfrm flipV="1">
              <a:off x="8032531" y="4371823"/>
              <a:ext cx="0" cy="75247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ttore 2 68">
              <a:extLst>
                <a:ext uri="{FF2B5EF4-FFF2-40B4-BE49-F238E27FC236}">
                  <a16:creationId xmlns:a16="http://schemas.microsoft.com/office/drawing/2014/main" id="{79BE9C7B-EF41-B03B-5050-647568220B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1101" y="2745494"/>
              <a:ext cx="0" cy="75247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CasellaDiTesto 71">
              <a:extLst>
                <a:ext uri="{FF2B5EF4-FFF2-40B4-BE49-F238E27FC236}">
                  <a16:creationId xmlns:a16="http://schemas.microsoft.com/office/drawing/2014/main" id="{22E81641-5272-8C29-DCC0-AD4928D36A8A}"/>
                </a:ext>
              </a:extLst>
            </p:cNvPr>
            <p:cNvSpPr txBox="1"/>
            <p:nvPr/>
          </p:nvSpPr>
          <p:spPr>
            <a:xfrm>
              <a:off x="8101111" y="4857600"/>
              <a:ext cx="12333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u(t+2)</a:t>
              </a:r>
            </a:p>
          </p:txBody>
        </p:sp>
        <p:sp>
          <p:nvSpPr>
            <p:cNvPr id="74" name="CasellaDiTesto 73">
              <a:extLst>
                <a:ext uri="{FF2B5EF4-FFF2-40B4-BE49-F238E27FC236}">
                  <a16:creationId xmlns:a16="http://schemas.microsoft.com/office/drawing/2014/main" id="{B0B09DE0-3F41-8D2F-8494-8ABC55B1E3CF}"/>
                </a:ext>
              </a:extLst>
            </p:cNvPr>
            <p:cNvSpPr txBox="1"/>
            <p:nvPr/>
          </p:nvSpPr>
          <p:spPr>
            <a:xfrm>
              <a:off x="8202076" y="3175148"/>
              <a:ext cx="97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h(t+2)</a:t>
              </a:r>
            </a:p>
          </p:txBody>
        </p:sp>
        <p:cxnSp>
          <p:nvCxnSpPr>
            <p:cNvPr id="75" name="Connettore curvo 74">
              <a:extLst>
                <a:ext uri="{FF2B5EF4-FFF2-40B4-BE49-F238E27FC236}">
                  <a16:creationId xmlns:a16="http://schemas.microsoft.com/office/drawing/2014/main" id="{2A136A9E-2015-3475-398E-55B459CAFADB}"/>
                </a:ext>
              </a:extLst>
            </p:cNvPr>
            <p:cNvCxnSpPr>
              <a:cxnSpLocks/>
            </p:cNvCxnSpPr>
            <p:nvPr/>
          </p:nvCxnSpPr>
          <p:spPr>
            <a:xfrm>
              <a:off x="6333703" y="3612821"/>
              <a:ext cx="1308068" cy="546612"/>
            </a:xfrm>
            <a:prstGeom prst="curvedConnector4">
              <a:avLst>
                <a:gd name="adj1" fmla="val 45073"/>
                <a:gd name="adj2" fmla="val 141821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Ovale 75">
              <a:extLst>
                <a:ext uri="{FF2B5EF4-FFF2-40B4-BE49-F238E27FC236}">
                  <a16:creationId xmlns:a16="http://schemas.microsoft.com/office/drawing/2014/main" id="{50ED97A8-55E0-21CE-39B1-8108C3CA1B9E}"/>
                </a:ext>
              </a:extLst>
            </p:cNvPr>
            <p:cNvSpPr/>
            <p:nvPr/>
          </p:nvSpPr>
          <p:spPr>
            <a:xfrm>
              <a:off x="10497601" y="3438374"/>
              <a:ext cx="880110" cy="8762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77" name="Connettore 2 76">
              <a:extLst>
                <a:ext uri="{FF2B5EF4-FFF2-40B4-BE49-F238E27FC236}">
                  <a16:creationId xmlns:a16="http://schemas.microsoft.com/office/drawing/2014/main" id="{3BA91153-D5AD-DA6C-2F17-6E86570AEEAB}"/>
                </a:ext>
              </a:extLst>
            </p:cNvPr>
            <p:cNvCxnSpPr>
              <a:cxnSpLocks/>
              <a:endCxn id="76" idx="4"/>
            </p:cNvCxnSpPr>
            <p:nvPr/>
          </p:nvCxnSpPr>
          <p:spPr>
            <a:xfrm flipV="1">
              <a:off x="10937656" y="4314673"/>
              <a:ext cx="0" cy="75247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ttore 2 77">
              <a:extLst>
                <a:ext uri="{FF2B5EF4-FFF2-40B4-BE49-F238E27FC236}">
                  <a16:creationId xmlns:a16="http://schemas.microsoft.com/office/drawing/2014/main" id="{12D02DFE-EFC4-19CA-C2B2-4D4E1FEC77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26226" y="2688344"/>
              <a:ext cx="0" cy="75247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ttore curvo 82">
              <a:extLst>
                <a:ext uri="{FF2B5EF4-FFF2-40B4-BE49-F238E27FC236}">
                  <a16:creationId xmlns:a16="http://schemas.microsoft.com/office/drawing/2014/main" id="{A7AF59E9-01EB-52D0-2CF7-6C91388294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6003" y="4165891"/>
              <a:ext cx="390904" cy="205932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ttore curvo 91">
              <a:extLst>
                <a:ext uri="{FF2B5EF4-FFF2-40B4-BE49-F238E27FC236}">
                  <a16:creationId xmlns:a16="http://schemas.microsoft.com/office/drawing/2014/main" id="{3C4350C3-6FE3-D34C-5C04-09C635874D7E}"/>
                </a:ext>
              </a:extLst>
            </p:cNvPr>
            <p:cNvCxnSpPr>
              <a:stCxn id="67" idx="7"/>
            </p:cNvCxnSpPr>
            <p:nvPr/>
          </p:nvCxnSpPr>
          <p:spPr>
            <a:xfrm>
              <a:off x="8416388" y="3662562"/>
              <a:ext cx="914400" cy="914400"/>
            </a:xfrm>
            <a:prstGeom prst="curved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CasellaDiTesto 92">
              <a:extLst>
                <a:ext uri="{FF2B5EF4-FFF2-40B4-BE49-F238E27FC236}">
                  <a16:creationId xmlns:a16="http://schemas.microsoft.com/office/drawing/2014/main" id="{0AB02D5A-554E-5048-9DB9-38E432F9E7E1}"/>
                </a:ext>
              </a:extLst>
            </p:cNvPr>
            <p:cNvSpPr txBox="1"/>
            <p:nvPr/>
          </p:nvSpPr>
          <p:spPr>
            <a:xfrm>
              <a:off x="9555330" y="3933673"/>
              <a:ext cx="50482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GB" sz="2400" dirty="0"/>
            </a:p>
            <a:p>
              <a:r>
                <a:rPr lang="en-GB" sz="2400" dirty="0">
                  <a:solidFill>
                    <a:schemeClr val="accent1"/>
                  </a:solidFill>
                </a:rPr>
                <a:t>…</a:t>
              </a:r>
            </a:p>
          </p:txBody>
        </p:sp>
        <p:sp>
          <p:nvSpPr>
            <p:cNvPr id="94" name="CasellaDiTesto 93">
              <a:extLst>
                <a:ext uri="{FF2B5EF4-FFF2-40B4-BE49-F238E27FC236}">
                  <a16:creationId xmlns:a16="http://schemas.microsoft.com/office/drawing/2014/main" id="{05571CFE-6D91-8DAF-62CB-617FE2711DE8}"/>
                </a:ext>
              </a:extLst>
            </p:cNvPr>
            <p:cNvSpPr txBox="1"/>
            <p:nvPr/>
          </p:nvSpPr>
          <p:spPr>
            <a:xfrm>
              <a:off x="3060471" y="4431116"/>
              <a:ext cx="97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h(t-1)</a:t>
              </a:r>
            </a:p>
          </p:txBody>
        </p:sp>
        <p:cxnSp>
          <p:nvCxnSpPr>
            <p:cNvPr id="96" name="Connettore curvo 95">
              <a:extLst>
                <a:ext uri="{FF2B5EF4-FFF2-40B4-BE49-F238E27FC236}">
                  <a16:creationId xmlns:a16="http://schemas.microsoft.com/office/drawing/2014/main" id="{6FEAA616-596B-C9B3-A47F-926BEA882F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7580" y="4280342"/>
              <a:ext cx="390904" cy="205932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e 6">
              <a:extLst>
                <a:ext uri="{FF2B5EF4-FFF2-40B4-BE49-F238E27FC236}">
                  <a16:creationId xmlns:a16="http://schemas.microsoft.com/office/drawing/2014/main" id="{DE18B94B-5B44-EB7C-6C7B-DE25CCF7024B}"/>
                </a:ext>
              </a:extLst>
            </p:cNvPr>
            <p:cNvSpPr/>
            <p:nvPr/>
          </p:nvSpPr>
          <p:spPr>
            <a:xfrm>
              <a:off x="3651050" y="1923783"/>
              <a:ext cx="880110" cy="87629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Ovale 8">
              <a:extLst>
                <a:ext uri="{FF2B5EF4-FFF2-40B4-BE49-F238E27FC236}">
                  <a16:creationId xmlns:a16="http://schemas.microsoft.com/office/drawing/2014/main" id="{09229898-D8B9-2EF2-C41E-054D60668C93}"/>
                </a:ext>
              </a:extLst>
            </p:cNvPr>
            <p:cNvSpPr/>
            <p:nvPr/>
          </p:nvSpPr>
          <p:spPr>
            <a:xfrm>
              <a:off x="5580051" y="1857108"/>
              <a:ext cx="880110" cy="87629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Ovale 9">
              <a:extLst>
                <a:ext uri="{FF2B5EF4-FFF2-40B4-BE49-F238E27FC236}">
                  <a16:creationId xmlns:a16="http://schemas.microsoft.com/office/drawing/2014/main" id="{9DFDE361-A8FB-FB99-3C1E-ED57F8F96992}"/>
                </a:ext>
              </a:extLst>
            </p:cNvPr>
            <p:cNvSpPr/>
            <p:nvPr/>
          </p:nvSpPr>
          <p:spPr>
            <a:xfrm>
              <a:off x="7608601" y="1856301"/>
              <a:ext cx="880110" cy="87629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Ovale 10">
              <a:extLst>
                <a:ext uri="{FF2B5EF4-FFF2-40B4-BE49-F238E27FC236}">
                  <a16:creationId xmlns:a16="http://schemas.microsoft.com/office/drawing/2014/main" id="{756BD4B5-9EA9-870E-ECCE-864F78E6F955}"/>
                </a:ext>
              </a:extLst>
            </p:cNvPr>
            <p:cNvSpPr/>
            <p:nvPr/>
          </p:nvSpPr>
          <p:spPr>
            <a:xfrm>
              <a:off x="10465986" y="1798649"/>
              <a:ext cx="880110" cy="87629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0" name="Connettore 2 19">
              <a:extLst>
                <a:ext uri="{FF2B5EF4-FFF2-40B4-BE49-F238E27FC236}">
                  <a16:creationId xmlns:a16="http://schemas.microsoft.com/office/drawing/2014/main" id="{AA02F85A-27B8-B044-6878-60DE18CD0D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7318" y="1522899"/>
              <a:ext cx="0" cy="39926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2 20">
              <a:extLst>
                <a:ext uri="{FF2B5EF4-FFF2-40B4-BE49-F238E27FC236}">
                  <a16:creationId xmlns:a16="http://schemas.microsoft.com/office/drawing/2014/main" id="{ABFECBF1-EACE-7E32-3B65-26B01598C8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1326" y="1455432"/>
              <a:ext cx="0" cy="39926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ttore 2 21">
              <a:extLst>
                <a:ext uri="{FF2B5EF4-FFF2-40B4-BE49-F238E27FC236}">
                  <a16:creationId xmlns:a16="http://schemas.microsoft.com/office/drawing/2014/main" id="{B7761C0B-DF5F-18A4-C0CA-316C392767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9707" y="1463464"/>
              <a:ext cx="0" cy="39926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2 22">
              <a:extLst>
                <a:ext uri="{FF2B5EF4-FFF2-40B4-BE49-F238E27FC236}">
                  <a16:creationId xmlns:a16="http://schemas.microsoft.com/office/drawing/2014/main" id="{992B886C-4D06-BF96-D829-DEC13769F6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06041" y="1395692"/>
              <a:ext cx="0" cy="39926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Immagine 31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\mathcal{L} = \sum_{i=0}^{T} \left\|\hat{y}(t+i) - y(t+i)\right\|^2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742AA83E-EC69-3C58-D688-F60E623D912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6521" y="5662869"/>
            <a:ext cx="3058321" cy="706035"/>
          </a:xfrm>
          <a:prstGeom prst="rect">
            <a:avLst/>
          </a:prstGeom>
        </p:spPr>
      </p:pic>
      <p:sp>
        <p:nvSpPr>
          <p:cNvPr id="14" name="Ovale 13">
            <a:extLst>
              <a:ext uri="{FF2B5EF4-FFF2-40B4-BE49-F238E27FC236}">
                <a16:creationId xmlns:a16="http://schemas.microsoft.com/office/drawing/2014/main" id="{244E2622-D2FA-C051-A4E2-7DD81FCBD7AB}"/>
              </a:ext>
            </a:extLst>
          </p:cNvPr>
          <p:cNvSpPr/>
          <p:nvPr/>
        </p:nvSpPr>
        <p:spPr>
          <a:xfrm>
            <a:off x="5269220" y="6224504"/>
            <a:ext cx="472104" cy="247989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83741AC0-209C-F9A6-7C33-CBE184F03AA6}"/>
              </a:ext>
            </a:extLst>
          </p:cNvPr>
          <p:cNvCxnSpPr>
            <a:cxnSpLocks/>
          </p:cNvCxnSpPr>
          <p:nvPr/>
        </p:nvCxnSpPr>
        <p:spPr>
          <a:xfrm flipH="1" flipV="1">
            <a:off x="5841036" y="6340810"/>
            <a:ext cx="1238250" cy="87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1F29B8E4-4C22-E8C5-DE78-D2D21264F6D5}"/>
              </a:ext>
            </a:extLst>
          </p:cNvPr>
          <p:cNvSpPr txBox="1"/>
          <p:nvPr/>
        </p:nvSpPr>
        <p:spPr>
          <a:xfrm>
            <a:off x="7182684" y="6288865"/>
            <a:ext cx="2877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or skip some initial samples </a:t>
            </a:r>
          </a:p>
        </p:txBody>
      </p:sp>
      <p:pic>
        <p:nvPicPr>
          <p:cNvPr id="2" name="Immagine 1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\hat{y}(t) =  h(t) \red{W'_{ho}} + \red{b_{hy}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31226DEA-B46F-140D-0917-D605F080A62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31" y="6224505"/>
            <a:ext cx="2190632" cy="26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62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  <p:bldP spid="82" grpId="0"/>
      <p:bldP spid="104" grpId="0" animBg="1"/>
      <p:bldP spid="105" grpId="0"/>
      <p:bldP spid="14" grpId="0" animBg="1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317EC68D-63E8-98B6-4742-C38CFD54117A}"/>
                  </a:ext>
                </a:extLst>
              </p:cNvPr>
              <p:cNvSpPr txBox="1"/>
              <p:nvPr/>
            </p:nvSpPr>
            <p:spPr>
              <a:xfrm>
                <a:off x="1636054" y="772502"/>
                <a:ext cx="530457" cy="259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CH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317EC68D-63E8-98B6-4742-C38CFD541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6054" y="772502"/>
                <a:ext cx="530457" cy="259632"/>
              </a:xfrm>
              <a:prstGeom prst="rect">
                <a:avLst/>
              </a:prstGeom>
              <a:blipFill>
                <a:blip r:embed="rId3"/>
                <a:stretch>
                  <a:fillRect t="-9524" r="-17241" b="-619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6175D555-4B7D-B325-182B-95D678A246E2}"/>
                  </a:ext>
                </a:extLst>
              </p:cNvPr>
              <p:cNvSpPr txBox="1"/>
              <p:nvPr/>
            </p:nvSpPr>
            <p:spPr>
              <a:xfrm>
                <a:off x="3050547" y="772502"/>
                <a:ext cx="1201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CH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6175D555-4B7D-B325-182B-95D678A2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0547" y="772502"/>
                <a:ext cx="1201613" cy="369332"/>
              </a:xfrm>
              <a:prstGeom prst="rect">
                <a:avLst/>
              </a:prstGeom>
              <a:blipFill>
                <a:blip r:embed="rId4"/>
                <a:stretch>
                  <a:fillRect t="-6667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369FA63A-DA77-1F7E-AC2A-E9818AA0904F}"/>
                  </a:ext>
                </a:extLst>
              </p:cNvPr>
              <p:cNvSpPr txBox="1"/>
              <p:nvPr/>
            </p:nvSpPr>
            <p:spPr>
              <a:xfrm>
                <a:off x="4446344" y="772502"/>
                <a:ext cx="11776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CH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+2)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369FA63A-DA77-1F7E-AC2A-E9818AA09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344" y="772502"/>
                <a:ext cx="1177657" cy="369332"/>
              </a:xfrm>
              <a:prstGeom prst="rect">
                <a:avLst/>
              </a:prstGeom>
              <a:blipFill>
                <a:blip r:embed="rId5"/>
                <a:stretch>
                  <a:fillRect t="-6667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0F4D00FA-1802-5716-AA53-F0574048998C}"/>
                  </a:ext>
                </a:extLst>
              </p:cNvPr>
              <p:cNvSpPr txBox="1"/>
              <p:nvPr/>
            </p:nvSpPr>
            <p:spPr>
              <a:xfrm>
                <a:off x="6489506" y="772502"/>
                <a:ext cx="12016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CH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0F4D00FA-1802-5716-AA53-F05740489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506" y="772502"/>
                <a:ext cx="1201614" cy="369332"/>
              </a:xfrm>
              <a:prstGeom prst="rect">
                <a:avLst/>
              </a:prstGeom>
              <a:blipFill>
                <a:blip r:embed="rId6"/>
                <a:stretch>
                  <a:fillRect t="-6667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e 8">
            <a:extLst>
              <a:ext uri="{FF2B5EF4-FFF2-40B4-BE49-F238E27FC236}">
                <a16:creationId xmlns:a16="http://schemas.microsoft.com/office/drawing/2014/main" id="{B1D0EA6E-1C9E-7956-A3CC-3D7E8E590779}"/>
              </a:ext>
            </a:extLst>
          </p:cNvPr>
          <p:cNvSpPr/>
          <p:nvPr/>
        </p:nvSpPr>
        <p:spPr>
          <a:xfrm>
            <a:off x="1304937" y="5373942"/>
            <a:ext cx="636549" cy="6160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506667CE-65B0-D5AC-AA3B-D7A8D905E729}"/>
              </a:ext>
            </a:extLst>
          </p:cNvPr>
          <p:cNvCxnSpPr>
            <a:cxnSpLocks/>
            <a:endCxn id="9" idx="4"/>
          </p:cNvCxnSpPr>
          <p:nvPr/>
        </p:nvCxnSpPr>
        <p:spPr>
          <a:xfrm flipV="1">
            <a:off x="1623211" y="5989960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0ED892D5-E29B-20B3-95C3-C77B0E5F3F5E}"/>
              </a:ext>
            </a:extLst>
          </p:cNvPr>
          <p:cNvCxnSpPr>
            <a:cxnSpLocks/>
          </p:cNvCxnSpPr>
          <p:nvPr/>
        </p:nvCxnSpPr>
        <p:spPr>
          <a:xfrm flipV="1">
            <a:off x="1614944" y="4836528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curvo 13">
            <a:extLst>
              <a:ext uri="{FF2B5EF4-FFF2-40B4-BE49-F238E27FC236}">
                <a16:creationId xmlns:a16="http://schemas.microsoft.com/office/drawing/2014/main" id="{CD6A3638-C415-98B1-C34A-869828DA6C85}"/>
              </a:ext>
            </a:extLst>
          </p:cNvPr>
          <p:cNvCxnSpPr>
            <a:cxnSpLocks/>
          </p:cNvCxnSpPr>
          <p:nvPr/>
        </p:nvCxnSpPr>
        <p:spPr>
          <a:xfrm>
            <a:off x="1851400" y="5468619"/>
            <a:ext cx="946073" cy="384256"/>
          </a:xfrm>
          <a:prstGeom prst="curvedConnector4">
            <a:avLst>
              <a:gd name="adj1" fmla="val 45073"/>
              <a:gd name="adj2" fmla="val 1418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4A3F4A75-A9ED-BCB1-D0E4-8BD3C16EE56D}"/>
              </a:ext>
            </a:extLst>
          </p:cNvPr>
          <p:cNvSpPr txBox="1"/>
          <p:nvPr/>
        </p:nvSpPr>
        <p:spPr>
          <a:xfrm>
            <a:off x="1672812" y="6220155"/>
            <a:ext cx="530457" cy="259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u(t)</a:t>
            </a:r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8EE62AFA-70A9-43A6-C63B-317CAFBCB9C4}"/>
              </a:ext>
            </a:extLst>
          </p:cNvPr>
          <p:cNvSpPr/>
          <p:nvPr/>
        </p:nvSpPr>
        <p:spPr>
          <a:xfrm>
            <a:off x="2696526" y="5327071"/>
            <a:ext cx="636549" cy="6160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3F1A18D5-6FE1-55DA-87B4-BFB20DB7FD52}"/>
              </a:ext>
            </a:extLst>
          </p:cNvPr>
          <p:cNvCxnSpPr>
            <a:cxnSpLocks/>
            <a:endCxn id="23" idx="4"/>
          </p:cNvCxnSpPr>
          <p:nvPr/>
        </p:nvCxnSpPr>
        <p:spPr>
          <a:xfrm flipV="1">
            <a:off x="3014800" y="5943089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6F835C3D-4ECF-D9A7-9C5C-FBBDA9D0A097}"/>
              </a:ext>
            </a:extLst>
          </p:cNvPr>
          <p:cNvCxnSpPr>
            <a:cxnSpLocks/>
          </p:cNvCxnSpPr>
          <p:nvPr/>
        </p:nvCxnSpPr>
        <p:spPr>
          <a:xfrm flipV="1">
            <a:off x="3006533" y="4836528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E73EFEC8-E6ED-2282-1972-0A915E85455C}"/>
              </a:ext>
            </a:extLst>
          </p:cNvPr>
          <p:cNvSpPr txBox="1"/>
          <p:nvPr/>
        </p:nvSpPr>
        <p:spPr>
          <a:xfrm>
            <a:off x="3064401" y="6220155"/>
            <a:ext cx="892061" cy="259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u(t+1)</a:t>
            </a:r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E5587CEA-CD4B-C0A6-8B26-20151AD219CC}"/>
              </a:ext>
            </a:extLst>
          </p:cNvPr>
          <p:cNvSpPr/>
          <p:nvPr/>
        </p:nvSpPr>
        <p:spPr>
          <a:xfrm>
            <a:off x="4136338" y="5333767"/>
            <a:ext cx="636549" cy="6160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B81771DF-C952-C83F-3A46-A10564EFC41F}"/>
              </a:ext>
            </a:extLst>
          </p:cNvPr>
          <p:cNvCxnSpPr>
            <a:cxnSpLocks/>
            <a:endCxn id="30" idx="4"/>
          </p:cNvCxnSpPr>
          <p:nvPr/>
        </p:nvCxnSpPr>
        <p:spPr>
          <a:xfrm flipV="1">
            <a:off x="4454612" y="5949785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8DAA5697-0FC3-0AF8-9C00-34022021247C}"/>
              </a:ext>
            </a:extLst>
          </p:cNvPr>
          <p:cNvSpPr txBox="1"/>
          <p:nvPr/>
        </p:nvSpPr>
        <p:spPr>
          <a:xfrm>
            <a:off x="4504213" y="6220155"/>
            <a:ext cx="892061" cy="259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u(t+2)</a:t>
            </a:r>
          </a:p>
        </p:txBody>
      </p:sp>
      <p:cxnSp>
        <p:nvCxnSpPr>
          <p:cNvPr id="36" name="Connettore curvo 35">
            <a:extLst>
              <a:ext uri="{FF2B5EF4-FFF2-40B4-BE49-F238E27FC236}">
                <a16:creationId xmlns:a16="http://schemas.microsoft.com/office/drawing/2014/main" id="{B7981AED-CE43-3F28-6033-F3EA51B85562}"/>
              </a:ext>
            </a:extLst>
          </p:cNvPr>
          <p:cNvCxnSpPr>
            <a:cxnSpLocks/>
          </p:cNvCxnSpPr>
          <p:nvPr/>
        </p:nvCxnSpPr>
        <p:spPr>
          <a:xfrm>
            <a:off x="3225917" y="5416224"/>
            <a:ext cx="946073" cy="384256"/>
          </a:xfrm>
          <a:prstGeom prst="curvedConnector4">
            <a:avLst>
              <a:gd name="adj1" fmla="val 45073"/>
              <a:gd name="adj2" fmla="val 1418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e 36">
            <a:extLst>
              <a:ext uri="{FF2B5EF4-FFF2-40B4-BE49-F238E27FC236}">
                <a16:creationId xmlns:a16="http://schemas.microsoft.com/office/drawing/2014/main" id="{B22C2DC9-C0EB-803A-DBA5-1DDAFD387EA7}"/>
              </a:ext>
            </a:extLst>
          </p:cNvPr>
          <p:cNvSpPr/>
          <p:nvPr/>
        </p:nvSpPr>
        <p:spPr>
          <a:xfrm>
            <a:off x="6237499" y="5293592"/>
            <a:ext cx="636549" cy="6160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D274A3E3-134E-5963-5B23-375C2F17363C}"/>
              </a:ext>
            </a:extLst>
          </p:cNvPr>
          <p:cNvCxnSpPr>
            <a:cxnSpLocks/>
            <a:endCxn id="37" idx="4"/>
          </p:cNvCxnSpPr>
          <p:nvPr/>
        </p:nvCxnSpPr>
        <p:spPr>
          <a:xfrm flipV="1">
            <a:off x="6555773" y="5909610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C4E21A79-4349-D129-D4FD-0FA16DBD9349}"/>
              </a:ext>
            </a:extLst>
          </p:cNvPr>
          <p:cNvCxnSpPr>
            <a:cxnSpLocks/>
          </p:cNvCxnSpPr>
          <p:nvPr/>
        </p:nvCxnSpPr>
        <p:spPr>
          <a:xfrm flipV="1">
            <a:off x="6547506" y="4836528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curvo 39">
            <a:extLst>
              <a:ext uri="{FF2B5EF4-FFF2-40B4-BE49-F238E27FC236}">
                <a16:creationId xmlns:a16="http://schemas.microsoft.com/office/drawing/2014/main" id="{C978EC2D-C56F-528B-9CC6-C349BE3DEC61}"/>
              </a:ext>
            </a:extLst>
          </p:cNvPr>
          <p:cNvCxnSpPr>
            <a:cxnSpLocks/>
          </p:cNvCxnSpPr>
          <p:nvPr/>
        </p:nvCxnSpPr>
        <p:spPr>
          <a:xfrm flipV="1">
            <a:off x="6033830" y="5805019"/>
            <a:ext cx="282725" cy="1447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curvo 40">
            <a:extLst>
              <a:ext uri="{FF2B5EF4-FFF2-40B4-BE49-F238E27FC236}">
                <a16:creationId xmlns:a16="http://schemas.microsoft.com/office/drawing/2014/main" id="{69949907-95B6-42B7-7A8F-49A4F3DA2B80}"/>
              </a:ext>
            </a:extLst>
          </p:cNvPr>
          <p:cNvCxnSpPr>
            <a:stCxn id="30" idx="7"/>
          </p:cNvCxnSpPr>
          <p:nvPr/>
        </p:nvCxnSpPr>
        <p:spPr>
          <a:xfrm>
            <a:off x="4732240" y="5451191"/>
            <a:ext cx="661349" cy="642802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AE6620FA-A605-C136-B163-C595037A7E4B}"/>
              </a:ext>
            </a:extLst>
          </p:cNvPr>
          <p:cNvSpPr txBox="1"/>
          <p:nvPr/>
        </p:nvSpPr>
        <p:spPr>
          <a:xfrm>
            <a:off x="5555992" y="5641776"/>
            <a:ext cx="365119" cy="584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dirty="0"/>
          </a:p>
          <a:p>
            <a:r>
              <a:rPr lang="en-GB" sz="2400" dirty="0">
                <a:solidFill>
                  <a:schemeClr val="accent1"/>
                </a:solidFill>
              </a:rPr>
              <a:t>…</a:t>
            </a:r>
          </a:p>
        </p:txBody>
      </p:sp>
      <p:cxnSp>
        <p:nvCxnSpPr>
          <p:cNvPr id="44" name="Connettore curvo 43">
            <a:extLst>
              <a:ext uri="{FF2B5EF4-FFF2-40B4-BE49-F238E27FC236}">
                <a16:creationId xmlns:a16="http://schemas.microsoft.com/office/drawing/2014/main" id="{0EECC3E6-8A6A-D92C-3D4A-716F6E79C4B7}"/>
              </a:ext>
            </a:extLst>
          </p:cNvPr>
          <p:cNvCxnSpPr>
            <a:cxnSpLocks/>
          </p:cNvCxnSpPr>
          <p:nvPr/>
        </p:nvCxnSpPr>
        <p:spPr>
          <a:xfrm flipV="1">
            <a:off x="1087871" y="5885476"/>
            <a:ext cx="282725" cy="1447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e 44">
            <a:extLst>
              <a:ext uri="{FF2B5EF4-FFF2-40B4-BE49-F238E27FC236}">
                <a16:creationId xmlns:a16="http://schemas.microsoft.com/office/drawing/2014/main" id="{8421945D-2121-6985-5809-63916BD9766A}"/>
              </a:ext>
            </a:extLst>
          </p:cNvPr>
          <p:cNvSpPr/>
          <p:nvPr/>
        </p:nvSpPr>
        <p:spPr>
          <a:xfrm>
            <a:off x="1285661" y="1253894"/>
            <a:ext cx="636549" cy="6160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Ovale 45">
            <a:extLst>
              <a:ext uri="{FF2B5EF4-FFF2-40B4-BE49-F238E27FC236}">
                <a16:creationId xmlns:a16="http://schemas.microsoft.com/office/drawing/2014/main" id="{F59D62A3-EC04-95CC-4BE5-89E868CE7725}"/>
              </a:ext>
            </a:extLst>
          </p:cNvPr>
          <p:cNvSpPr/>
          <p:nvPr/>
        </p:nvSpPr>
        <p:spPr>
          <a:xfrm>
            <a:off x="2670671" y="1253894"/>
            <a:ext cx="636549" cy="6160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Ovale 46">
            <a:extLst>
              <a:ext uri="{FF2B5EF4-FFF2-40B4-BE49-F238E27FC236}">
                <a16:creationId xmlns:a16="http://schemas.microsoft.com/office/drawing/2014/main" id="{E662B7CD-82F1-66F7-E9D0-C10E7452E9C9}"/>
              </a:ext>
            </a:extLst>
          </p:cNvPr>
          <p:cNvSpPr/>
          <p:nvPr/>
        </p:nvSpPr>
        <p:spPr>
          <a:xfrm>
            <a:off x="4137840" y="1253894"/>
            <a:ext cx="636549" cy="6160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le 47">
            <a:extLst>
              <a:ext uri="{FF2B5EF4-FFF2-40B4-BE49-F238E27FC236}">
                <a16:creationId xmlns:a16="http://schemas.microsoft.com/office/drawing/2014/main" id="{E068CB8F-2F13-64B7-044B-B2A97933F66B}"/>
              </a:ext>
            </a:extLst>
          </p:cNvPr>
          <p:cNvSpPr/>
          <p:nvPr/>
        </p:nvSpPr>
        <p:spPr>
          <a:xfrm>
            <a:off x="6204473" y="1253894"/>
            <a:ext cx="636549" cy="6160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9BB78E08-3C0A-265B-420A-594425D014BB}"/>
              </a:ext>
            </a:extLst>
          </p:cNvPr>
          <p:cNvCxnSpPr>
            <a:cxnSpLocks/>
          </p:cNvCxnSpPr>
          <p:nvPr/>
        </p:nvCxnSpPr>
        <p:spPr>
          <a:xfrm flipV="1">
            <a:off x="1601197" y="963938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ttore 2 49">
            <a:extLst>
              <a:ext uri="{FF2B5EF4-FFF2-40B4-BE49-F238E27FC236}">
                <a16:creationId xmlns:a16="http://schemas.microsoft.com/office/drawing/2014/main" id="{61E0798B-1D59-7C43-5EB6-14A369002B68}"/>
              </a:ext>
            </a:extLst>
          </p:cNvPr>
          <p:cNvCxnSpPr>
            <a:cxnSpLocks/>
          </p:cNvCxnSpPr>
          <p:nvPr/>
        </p:nvCxnSpPr>
        <p:spPr>
          <a:xfrm flipV="1">
            <a:off x="2982595" y="963938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2 50">
            <a:extLst>
              <a:ext uri="{FF2B5EF4-FFF2-40B4-BE49-F238E27FC236}">
                <a16:creationId xmlns:a16="http://schemas.microsoft.com/office/drawing/2014/main" id="{C2639F12-733C-1C55-EB8A-1E1E74AE3FB8}"/>
              </a:ext>
            </a:extLst>
          </p:cNvPr>
          <p:cNvCxnSpPr>
            <a:cxnSpLocks/>
          </p:cNvCxnSpPr>
          <p:nvPr/>
        </p:nvCxnSpPr>
        <p:spPr>
          <a:xfrm flipV="1">
            <a:off x="4456875" y="963938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42C189F0-EF6B-F000-DF26-C9664535E561}"/>
              </a:ext>
            </a:extLst>
          </p:cNvPr>
          <p:cNvCxnSpPr>
            <a:cxnSpLocks/>
          </p:cNvCxnSpPr>
          <p:nvPr/>
        </p:nvCxnSpPr>
        <p:spPr>
          <a:xfrm flipV="1">
            <a:off x="6522747" y="963938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e 52">
            <a:extLst>
              <a:ext uri="{FF2B5EF4-FFF2-40B4-BE49-F238E27FC236}">
                <a16:creationId xmlns:a16="http://schemas.microsoft.com/office/drawing/2014/main" id="{BB0C4E40-5359-E0EE-82EA-D92464B0D38B}"/>
              </a:ext>
            </a:extLst>
          </p:cNvPr>
          <p:cNvSpPr/>
          <p:nvPr/>
        </p:nvSpPr>
        <p:spPr>
          <a:xfrm>
            <a:off x="1304937" y="4202367"/>
            <a:ext cx="636549" cy="61601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6" name="Connettore curvo 55">
            <a:extLst>
              <a:ext uri="{FF2B5EF4-FFF2-40B4-BE49-F238E27FC236}">
                <a16:creationId xmlns:a16="http://schemas.microsoft.com/office/drawing/2014/main" id="{15714CD2-946A-2CF2-78CF-36BAE4FC7830}"/>
              </a:ext>
            </a:extLst>
          </p:cNvPr>
          <p:cNvCxnSpPr>
            <a:cxnSpLocks/>
          </p:cNvCxnSpPr>
          <p:nvPr/>
        </p:nvCxnSpPr>
        <p:spPr>
          <a:xfrm>
            <a:off x="1851400" y="4317364"/>
            <a:ext cx="946073" cy="384256"/>
          </a:xfrm>
          <a:prstGeom prst="curvedConnector4">
            <a:avLst>
              <a:gd name="adj1" fmla="val 45073"/>
              <a:gd name="adj2" fmla="val 1418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e 58">
            <a:extLst>
              <a:ext uri="{FF2B5EF4-FFF2-40B4-BE49-F238E27FC236}">
                <a16:creationId xmlns:a16="http://schemas.microsoft.com/office/drawing/2014/main" id="{A9926AC5-40E9-2CB3-CE26-0B8AC09FB736}"/>
              </a:ext>
            </a:extLst>
          </p:cNvPr>
          <p:cNvSpPr/>
          <p:nvPr/>
        </p:nvSpPr>
        <p:spPr>
          <a:xfrm>
            <a:off x="2696526" y="4202367"/>
            <a:ext cx="636549" cy="61601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Ovale 63">
            <a:extLst>
              <a:ext uri="{FF2B5EF4-FFF2-40B4-BE49-F238E27FC236}">
                <a16:creationId xmlns:a16="http://schemas.microsoft.com/office/drawing/2014/main" id="{CB44E34D-1202-8940-514E-0C0AB1A76279}"/>
              </a:ext>
            </a:extLst>
          </p:cNvPr>
          <p:cNvSpPr/>
          <p:nvPr/>
        </p:nvSpPr>
        <p:spPr>
          <a:xfrm>
            <a:off x="4136338" y="4202367"/>
            <a:ext cx="636549" cy="61601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5" name="Connettore 2 64">
            <a:extLst>
              <a:ext uri="{FF2B5EF4-FFF2-40B4-BE49-F238E27FC236}">
                <a16:creationId xmlns:a16="http://schemas.microsoft.com/office/drawing/2014/main" id="{EBAEF4C6-EE3F-4D97-7402-7274D1BFC8EE}"/>
              </a:ext>
            </a:extLst>
          </p:cNvPr>
          <p:cNvCxnSpPr>
            <a:cxnSpLocks/>
          </p:cNvCxnSpPr>
          <p:nvPr/>
        </p:nvCxnSpPr>
        <p:spPr>
          <a:xfrm flipV="1">
            <a:off x="4454612" y="4836528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ttore curvo 68">
            <a:extLst>
              <a:ext uri="{FF2B5EF4-FFF2-40B4-BE49-F238E27FC236}">
                <a16:creationId xmlns:a16="http://schemas.microsoft.com/office/drawing/2014/main" id="{4C2EAFC1-C6E2-A0C6-BF31-BF29E6A80AB2}"/>
              </a:ext>
            </a:extLst>
          </p:cNvPr>
          <p:cNvCxnSpPr>
            <a:cxnSpLocks/>
          </p:cNvCxnSpPr>
          <p:nvPr/>
        </p:nvCxnSpPr>
        <p:spPr>
          <a:xfrm>
            <a:off x="3225917" y="4264969"/>
            <a:ext cx="946073" cy="384256"/>
          </a:xfrm>
          <a:prstGeom prst="curvedConnector4">
            <a:avLst>
              <a:gd name="adj1" fmla="val 45073"/>
              <a:gd name="adj2" fmla="val 1418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e 69">
            <a:extLst>
              <a:ext uri="{FF2B5EF4-FFF2-40B4-BE49-F238E27FC236}">
                <a16:creationId xmlns:a16="http://schemas.microsoft.com/office/drawing/2014/main" id="{2454338D-8959-341D-781F-C8FF44B1933F}"/>
              </a:ext>
            </a:extLst>
          </p:cNvPr>
          <p:cNvSpPr/>
          <p:nvPr/>
        </p:nvSpPr>
        <p:spPr>
          <a:xfrm>
            <a:off x="6237499" y="4202367"/>
            <a:ext cx="636549" cy="61601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3" name="Connettore curvo 72">
            <a:extLst>
              <a:ext uri="{FF2B5EF4-FFF2-40B4-BE49-F238E27FC236}">
                <a16:creationId xmlns:a16="http://schemas.microsoft.com/office/drawing/2014/main" id="{6CBCAFE0-6E37-E4C7-F48D-52993A2B4304}"/>
              </a:ext>
            </a:extLst>
          </p:cNvPr>
          <p:cNvCxnSpPr>
            <a:cxnSpLocks/>
          </p:cNvCxnSpPr>
          <p:nvPr/>
        </p:nvCxnSpPr>
        <p:spPr>
          <a:xfrm flipV="1">
            <a:off x="6033830" y="4653764"/>
            <a:ext cx="282725" cy="1447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ttore curvo 73">
            <a:extLst>
              <a:ext uri="{FF2B5EF4-FFF2-40B4-BE49-F238E27FC236}">
                <a16:creationId xmlns:a16="http://schemas.microsoft.com/office/drawing/2014/main" id="{66AA88A0-B8E6-FAB2-A02F-1B52A3EC85A3}"/>
              </a:ext>
            </a:extLst>
          </p:cNvPr>
          <p:cNvCxnSpPr>
            <a:stCxn id="64" idx="7"/>
          </p:cNvCxnSpPr>
          <p:nvPr/>
        </p:nvCxnSpPr>
        <p:spPr>
          <a:xfrm rot="16200000" flipH="1">
            <a:off x="4721709" y="4250538"/>
            <a:ext cx="629837" cy="713922"/>
          </a:xfrm>
          <a:prstGeom prst="curvedConnector4">
            <a:avLst>
              <a:gd name="adj1" fmla="val -36295"/>
              <a:gd name="adj2" fmla="val 5652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7106D374-46B5-D888-AFBE-7AD3E5472365}"/>
              </a:ext>
            </a:extLst>
          </p:cNvPr>
          <p:cNvSpPr txBox="1"/>
          <p:nvPr/>
        </p:nvSpPr>
        <p:spPr>
          <a:xfrm>
            <a:off x="5555992" y="4328596"/>
            <a:ext cx="365119" cy="584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dirty="0"/>
          </a:p>
          <a:p>
            <a:r>
              <a:rPr lang="en-GB" sz="2400" dirty="0">
                <a:solidFill>
                  <a:schemeClr val="accent1"/>
                </a:solidFill>
              </a:rPr>
              <a:t>…</a:t>
            </a:r>
          </a:p>
        </p:txBody>
      </p:sp>
      <p:cxnSp>
        <p:nvCxnSpPr>
          <p:cNvPr id="77" name="Connettore curvo 76">
            <a:extLst>
              <a:ext uri="{FF2B5EF4-FFF2-40B4-BE49-F238E27FC236}">
                <a16:creationId xmlns:a16="http://schemas.microsoft.com/office/drawing/2014/main" id="{AD268A17-E8A0-B27F-88E0-AF60EF000BF2}"/>
              </a:ext>
            </a:extLst>
          </p:cNvPr>
          <p:cNvCxnSpPr>
            <a:cxnSpLocks/>
          </p:cNvCxnSpPr>
          <p:nvPr/>
        </p:nvCxnSpPr>
        <p:spPr>
          <a:xfrm flipV="1">
            <a:off x="1087871" y="4734221"/>
            <a:ext cx="282725" cy="1447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e 77">
            <a:extLst>
              <a:ext uri="{FF2B5EF4-FFF2-40B4-BE49-F238E27FC236}">
                <a16:creationId xmlns:a16="http://schemas.microsoft.com/office/drawing/2014/main" id="{78C6AAFC-C863-9E66-E381-CE3B77063062}"/>
              </a:ext>
            </a:extLst>
          </p:cNvPr>
          <p:cNvSpPr/>
          <p:nvPr/>
        </p:nvSpPr>
        <p:spPr>
          <a:xfrm>
            <a:off x="1304937" y="2363407"/>
            <a:ext cx="636549" cy="6160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9" name="Connettore 2 78">
            <a:extLst>
              <a:ext uri="{FF2B5EF4-FFF2-40B4-BE49-F238E27FC236}">
                <a16:creationId xmlns:a16="http://schemas.microsoft.com/office/drawing/2014/main" id="{B5F720E8-CEFB-2B5E-F89B-BEF39104EE12}"/>
              </a:ext>
            </a:extLst>
          </p:cNvPr>
          <p:cNvCxnSpPr>
            <a:cxnSpLocks/>
          </p:cNvCxnSpPr>
          <p:nvPr/>
        </p:nvCxnSpPr>
        <p:spPr>
          <a:xfrm flipV="1">
            <a:off x="1614944" y="1856473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ttore curvo 79">
            <a:extLst>
              <a:ext uri="{FF2B5EF4-FFF2-40B4-BE49-F238E27FC236}">
                <a16:creationId xmlns:a16="http://schemas.microsoft.com/office/drawing/2014/main" id="{02A7662B-6D65-CC89-7A98-004F462D9BF8}"/>
              </a:ext>
            </a:extLst>
          </p:cNvPr>
          <p:cNvCxnSpPr>
            <a:cxnSpLocks/>
          </p:cNvCxnSpPr>
          <p:nvPr/>
        </p:nvCxnSpPr>
        <p:spPr>
          <a:xfrm>
            <a:off x="1851400" y="2447924"/>
            <a:ext cx="946073" cy="384256"/>
          </a:xfrm>
          <a:prstGeom prst="curvedConnector4">
            <a:avLst>
              <a:gd name="adj1" fmla="val 45073"/>
              <a:gd name="adj2" fmla="val 1418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e 80">
            <a:extLst>
              <a:ext uri="{FF2B5EF4-FFF2-40B4-BE49-F238E27FC236}">
                <a16:creationId xmlns:a16="http://schemas.microsoft.com/office/drawing/2014/main" id="{84470CE4-48CE-E5C1-89B3-D1BF3EAE5C70}"/>
              </a:ext>
            </a:extLst>
          </p:cNvPr>
          <p:cNvSpPr/>
          <p:nvPr/>
        </p:nvSpPr>
        <p:spPr>
          <a:xfrm>
            <a:off x="2696526" y="2363407"/>
            <a:ext cx="636549" cy="6160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2" name="Connettore 2 81">
            <a:extLst>
              <a:ext uri="{FF2B5EF4-FFF2-40B4-BE49-F238E27FC236}">
                <a16:creationId xmlns:a16="http://schemas.microsoft.com/office/drawing/2014/main" id="{359A3340-EE77-9301-A72E-E1C1497B282B}"/>
              </a:ext>
            </a:extLst>
          </p:cNvPr>
          <p:cNvCxnSpPr>
            <a:cxnSpLocks/>
          </p:cNvCxnSpPr>
          <p:nvPr/>
        </p:nvCxnSpPr>
        <p:spPr>
          <a:xfrm flipV="1">
            <a:off x="3006533" y="1836153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e 82">
            <a:extLst>
              <a:ext uri="{FF2B5EF4-FFF2-40B4-BE49-F238E27FC236}">
                <a16:creationId xmlns:a16="http://schemas.microsoft.com/office/drawing/2014/main" id="{5025E6A1-5E46-1CBA-DDCD-1307886E16B4}"/>
              </a:ext>
            </a:extLst>
          </p:cNvPr>
          <p:cNvSpPr/>
          <p:nvPr/>
        </p:nvSpPr>
        <p:spPr>
          <a:xfrm>
            <a:off x="4136338" y="2363407"/>
            <a:ext cx="636549" cy="6160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4" name="Connettore 2 83">
            <a:extLst>
              <a:ext uri="{FF2B5EF4-FFF2-40B4-BE49-F238E27FC236}">
                <a16:creationId xmlns:a16="http://schemas.microsoft.com/office/drawing/2014/main" id="{8B13A5DB-3CA0-7FA2-BDCA-7AB94E61597A}"/>
              </a:ext>
            </a:extLst>
          </p:cNvPr>
          <p:cNvCxnSpPr>
            <a:cxnSpLocks/>
          </p:cNvCxnSpPr>
          <p:nvPr/>
        </p:nvCxnSpPr>
        <p:spPr>
          <a:xfrm flipV="1">
            <a:off x="4446345" y="1836153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ttore curvo 84">
            <a:extLst>
              <a:ext uri="{FF2B5EF4-FFF2-40B4-BE49-F238E27FC236}">
                <a16:creationId xmlns:a16="http://schemas.microsoft.com/office/drawing/2014/main" id="{BCB4B77D-A800-2537-EA0B-32049572B8A7}"/>
              </a:ext>
            </a:extLst>
          </p:cNvPr>
          <p:cNvCxnSpPr>
            <a:cxnSpLocks/>
          </p:cNvCxnSpPr>
          <p:nvPr/>
        </p:nvCxnSpPr>
        <p:spPr>
          <a:xfrm>
            <a:off x="3215757" y="2395529"/>
            <a:ext cx="946073" cy="384256"/>
          </a:xfrm>
          <a:prstGeom prst="curvedConnector4">
            <a:avLst>
              <a:gd name="adj1" fmla="val 45073"/>
              <a:gd name="adj2" fmla="val 1418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e 85">
            <a:extLst>
              <a:ext uri="{FF2B5EF4-FFF2-40B4-BE49-F238E27FC236}">
                <a16:creationId xmlns:a16="http://schemas.microsoft.com/office/drawing/2014/main" id="{FB31463F-57E0-0B42-8091-4CAC569CD41C}"/>
              </a:ext>
            </a:extLst>
          </p:cNvPr>
          <p:cNvSpPr/>
          <p:nvPr/>
        </p:nvSpPr>
        <p:spPr>
          <a:xfrm>
            <a:off x="6237499" y="2363407"/>
            <a:ext cx="636549" cy="6160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7" name="Connettore curvo 86">
            <a:extLst>
              <a:ext uri="{FF2B5EF4-FFF2-40B4-BE49-F238E27FC236}">
                <a16:creationId xmlns:a16="http://schemas.microsoft.com/office/drawing/2014/main" id="{F9A2CB5C-CD92-43D7-B249-DE2CB90D2DF1}"/>
              </a:ext>
            </a:extLst>
          </p:cNvPr>
          <p:cNvCxnSpPr>
            <a:cxnSpLocks/>
          </p:cNvCxnSpPr>
          <p:nvPr/>
        </p:nvCxnSpPr>
        <p:spPr>
          <a:xfrm flipV="1">
            <a:off x="6003350" y="2784324"/>
            <a:ext cx="282725" cy="1447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ttore curvo 87">
            <a:extLst>
              <a:ext uri="{FF2B5EF4-FFF2-40B4-BE49-F238E27FC236}">
                <a16:creationId xmlns:a16="http://schemas.microsoft.com/office/drawing/2014/main" id="{79778581-148F-7203-2D28-66787FFE3CDF}"/>
              </a:ext>
            </a:extLst>
          </p:cNvPr>
          <p:cNvCxnSpPr>
            <a:stCxn id="83" idx="7"/>
          </p:cNvCxnSpPr>
          <p:nvPr/>
        </p:nvCxnSpPr>
        <p:spPr>
          <a:xfrm rot="16200000" flipH="1">
            <a:off x="4721709" y="2411579"/>
            <a:ext cx="629836" cy="713921"/>
          </a:xfrm>
          <a:prstGeom prst="curvedConnector4">
            <a:avLst>
              <a:gd name="adj1" fmla="val -36295"/>
              <a:gd name="adj2" fmla="val 5652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B24DBAC6-F825-403D-E4BD-1A7C77CA683B}"/>
              </a:ext>
            </a:extLst>
          </p:cNvPr>
          <p:cNvSpPr txBox="1"/>
          <p:nvPr/>
        </p:nvSpPr>
        <p:spPr>
          <a:xfrm>
            <a:off x="5555992" y="2459156"/>
            <a:ext cx="365119" cy="584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dirty="0"/>
          </a:p>
          <a:p>
            <a:r>
              <a:rPr lang="en-GB" sz="2400" dirty="0">
                <a:solidFill>
                  <a:schemeClr val="accent1"/>
                </a:solidFill>
              </a:rPr>
              <a:t>…</a:t>
            </a:r>
          </a:p>
        </p:txBody>
      </p:sp>
      <p:cxnSp>
        <p:nvCxnSpPr>
          <p:cNvPr id="90" name="Connettore curvo 89">
            <a:extLst>
              <a:ext uri="{FF2B5EF4-FFF2-40B4-BE49-F238E27FC236}">
                <a16:creationId xmlns:a16="http://schemas.microsoft.com/office/drawing/2014/main" id="{DF2F3444-7681-A0C5-41A3-603B84E19077}"/>
              </a:ext>
            </a:extLst>
          </p:cNvPr>
          <p:cNvCxnSpPr>
            <a:cxnSpLocks/>
          </p:cNvCxnSpPr>
          <p:nvPr/>
        </p:nvCxnSpPr>
        <p:spPr>
          <a:xfrm flipV="1">
            <a:off x="1087871" y="2864781"/>
            <a:ext cx="282725" cy="1447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ttore 2 90">
            <a:extLst>
              <a:ext uri="{FF2B5EF4-FFF2-40B4-BE49-F238E27FC236}">
                <a16:creationId xmlns:a16="http://schemas.microsoft.com/office/drawing/2014/main" id="{0BCD7F15-04FE-E9FA-519D-999A724D2663}"/>
              </a:ext>
            </a:extLst>
          </p:cNvPr>
          <p:cNvCxnSpPr>
            <a:cxnSpLocks/>
          </p:cNvCxnSpPr>
          <p:nvPr/>
        </p:nvCxnSpPr>
        <p:spPr>
          <a:xfrm flipV="1">
            <a:off x="6547506" y="1836153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ttore 2 93">
            <a:extLst>
              <a:ext uri="{FF2B5EF4-FFF2-40B4-BE49-F238E27FC236}">
                <a16:creationId xmlns:a16="http://schemas.microsoft.com/office/drawing/2014/main" id="{2F2424BF-92C7-F12E-8189-DDBD1987922C}"/>
              </a:ext>
            </a:extLst>
          </p:cNvPr>
          <p:cNvCxnSpPr>
            <a:cxnSpLocks/>
          </p:cNvCxnSpPr>
          <p:nvPr/>
        </p:nvCxnSpPr>
        <p:spPr>
          <a:xfrm flipV="1">
            <a:off x="3006533" y="297955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ttore 2 96">
            <a:extLst>
              <a:ext uri="{FF2B5EF4-FFF2-40B4-BE49-F238E27FC236}">
                <a16:creationId xmlns:a16="http://schemas.microsoft.com/office/drawing/2014/main" id="{C7528D9D-2705-3AAE-3099-C2167EFFCE42}"/>
              </a:ext>
            </a:extLst>
          </p:cNvPr>
          <p:cNvCxnSpPr>
            <a:cxnSpLocks/>
          </p:cNvCxnSpPr>
          <p:nvPr/>
        </p:nvCxnSpPr>
        <p:spPr>
          <a:xfrm flipV="1">
            <a:off x="4454612" y="297955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ttore 2 97">
            <a:extLst>
              <a:ext uri="{FF2B5EF4-FFF2-40B4-BE49-F238E27FC236}">
                <a16:creationId xmlns:a16="http://schemas.microsoft.com/office/drawing/2014/main" id="{22298B0C-7800-CCAA-3569-931ABB7BA6E2}"/>
              </a:ext>
            </a:extLst>
          </p:cNvPr>
          <p:cNvCxnSpPr>
            <a:cxnSpLocks/>
          </p:cNvCxnSpPr>
          <p:nvPr/>
        </p:nvCxnSpPr>
        <p:spPr>
          <a:xfrm flipV="1">
            <a:off x="1614944" y="297955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ttore 2 98">
            <a:extLst>
              <a:ext uri="{FF2B5EF4-FFF2-40B4-BE49-F238E27FC236}">
                <a16:creationId xmlns:a16="http://schemas.microsoft.com/office/drawing/2014/main" id="{9466FD11-3353-5EC8-A5D1-87979B9C9F51}"/>
              </a:ext>
            </a:extLst>
          </p:cNvPr>
          <p:cNvCxnSpPr>
            <a:cxnSpLocks/>
          </p:cNvCxnSpPr>
          <p:nvPr/>
        </p:nvCxnSpPr>
        <p:spPr>
          <a:xfrm flipV="1">
            <a:off x="6547506" y="297955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ttore 2 99">
            <a:extLst>
              <a:ext uri="{FF2B5EF4-FFF2-40B4-BE49-F238E27FC236}">
                <a16:creationId xmlns:a16="http://schemas.microsoft.com/office/drawing/2014/main" id="{9A09EE08-05B4-08C3-C37A-FBDF3D97E18B}"/>
              </a:ext>
            </a:extLst>
          </p:cNvPr>
          <p:cNvCxnSpPr>
            <a:cxnSpLocks/>
          </p:cNvCxnSpPr>
          <p:nvPr/>
        </p:nvCxnSpPr>
        <p:spPr>
          <a:xfrm flipV="1">
            <a:off x="1614944" y="391668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ttore 2 101">
            <a:extLst>
              <a:ext uri="{FF2B5EF4-FFF2-40B4-BE49-F238E27FC236}">
                <a16:creationId xmlns:a16="http://schemas.microsoft.com/office/drawing/2014/main" id="{A799D370-DF67-937D-94BB-9C9B84353626}"/>
              </a:ext>
            </a:extLst>
          </p:cNvPr>
          <p:cNvCxnSpPr>
            <a:cxnSpLocks/>
          </p:cNvCxnSpPr>
          <p:nvPr/>
        </p:nvCxnSpPr>
        <p:spPr>
          <a:xfrm flipV="1">
            <a:off x="3006533" y="391668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ttore 2 102">
            <a:extLst>
              <a:ext uri="{FF2B5EF4-FFF2-40B4-BE49-F238E27FC236}">
                <a16:creationId xmlns:a16="http://schemas.microsoft.com/office/drawing/2014/main" id="{774D6403-5967-7638-37F9-093A7FA5B801}"/>
              </a:ext>
            </a:extLst>
          </p:cNvPr>
          <p:cNvCxnSpPr>
            <a:cxnSpLocks/>
          </p:cNvCxnSpPr>
          <p:nvPr/>
        </p:nvCxnSpPr>
        <p:spPr>
          <a:xfrm flipV="1">
            <a:off x="4454612" y="391668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ttore 2 103">
            <a:extLst>
              <a:ext uri="{FF2B5EF4-FFF2-40B4-BE49-F238E27FC236}">
                <a16:creationId xmlns:a16="http://schemas.microsoft.com/office/drawing/2014/main" id="{9E9A3CFF-0E7E-CBF4-D412-2DE2848AA5D5}"/>
              </a:ext>
            </a:extLst>
          </p:cNvPr>
          <p:cNvCxnSpPr>
            <a:cxnSpLocks/>
          </p:cNvCxnSpPr>
          <p:nvPr/>
        </p:nvCxnSpPr>
        <p:spPr>
          <a:xfrm flipV="1">
            <a:off x="6547506" y="391668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sellaDiTesto 104">
            <a:extLst>
              <a:ext uri="{FF2B5EF4-FFF2-40B4-BE49-F238E27FC236}">
                <a16:creationId xmlns:a16="http://schemas.microsoft.com/office/drawing/2014/main" id="{6E892699-E6A0-0852-485B-7F44A0E7CF27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Multi-layer RNN</a:t>
            </a:r>
          </a:p>
        </p:txBody>
      </p:sp>
      <p:sp>
        <p:nvSpPr>
          <p:cNvPr id="106" name="CasellaDiTesto 105">
            <a:extLst>
              <a:ext uri="{FF2B5EF4-FFF2-40B4-BE49-F238E27FC236}">
                <a16:creationId xmlns:a16="http://schemas.microsoft.com/office/drawing/2014/main" id="{A3376D07-F390-4720-984F-C859E602CC46}"/>
              </a:ext>
            </a:extLst>
          </p:cNvPr>
          <p:cNvSpPr txBox="1"/>
          <p:nvPr/>
        </p:nvSpPr>
        <p:spPr>
          <a:xfrm>
            <a:off x="1349908" y="3093200"/>
            <a:ext cx="5723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…</a:t>
            </a:r>
            <a:endParaRPr lang="en-GB" sz="1200" dirty="0"/>
          </a:p>
        </p:txBody>
      </p:sp>
      <p:sp>
        <p:nvSpPr>
          <p:cNvPr id="107" name="CasellaDiTesto 106">
            <a:extLst>
              <a:ext uri="{FF2B5EF4-FFF2-40B4-BE49-F238E27FC236}">
                <a16:creationId xmlns:a16="http://schemas.microsoft.com/office/drawing/2014/main" id="{7E1103BE-BB6F-6430-9714-AA69C846FC6C}"/>
              </a:ext>
            </a:extLst>
          </p:cNvPr>
          <p:cNvSpPr txBox="1"/>
          <p:nvPr/>
        </p:nvSpPr>
        <p:spPr>
          <a:xfrm>
            <a:off x="2748628" y="3093200"/>
            <a:ext cx="5723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…</a:t>
            </a:r>
            <a:endParaRPr lang="en-GB" sz="1200" dirty="0"/>
          </a:p>
        </p:txBody>
      </p:sp>
      <p:sp>
        <p:nvSpPr>
          <p:cNvPr id="108" name="CasellaDiTesto 107">
            <a:extLst>
              <a:ext uri="{FF2B5EF4-FFF2-40B4-BE49-F238E27FC236}">
                <a16:creationId xmlns:a16="http://schemas.microsoft.com/office/drawing/2014/main" id="{4184E08F-BF90-141C-CDDB-733637694C4C}"/>
              </a:ext>
            </a:extLst>
          </p:cNvPr>
          <p:cNvSpPr txBox="1"/>
          <p:nvPr/>
        </p:nvSpPr>
        <p:spPr>
          <a:xfrm>
            <a:off x="4204868" y="3093200"/>
            <a:ext cx="5723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…</a:t>
            </a:r>
            <a:endParaRPr lang="en-GB" sz="1200" dirty="0"/>
          </a:p>
        </p:txBody>
      </p:sp>
      <p:sp>
        <p:nvSpPr>
          <p:cNvPr id="109" name="CasellaDiTesto 108">
            <a:extLst>
              <a:ext uri="{FF2B5EF4-FFF2-40B4-BE49-F238E27FC236}">
                <a16:creationId xmlns:a16="http://schemas.microsoft.com/office/drawing/2014/main" id="{68ED7663-5FD7-F9AD-954D-AAEC1B940198}"/>
              </a:ext>
            </a:extLst>
          </p:cNvPr>
          <p:cNvSpPr txBox="1"/>
          <p:nvPr/>
        </p:nvSpPr>
        <p:spPr>
          <a:xfrm>
            <a:off x="6261355" y="3093200"/>
            <a:ext cx="5723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…</a:t>
            </a:r>
            <a:endParaRPr lang="en-GB" sz="1200" dirty="0"/>
          </a:p>
        </p:txBody>
      </p:sp>
      <p:sp>
        <p:nvSpPr>
          <p:cNvPr id="110" name="CasellaDiTesto 109">
            <a:extLst>
              <a:ext uri="{FF2B5EF4-FFF2-40B4-BE49-F238E27FC236}">
                <a16:creationId xmlns:a16="http://schemas.microsoft.com/office/drawing/2014/main" id="{B89967CC-A785-0875-74A8-1B6620829025}"/>
              </a:ext>
            </a:extLst>
          </p:cNvPr>
          <p:cNvSpPr txBox="1"/>
          <p:nvPr/>
        </p:nvSpPr>
        <p:spPr>
          <a:xfrm>
            <a:off x="8317842" y="3349132"/>
            <a:ext cx="3179329" cy="7078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Hidden states of a layer are also inputs of the next layer</a:t>
            </a:r>
          </a:p>
        </p:txBody>
      </p:sp>
      <p:sp>
        <p:nvSpPr>
          <p:cNvPr id="111" name="CasellaDiTesto 110">
            <a:extLst>
              <a:ext uri="{FF2B5EF4-FFF2-40B4-BE49-F238E27FC236}">
                <a16:creationId xmlns:a16="http://schemas.microsoft.com/office/drawing/2014/main" id="{B6DB941B-AB33-D6CF-455F-202EB0392D77}"/>
              </a:ext>
            </a:extLst>
          </p:cNvPr>
          <p:cNvSpPr txBox="1"/>
          <p:nvPr/>
        </p:nvSpPr>
        <p:spPr>
          <a:xfrm>
            <a:off x="4503210" y="6220155"/>
            <a:ext cx="892061" cy="259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u(t+2)</a:t>
            </a:r>
          </a:p>
        </p:txBody>
      </p:sp>
      <p:sp>
        <p:nvSpPr>
          <p:cNvPr id="112" name="CasellaDiTesto 111">
            <a:extLst>
              <a:ext uri="{FF2B5EF4-FFF2-40B4-BE49-F238E27FC236}">
                <a16:creationId xmlns:a16="http://schemas.microsoft.com/office/drawing/2014/main" id="{1AEC2042-E58C-DA7A-4FAF-C7B5175329A2}"/>
              </a:ext>
            </a:extLst>
          </p:cNvPr>
          <p:cNvSpPr txBox="1"/>
          <p:nvPr/>
        </p:nvSpPr>
        <p:spPr>
          <a:xfrm>
            <a:off x="6606628" y="6226201"/>
            <a:ext cx="892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u(</a:t>
            </a:r>
            <a:r>
              <a:rPr lang="en-GB" dirty="0" err="1"/>
              <a:t>t+T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01019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317EC68D-63E8-98B6-4742-C38CFD54117A}"/>
                  </a:ext>
                </a:extLst>
              </p:cNvPr>
              <p:cNvSpPr txBox="1"/>
              <p:nvPr/>
            </p:nvSpPr>
            <p:spPr>
              <a:xfrm>
                <a:off x="1636054" y="772502"/>
                <a:ext cx="530457" cy="259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CH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317EC68D-63E8-98B6-4742-C38CFD541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6054" y="772502"/>
                <a:ext cx="530457" cy="259632"/>
              </a:xfrm>
              <a:prstGeom prst="rect">
                <a:avLst/>
              </a:prstGeom>
              <a:blipFill>
                <a:blip r:embed="rId3"/>
                <a:stretch>
                  <a:fillRect t="-9524" r="-17241" b="-619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6175D555-4B7D-B325-182B-95D678A246E2}"/>
                  </a:ext>
                </a:extLst>
              </p:cNvPr>
              <p:cNvSpPr txBox="1"/>
              <p:nvPr/>
            </p:nvSpPr>
            <p:spPr>
              <a:xfrm>
                <a:off x="3050547" y="772502"/>
                <a:ext cx="1201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CH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6175D555-4B7D-B325-182B-95D678A2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0547" y="772502"/>
                <a:ext cx="1201613" cy="369332"/>
              </a:xfrm>
              <a:prstGeom prst="rect">
                <a:avLst/>
              </a:prstGeom>
              <a:blipFill>
                <a:blip r:embed="rId4"/>
                <a:stretch>
                  <a:fillRect t="-6667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369FA63A-DA77-1F7E-AC2A-E9818AA0904F}"/>
                  </a:ext>
                </a:extLst>
              </p:cNvPr>
              <p:cNvSpPr txBox="1"/>
              <p:nvPr/>
            </p:nvSpPr>
            <p:spPr>
              <a:xfrm>
                <a:off x="4446344" y="772502"/>
                <a:ext cx="11776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CH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+2)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369FA63A-DA77-1F7E-AC2A-E9818AA09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344" y="772502"/>
                <a:ext cx="1177657" cy="369332"/>
              </a:xfrm>
              <a:prstGeom prst="rect">
                <a:avLst/>
              </a:prstGeom>
              <a:blipFill>
                <a:blip r:embed="rId5"/>
                <a:stretch>
                  <a:fillRect t="-6667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0F4D00FA-1802-5716-AA53-F0574048998C}"/>
                  </a:ext>
                </a:extLst>
              </p:cNvPr>
              <p:cNvSpPr txBox="1"/>
              <p:nvPr/>
            </p:nvSpPr>
            <p:spPr>
              <a:xfrm>
                <a:off x="6489506" y="772502"/>
                <a:ext cx="12016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CH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it-CH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0F4D00FA-1802-5716-AA53-F05740489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506" y="772502"/>
                <a:ext cx="1201614" cy="369332"/>
              </a:xfrm>
              <a:prstGeom prst="rect">
                <a:avLst/>
              </a:prstGeom>
              <a:blipFill>
                <a:blip r:embed="rId6"/>
                <a:stretch>
                  <a:fillRect t="-6667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e 8">
            <a:extLst>
              <a:ext uri="{FF2B5EF4-FFF2-40B4-BE49-F238E27FC236}">
                <a16:creationId xmlns:a16="http://schemas.microsoft.com/office/drawing/2014/main" id="{B1D0EA6E-1C9E-7956-A3CC-3D7E8E590779}"/>
              </a:ext>
            </a:extLst>
          </p:cNvPr>
          <p:cNvSpPr/>
          <p:nvPr/>
        </p:nvSpPr>
        <p:spPr>
          <a:xfrm>
            <a:off x="1304937" y="5373942"/>
            <a:ext cx="636549" cy="6160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506667CE-65B0-D5AC-AA3B-D7A8D905E729}"/>
              </a:ext>
            </a:extLst>
          </p:cNvPr>
          <p:cNvCxnSpPr>
            <a:cxnSpLocks/>
            <a:endCxn id="9" idx="4"/>
          </p:cNvCxnSpPr>
          <p:nvPr/>
        </p:nvCxnSpPr>
        <p:spPr>
          <a:xfrm flipV="1">
            <a:off x="1623211" y="5989960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0ED892D5-E29B-20B3-95C3-C77B0E5F3F5E}"/>
              </a:ext>
            </a:extLst>
          </p:cNvPr>
          <p:cNvCxnSpPr>
            <a:cxnSpLocks/>
          </p:cNvCxnSpPr>
          <p:nvPr/>
        </p:nvCxnSpPr>
        <p:spPr>
          <a:xfrm flipV="1">
            <a:off x="1614944" y="4836528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curvo 13">
            <a:extLst>
              <a:ext uri="{FF2B5EF4-FFF2-40B4-BE49-F238E27FC236}">
                <a16:creationId xmlns:a16="http://schemas.microsoft.com/office/drawing/2014/main" id="{CD6A3638-C415-98B1-C34A-869828DA6C85}"/>
              </a:ext>
            </a:extLst>
          </p:cNvPr>
          <p:cNvCxnSpPr>
            <a:cxnSpLocks/>
          </p:cNvCxnSpPr>
          <p:nvPr/>
        </p:nvCxnSpPr>
        <p:spPr>
          <a:xfrm>
            <a:off x="1851400" y="5468619"/>
            <a:ext cx="946073" cy="384256"/>
          </a:xfrm>
          <a:prstGeom prst="curvedConnector4">
            <a:avLst>
              <a:gd name="adj1" fmla="val 45073"/>
              <a:gd name="adj2" fmla="val 1418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4A3F4A75-A9ED-BCB1-D0E4-8BD3C16EE56D}"/>
              </a:ext>
            </a:extLst>
          </p:cNvPr>
          <p:cNvSpPr txBox="1"/>
          <p:nvPr/>
        </p:nvSpPr>
        <p:spPr>
          <a:xfrm>
            <a:off x="1672812" y="6220155"/>
            <a:ext cx="530457" cy="259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u(t)</a:t>
            </a:r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8EE62AFA-70A9-43A6-C63B-317CAFBCB9C4}"/>
              </a:ext>
            </a:extLst>
          </p:cNvPr>
          <p:cNvSpPr/>
          <p:nvPr/>
        </p:nvSpPr>
        <p:spPr>
          <a:xfrm>
            <a:off x="2696526" y="5327071"/>
            <a:ext cx="636549" cy="6160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3F1A18D5-6FE1-55DA-87B4-BFB20DB7FD52}"/>
              </a:ext>
            </a:extLst>
          </p:cNvPr>
          <p:cNvCxnSpPr>
            <a:cxnSpLocks/>
            <a:endCxn id="23" idx="4"/>
          </p:cNvCxnSpPr>
          <p:nvPr/>
        </p:nvCxnSpPr>
        <p:spPr>
          <a:xfrm flipV="1">
            <a:off x="3014800" y="5943089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6F835C3D-4ECF-D9A7-9C5C-FBBDA9D0A097}"/>
              </a:ext>
            </a:extLst>
          </p:cNvPr>
          <p:cNvCxnSpPr>
            <a:cxnSpLocks/>
          </p:cNvCxnSpPr>
          <p:nvPr/>
        </p:nvCxnSpPr>
        <p:spPr>
          <a:xfrm flipV="1">
            <a:off x="3006533" y="4836528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E73EFEC8-E6ED-2282-1972-0A915E85455C}"/>
              </a:ext>
            </a:extLst>
          </p:cNvPr>
          <p:cNvSpPr txBox="1"/>
          <p:nvPr/>
        </p:nvSpPr>
        <p:spPr>
          <a:xfrm>
            <a:off x="3064401" y="6220155"/>
            <a:ext cx="892061" cy="259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u(t+1)</a:t>
            </a:r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E5587CEA-CD4B-C0A6-8B26-20151AD219CC}"/>
              </a:ext>
            </a:extLst>
          </p:cNvPr>
          <p:cNvSpPr/>
          <p:nvPr/>
        </p:nvSpPr>
        <p:spPr>
          <a:xfrm>
            <a:off x="4136338" y="5333767"/>
            <a:ext cx="636549" cy="6160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B81771DF-C952-C83F-3A46-A10564EFC41F}"/>
              </a:ext>
            </a:extLst>
          </p:cNvPr>
          <p:cNvCxnSpPr>
            <a:cxnSpLocks/>
            <a:endCxn id="30" idx="4"/>
          </p:cNvCxnSpPr>
          <p:nvPr/>
        </p:nvCxnSpPr>
        <p:spPr>
          <a:xfrm flipV="1">
            <a:off x="4454612" y="5949785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8DAA5697-0FC3-0AF8-9C00-34022021247C}"/>
              </a:ext>
            </a:extLst>
          </p:cNvPr>
          <p:cNvSpPr txBox="1"/>
          <p:nvPr/>
        </p:nvSpPr>
        <p:spPr>
          <a:xfrm>
            <a:off x="4504213" y="6220155"/>
            <a:ext cx="892061" cy="259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u(t+2)</a:t>
            </a:r>
          </a:p>
        </p:txBody>
      </p:sp>
      <p:cxnSp>
        <p:nvCxnSpPr>
          <p:cNvPr id="36" name="Connettore curvo 35">
            <a:extLst>
              <a:ext uri="{FF2B5EF4-FFF2-40B4-BE49-F238E27FC236}">
                <a16:creationId xmlns:a16="http://schemas.microsoft.com/office/drawing/2014/main" id="{B7981AED-CE43-3F28-6033-F3EA51B85562}"/>
              </a:ext>
            </a:extLst>
          </p:cNvPr>
          <p:cNvCxnSpPr>
            <a:cxnSpLocks/>
          </p:cNvCxnSpPr>
          <p:nvPr/>
        </p:nvCxnSpPr>
        <p:spPr>
          <a:xfrm>
            <a:off x="3225917" y="5416224"/>
            <a:ext cx="946073" cy="384256"/>
          </a:xfrm>
          <a:prstGeom prst="curvedConnector4">
            <a:avLst>
              <a:gd name="adj1" fmla="val 45073"/>
              <a:gd name="adj2" fmla="val 1418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e 36">
            <a:extLst>
              <a:ext uri="{FF2B5EF4-FFF2-40B4-BE49-F238E27FC236}">
                <a16:creationId xmlns:a16="http://schemas.microsoft.com/office/drawing/2014/main" id="{B22C2DC9-C0EB-803A-DBA5-1DDAFD387EA7}"/>
              </a:ext>
            </a:extLst>
          </p:cNvPr>
          <p:cNvSpPr/>
          <p:nvPr/>
        </p:nvSpPr>
        <p:spPr>
          <a:xfrm>
            <a:off x="6237499" y="5293592"/>
            <a:ext cx="636549" cy="6160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D274A3E3-134E-5963-5B23-375C2F17363C}"/>
              </a:ext>
            </a:extLst>
          </p:cNvPr>
          <p:cNvCxnSpPr>
            <a:cxnSpLocks/>
            <a:endCxn id="37" idx="4"/>
          </p:cNvCxnSpPr>
          <p:nvPr/>
        </p:nvCxnSpPr>
        <p:spPr>
          <a:xfrm flipV="1">
            <a:off x="6555773" y="5909610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C4E21A79-4349-D129-D4FD-0FA16DBD9349}"/>
              </a:ext>
            </a:extLst>
          </p:cNvPr>
          <p:cNvCxnSpPr>
            <a:cxnSpLocks/>
          </p:cNvCxnSpPr>
          <p:nvPr/>
        </p:nvCxnSpPr>
        <p:spPr>
          <a:xfrm flipV="1">
            <a:off x="6547506" y="4836528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curvo 39">
            <a:extLst>
              <a:ext uri="{FF2B5EF4-FFF2-40B4-BE49-F238E27FC236}">
                <a16:creationId xmlns:a16="http://schemas.microsoft.com/office/drawing/2014/main" id="{C978EC2D-C56F-528B-9CC6-C349BE3DEC61}"/>
              </a:ext>
            </a:extLst>
          </p:cNvPr>
          <p:cNvCxnSpPr>
            <a:cxnSpLocks/>
          </p:cNvCxnSpPr>
          <p:nvPr/>
        </p:nvCxnSpPr>
        <p:spPr>
          <a:xfrm flipV="1">
            <a:off x="6033830" y="5805019"/>
            <a:ext cx="282725" cy="1447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curvo 40">
            <a:extLst>
              <a:ext uri="{FF2B5EF4-FFF2-40B4-BE49-F238E27FC236}">
                <a16:creationId xmlns:a16="http://schemas.microsoft.com/office/drawing/2014/main" id="{69949907-95B6-42B7-7A8F-49A4F3DA2B80}"/>
              </a:ext>
            </a:extLst>
          </p:cNvPr>
          <p:cNvCxnSpPr>
            <a:stCxn id="30" idx="7"/>
          </p:cNvCxnSpPr>
          <p:nvPr/>
        </p:nvCxnSpPr>
        <p:spPr>
          <a:xfrm>
            <a:off x="4732240" y="5451191"/>
            <a:ext cx="661349" cy="642802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AE6620FA-A605-C136-B163-C595037A7E4B}"/>
              </a:ext>
            </a:extLst>
          </p:cNvPr>
          <p:cNvSpPr txBox="1"/>
          <p:nvPr/>
        </p:nvSpPr>
        <p:spPr>
          <a:xfrm>
            <a:off x="5555992" y="5641776"/>
            <a:ext cx="365119" cy="584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dirty="0"/>
          </a:p>
          <a:p>
            <a:r>
              <a:rPr lang="en-GB" sz="2400" dirty="0">
                <a:solidFill>
                  <a:schemeClr val="accent1"/>
                </a:solidFill>
              </a:rPr>
              <a:t>…</a:t>
            </a:r>
          </a:p>
        </p:txBody>
      </p:sp>
      <p:cxnSp>
        <p:nvCxnSpPr>
          <p:cNvPr id="44" name="Connettore curvo 43">
            <a:extLst>
              <a:ext uri="{FF2B5EF4-FFF2-40B4-BE49-F238E27FC236}">
                <a16:creationId xmlns:a16="http://schemas.microsoft.com/office/drawing/2014/main" id="{0EECC3E6-8A6A-D92C-3D4A-716F6E79C4B7}"/>
              </a:ext>
            </a:extLst>
          </p:cNvPr>
          <p:cNvCxnSpPr>
            <a:cxnSpLocks/>
          </p:cNvCxnSpPr>
          <p:nvPr/>
        </p:nvCxnSpPr>
        <p:spPr>
          <a:xfrm flipV="1">
            <a:off x="1087871" y="5885476"/>
            <a:ext cx="282725" cy="1447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e 44">
            <a:extLst>
              <a:ext uri="{FF2B5EF4-FFF2-40B4-BE49-F238E27FC236}">
                <a16:creationId xmlns:a16="http://schemas.microsoft.com/office/drawing/2014/main" id="{8421945D-2121-6985-5809-63916BD9766A}"/>
              </a:ext>
            </a:extLst>
          </p:cNvPr>
          <p:cNvSpPr/>
          <p:nvPr/>
        </p:nvSpPr>
        <p:spPr>
          <a:xfrm>
            <a:off x="1285661" y="1253894"/>
            <a:ext cx="636549" cy="6160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Ovale 45">
            <a:extLst>
              <a:ext uri="{FF2B5EF4-FFF2-40B4-BE49-F238E27FC236}">
                <a16:creationId xmlns:a16="http://schemas.microsoft.com/office/drawing/2014/main" id="{F59D62A3-EC04-95CC-4BE5-89E868CE7725}"/>
              </a:ext>
            </a:extLst>
          </p:cNvPr>
          <p:cNvSpPr/>
          <p:nvPr/>
        </p:nvSpPr>
        <p:spPr>
          <a:xfrm>
            <a:off x="2670671" y="1253894"/>
            <a:ext cx="636549" cy="6160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Ovale 46">
            <a:extLst>
              <a:ext uri="{FF2B5EF4-FFF2-40B4-BE49-F238E27FC236}">
                <a16:creationId xmlns:a16="http://schemas.microsoft.com/office/drawing/2014/main" id="{E662B7CD-82F1-66F7-E9D0-C10E7452E9C9}"/>
              </a:ext>
            </a:extLst>
          </p:cNvPr>
          <p:cNvSpPr/>
          <p:nvPr/>
        </p:nvSpPr>
        <p:spPr>
          <a:xfrm>
            <a:off x="4137840" y="1253894"/>
            <a:ext cx="636549" cy="6160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le 47">
            <a:extLst>
              <a:ext uri="{FF2B5EF4-FFF2-40B4-BE49-F238E27FC236}">
                <a16:creationId xmlns:a16="http://schemas.microsoft.com/office/drawing/2014/main" id="{E068CB8F-2F13-64B7-044B-B2A97933F66B}"/>
              </a:ext>
            </a:extLst>
          </p:cNvPr>
          <p:cNvSpPr/>
          <p:nvPr/>
        </p:nvSpPr>
        <p:spPr>
          <a:xfrm>
            <a:off x="6204473" y="1253894"/>
            <a:ext cx="636549" cy="6160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9BB78E08-3C0A-265B-420A-594425D014BB}"/>
              </a:ext>
            </a:extLst>
          </p:cNvPr>
          <p:cNvCxnSpPr>
            <a:cxnSpLocks/>
          </p:cNvCxnSpPr>
          <p:nvPr/>
        </p:nvCxnSpPr>
        <p:spPr>
          <a:xfrm flipV="1">
            <a:off x="1601197" y="963938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ttore 2 49">
            <a:extLst>
              <a:ext uri="{FF2B5EF4-FFF2-40B4-BE49-F238E27FC236}">
                <a16:creationId xmlns:a16="http://schemas.microsoft.com/office/drawing/2014/main" id="{61E0798B-1D59-7C43-5EB6-14A369002B68}"/>
              </a:ext>
            </a:extLst>
          </p:cNvPr>
          <p:cNvCxnSpPr>
            <a:cxnSpLocks/>
          </p:cNvCxnSpPr>
          <p:nvPr/>
        </p:nvCxnSpPr>
        <p:spPr>
          <a:xfrm flipV="1">
            <a:off x="2982595" y="963938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2 50">
            <a:extLst>
              <a:ext uri="{FF2B5EF4-FFF2-40B4-BE49-F238E27FC236}">
                <a16:creationId xmlns:a16="http://schemas.microsoft.com/office/drawing/2014/main" id="{C2639F12-733C-1C55-EB8A-1E1E74AE3FB8}"/>
              </a:ext>
            </a:extLst>
          </p:cNvPr>
          <p:cNvCxnSpPr>
            <a:cxnSpLocks/>
          </p:cNvCxnSpPr>
          <p:nvPr/>
        </p:nvCxnSpPr>
        <p:spPr>
          <a:xfrm flipV="1">
            <a:off x="4456875" y="963938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42C189F0-EF6B-F000-DF26-C9664535E561}"/>
              </a:ext>
            </a:extLst>
          </p:cNvPr>
          <p:cNvCxnSpPr>
            <a:cxnSpLocks/>
          </p:cNvCxnSpPr>
          <p:nvPr/>
        </p:nvCxnSpPr>
        <p:spPr>
          <a:xfrm flipV="1">
            <a:off x="6522747" y="963938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e 52">
            <a:extLst>
              <a:ext uri="{FF2B5EF4-FFF2-40B4-BE49-F238E27FC236}">
                <a16:creationId xmlns:a16="http://schemas.microsoft.com/office/drawing/2014/main" id="{BB0C4E40-5359-E0EE-82EA-D92464B0D38B}"/>
              </a:ext>
            </a:extLst>
          </p:cNvPr>
          <p:cNvSpPr/>
          <p:nvPr/>
        </p:nvSpPr>
        <p:spPr>
          <a:xfrm>
            <a:off x="1304937" y="4202367"/>
            <a:ext cx="636549" cy="61601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6" name="Connettore curvo 55">
            <a:extLst>
              <a:ext uri="{FF2B5EF4-FFF2-40B4-BE49-F238E27FC236}">
                <a16:creationId xmlns:a16="http://schemas.microsoft.com/office/drawing/2014/main" id="{15714CD2-946A-2CF2-78CF-36BAE4FC7830}"/>
              </a:ext>
            </a:extLst>
          </p:cNvPr>
          <p:cNvCxnSpPr>
            <a:cxnSpLocks/>
          </p:cNvCxnSpPr>
          <p:nvPr/>
        </p:nvCxnSpPr>
        <p:spPr>
          <a:xfrm>
            <a:off x="1851400" y="4317364"/>
            <a:ext cx="946073" cy="384256"/>
          </a:xfrm>
          <a:prstGeom prst="curvedConnector4">
            <a:avLst>
              <a:gd name="adj1" fmla="val 45073"/>
              <a:gd name="adj2" fmla="val 1418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e 58">
            <a:extLst>
              <a:ext uri="{FF2B5EF4-FFF2-40B4-BE49-F238E27FC236}">
                <a16:creationId xmlns:a16="http://schemas.microsoft.com/office/drawing/2014/main" id="{A9926AC5-40E9-2CB3-CE26-0B8AC09FB736}"/>
              </a:ext>
            </a:extLst>
          </p:cNvPr>
          <p:cNvSpPr/>
          <p:nvPr/>
        </p:nvSpPr>
        <p:spPr>
          <a:xfrm>
            <a:off x="2696526" y="4202367"/>
            <a:ext cx="636549" cy="61601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Ovale 63">
            <a:extLst>
              <a:ext uri="{FF2B5EF4-FFF2-40B4-BE49-F238E27FC236}">
                <a16:creationId xmlns:a16="http://schemas.microsoft.com/office/drawing/2014/main" id="{CB44E34D-1202-8940-514E-0C0AB1A76279}"/>
              </a:ext>
            </a:extLst>
          </p:cNvPr>
          <p:cNvSpPr/>
          <p:nvPr/>
        </p:nvSpPr>
        <p:spPr>
          <a:xfrm>
            <a:off x="4136338" y="4202367"/>
            <a:ext cx="636549" cy="61601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5" name="Connettore 2 64">
            <a:extLst>
              <a:ext uri="{FF2B5EF4-FFF2-40B4-BE49-F238E27FC236}">
                <a16:creationId xmlns:a16="http://schemas.microsoft.com/office/drawing/2014/main" id="{EBAEF4C6-EE3F-4D97-7402-7274D1BFC8EE}"/>
              </a:ext>
            </a:extLst>
          </p:cNvPr>
          <p:cNvCxnSpPr>
            <a:cxnSpLocks/>
          </p:cNvCxnSpPr>
          <p:nvPr/>
        </p:nvCxnSpPr>
        <p:spPr>
          <a:xfrm flipV="1">
            <a:off x="4454612" y="4836528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ttore curvo 68">
            <a:extLst>
              <a:ext uri="{FF2B5EF4-FFF2-40B4-BE49-F238E27FC236}">
                <a16:creationId xmlns:a16="http://schemas.microsoft.com/office/drawing/2014/main" id="{4C2EAFC1-C6E2-A0C6-BF31-BF29E6A80AB2}"/>
              </a:ext>
            </a:extLst>
          </p:cNvPr>
          <p:cNvCxnSpPr>
            <a:cxnSpLocks/>
          </p:cNvCxnSpPr>
          <p:nvPr/>
        </p:nvCxnSpPr>
        <p:spPr>
          <a:xfrm>
            <a:off x="3225917" y="4264969"/>
            <a:ext cx="946073" cy="384256"/>
          </a:xfrm>
          <a:prstGeom prst="curvedConnector4">
            <a:avLst>
              <a:gd name="adj1" fmla="val 45073"/>
              <a:gd name="adj2" fmla="val 1418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e 69">
            <a:extLst>
              <a:ext uri="{FF2B5EF4-FFF2-40B4-BE49-F238E27FC236}">
                <a16:creationId xmlns:a16="http://schemas.microsoft.com/office/drawing/2014/main" id="{2454338D-8959-341D-781F-C8FF44B1933F}"/>
              </a:ext>
            </a:extLst>
          </p:cNvPr>
          <p:cNvSpPr/>
          <p:nvPr/>
        </p:nvSpPr>
        <p:spPr>
          <a:xfrm>
            <a:off x="6237499" y="4202367"/>
            <a:ext cx="636549" cy="61601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3" name="Connettore curvo 72">
            <a:extLst>
              <a:ext uri="{FF2B5EF4-FFF2-40B4-BE49-F238E27FC236}">
                <a16:creationId xmlns:a16="http://schemas.microsoft.com/office/drawing/2014/main" id="{6CBCAFE0-6E37-E4C7-F48D-52993A2B4304}"/>
              </a:ext>
            </a:extLst>
          </p:cNvPr>
          <p:cNvCxnSpPr>
            <a:cxnSpLocks/>
          </p:cNvCxnSpPr>
          <p:nvPr/>
        </p:nvCxnSpPr>
        <p:spPr>
          <a:xfrm flipV="1">
            <a:off x="6033830" y="4653764"/>
            <a:ext cx="282725" cy="1447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ttore curvo 73">
            <a:extLst>
              <a:ext uri="{FF2B5EF4-FFF2-40B4-BE49-F238E27FC236}">
                <a16:creationId xmlns:a16="http://schemas.microsoft.com/office/drawing/2014/main" id="{66AA88A0-B8E6-FAB2-A02F-1B52A3EC85A3}"/>
              </a:ext>
            </a:extLst>
          </p:cNvPr>
          <p:cNvCxnSpPr>
            <a:stCxn id="64" idx="7"/>
          </p:cNvCxnSpPr>
          <p:nvPr/>
        </p:nvCxnSpPr>
        <p:spPr>
          <a:xfrm rot="16200000" flipH="1">
            <a:off x="4721709" y="4250538"/>
            <a:ext cx="629837" cy="713922"/>
          </a:xfrm>
          <a:prstGeom prst="curvedConnector4">
            <a:avLst>
              <a:gd name="adj1" fmla="val -36295"/>
              <a:gd name="adj2" fmla="val 5652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7106D374-46B5-D888-AFBE-7AD3E5472365}"/>
              </a:ext>
            </a:extLst>
          </p:cNvPr>
          <p:cNvSpPr txBox="1"/>
          <p:nvPr/>
        </p:nvSpPr>
        <p:spPr>
          <a:xfrm>
            <a:off x="5555992" y="4328596"/>
            <a:ext cx="365119" cy="584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dirty="0"/>
          </a:p>
          <a:p>
            <a:r>
              <a:rPr lang="en-GB" sz="2400" dirty="0">
                <a:solidFill>
                  <a:schemeClr val="accent1"/>
                </a:solidFill>
              </a:rPr>
              <a:t>…</a:t>
            </a:r>
          </a:p>
        </p:txBody>
      </p:sp>
      <p:cxnSp>
        <p:nvCxnSpPr>
          <p:cNvPr id="77" name="Connettore curvo 76">
            <a:extLst>
              <a:ext uri="{FF2B5EF4-FFF2-40B4-BE49-F238E27FC236}">
                <a16:creationId xmlns:a16="http://schemas.microsoft.com/office/drawing/2014/main" id="{AD268A17-E8A0-B27F-88E0-AF60EF000BF2}"/>
              </a:ext>
            </a:extLst>
          </p:cNvPr>
          <p:cNvCxnSpPr>
            <a:cxnSpLocks/>
          </p:cNvCxnSpPr>
          <p:nvPr/>
        </p:nvCxnSpPr>
        <p:spPr>
          <a:xfrm flipV="1">
            <a:off x="1087871" y="4734221"/>
            <a:ext cx="282725" cy="1447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e 77">
            <a:extLst>
              <a:ext uri="{FF2B5EF4-FFF2-40B4-BE49-F238E27FC236}">
                <a16:creationId xmlns:a16="http://schemas.microsoft.com/office/drawing/2014/main" id="{78C6AAFC-C863-9E66-E381-CE3B77063062}"/>
              </a:ext>
            </a:extLst>
          </p:cNvPr>
          <p:cNvSpPr/>
          <p:nvPr/>
        </p:nvSpPr>
        <p:spPr>
          <a:xfrm>
            <a:off x="1304937" y="2363407"/>
            <a:ext cx="636549" cy="6160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9" name="Connettore 2 78">
            <a:extLst>
              <a:ext uri="{FF2B5EF4-FFF2-40B4-BE49-F238E27FC236}">
                <a16:creationId xmlns:a16="http://schemas.microsoft.com/office/drawing/2014/main" id="{B5F720E8-CEFB-2B5E-F89B-BEF39104EE12}"/>
              </a:ext>
            </a:extLst>
          </p:cNvPr>
          <p:cNvCxnSpPr>
            <a:cxnSpLocks/>
          </p:cNvCxnSpPr>
          <p:nvPr/>
        </p:nvCxnSpPr>
        <p:spPr>
          <a:xfrm flipV="1">
            <a:off x="1614944" y="1856473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ttore curvo 79">
            <a:extLst>
              <a:ext uri="{FF2B5EF4-FFF2-40B4-BE49-F238E27FC236}">
                <a16:creationId xmlns:a16="http://schemas.microsoft.com/office/drawing/2014/main" id="{02A7662B-6D65-CC89-7A98-004F462D9BF8}"/>
              </a:ext>
            </a:extLst>
          </p:cNvPr>
          <p:cNvCxnSpPr>
            <a:cxnSpLocks/>
          </p:cNvCxnSpPr>
          <p:nvPr/>
        </p:nvCxnSpPr>
        <p:spPr>
          <a:xfrm>
            <a:off x="1851400" y="2447924"/>
            <a:ext cx="946073" cy="384256"/>
          </a:xfrm>
          <a:prstGeom prst="curvedConnector4">
            <a:avLst>
              <a:gd name="adj1" fmla="val 45073"/>
              <a:gd name="adj2" fmla="val 1418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e 80">
            <a:extLst>
              <a:ext uri="{FF2B5EF4-FFF2-40B4-BE49-F238E27FC236}">
                <a16:creationId xmlns:a16="http://schemas.microsoft.com/office/drawing/2014/main" id="{84470CE4-48CE-E5C1-89B3-D1BF3EAE5C70}"/>
              </a:ext>
            </a:extLst>
          </p:cNvPr>
          <p:cNvSpPr/>
          <p:nvPr/>
        </p:nvSpPr>
        <p:spPr>
          <a:xfrm>
            <a:off x="2696526" y="2363407"/>
            <a:ext cx="636549" cy="6160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2" name="Connettore 2 81">
            <a:extLst>
              <a:ext uri="{FF2B5EF4-FFF2-40B4-BE49-F238E27FC236}">
                <a16:creationId xmlns:a16="http://schemas.microsoft.com/office/drawing/2014/main" id="{359A3340-EE77-9301-A72E-E1C1497B282B}"/>
              </a:ext>
            </a:extLst>
          </p:cNvPr>
          <p:cNvCxnSpPr>
            <a:cxnSpLocks/>
          </p:cNvCxnSpPr>
          <p:nvPr/>
        </p:nvCxnSpPr>
        <p:spPr>
          <a:xfrm flipV="1">
            <a:off x="3006533" y="1836153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e 82">
            <a:extLst>
              <a:ext uri="{FF2B5EF4-FFF2-40B4-BE49-F238E27FC236}">
                <a16:creationId xmlns:a16="http://schemas.microsoft.com/office/drawing/2014/main" id="{5025E6A1-5E46-1CBA-DDCD-1307886E16B4}"/>
              </a:ext>
            </a:extLst>
          </p:cNvPr>
          <p:cNvSpPr/>
          <p:nvPr/>
        </p:nvSpPr>
        <p:spPr>
          <a:xfrm>
            <a:off x="4136338" y="2363407"/>
            <a:ext cx="636549" cy="6160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4" name="Connettore 2 83">
            <a:extLst>
              <a:ext uri="{FF2B5EF4-FFF2-40B4-BE49-F238E27FC236}">
                <a16:creationId xmlns:a16="http://schemas.microsoft.com/office/drawing/2014/main" id="{8B13A5DB-3CA0-7FA2-BDCA-7AB94E61597A}"/>
              </a:ext>
            </a:extLst>
          </p:cNvPr>
          <p:cNvCxnSpPr>
            <a:cxnSpLocks/>
          </p:cNvCxnSpPr>
          <p:nvPr/>
        </p:nvCxnSpPr>
        <p:spPr>
          <a:xfrm flipV="1">
            <a:off x="4446345" y="1836153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ttore curvo 84">
            <a:extLst>
              <a:ext uri="{FF2B5EF4-FFF2-40B4-BE49-F238E27FC236}">
                <a16:creationId xmlns:a16="http://schemas.microsoft.com/office/drawing/2014/main" id="{BCB4B77D-A800-2537-EA0B-32049572B8A7}"/>
              </a:ext>
            </a:extLst>
          </p:cNvPr>
          <p:cNvCxnSpPr>
            <a:cxnSpLocks/>
          </p:cNvCxnSpPr>
          <p:nvPr/>
        </p:nvCxnSpPr>
        <p:spPr>
          <a:xfrm>
            <a:off x="3215757" y="2395529"/>
            <a:ext cx="946073" cy="384256"/>
          </a:xfrm>
          <a:prstGeom prst="curvedConnector4">
            <a:avLst>
              <a:gd name="adj1" fmla="val 45073"/>
              <a:gd name="adj2" fmla="val 1418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e 85">
            <a:extLst>
              <a:ext uri="{FF2B5EF4-FFF2-40B4-BE49-F238E27FC236}">
                <a16:creationId xmlns:a16="http://schemas.microsoft.com/office/drawing/2014/main" id="{FB31463F-57E0-0B42-8091-4CAC569CD41C}"/>
              </a:ext>
            </a:extLst>
          </p:cNvPr>
          <p:cNvSpPr/>
          <p:nvPr/>
        </p:nvSpPr>
        <p:spPr>
          <a:xfrm>
            <a:off x="6237499" y="2363407"/>
            <a:ext cx="636549" cy="6160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7" name="Connettore curvo 86">
            <a:extLst>
              <a:ext uri="{FF2B5EF4-FFF2-40B4-BE49-F238E27FC236}">
                <a16:creationId xmlns:a16="http://schemas.microsoft.com/office/drawing/2014/main" id="{F9A2CB5C-CD92-43D7-B249-DE2CB90D2DF1}"/>
              </a:ext>
            </a:extLst>
          </p:cNvPr>
          <p:cNvCxnSpPr>
            <a:cxnSpLocks/>
          </p:cNvCxnSpPr>
          <p:nvPr/>
        </p:nvCxnSpPr>
        <p:spPr>
          <a:xfrm flipV="1">
            <a:off x="6003350" y="2784324"/>
            <a:ext cx="282725" cy="1447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ttore curvo 87">
            <a:extLst>
              <a:ext uri="{FF2B5EF4-FFF2-40B4-BE49-F238E27FC236}">
                <a16:creationId xmlns:a16="http://schemas.microsoft.com/office/drawing/2014/main" id="{79778581-148F-7203-2D28-66787FFE3CDF}"/>
              </a:ext>
            </a:extLst>
          </p:cNvPr>
          <p:cNvCxnSpPr>
            <a:stCxn id="83" idx="7"/>
          </p:cNvCxnSpPr>
          <p:nvPr/>
        </p:nvCxnSpPr>
        <p:spPr>
          <a:xfrm rot="16200000" flipH="1">
            <a:off x="4721709" y="2411579"/>
            <a:ext cx="629836" cy="713921"/>
          </a:xfrm>
          <a:prstGeom prst="curvedConnector4">
            <a:avLst>
              <a:gd name="adj1" fmla="val -36295"/>
              <a:gd name="adj2" fmla="val 5652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B24DBAC6-F825-403D-E4BD-1A7C77CA683B}"/>
              </a:ext>
            </a:extLst>
          </p:cNvPr>
          <p:cNvSpPr txBox="1"/>
          <p:nvPr/>
        </p:nvSpPr>
        <p:spPr>
          <a:xfrm>
            <a:off x="5555992" y="2459156"/>
            <a:ext cx="365119" cy="584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dirty="0"/>
          </a:p>
          <a:p>
            <a:r>
              <a:rPr lang="en-GB" sz="2400" dirty="0">
                <a:solidFill>
                  <a:schemeClr val="accent1"/>
                </a:solidFill>
              </a:rPr>
              <a:t>…</a:t>
            </a:r>
          </a:p>
        </p:txBody>
      </p:sp>
      <p:cxnSp>
        <p:nvCxnSpPr>
          <p:cNvPr id="90" name="Connettore curvo 89">
            <a:extLst>
              <a:ext uri="{FF2B5EF4-FFF2-40B4-BE49-F238E27FC236}">
                <a16:creationId xmlns:a16="http://schemas.microsoft.com/office/drawing/2014/main" id="{DF2F3444-7681-A0C5-41A3-603B84E19077}"/>
              </a:ext>
            </a:extLst>
          </p:cNvPr>
          <p:cNvCxnSpPr>
            <a:cxnSpLocks/>
          </p:cNvCxnSpPr>
          <p:nvPr/>
        </p:nvCxnSpPr>
        <p:spPr>
          <a:xfrm flipV="1">
            <a:off x="1087871" y="2864781"/>
            <a:ext cx="282725" cy="1447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ttore 2 90">
            <a:extLst>
              <a:ext uri="{FF2B5EF4-FFF2-40B4-BE49-F238E27FC236}">
                <a16:creationId xmlns:a16="http://schemas.microsoft.com/office/drawing/2014/main" id="{0BCD7F15-04FE-E9FA-519D-999A724D2663}"/>
              </a:ext>
            </a:extLst>
          </p:cNvPr>
          <p:cNvCxnSpPr>
            <a:cxnSpLocks/>
          </p:cNvCxnSpPr>
          <p:nvPr/>
        </p:nvCxnSpPr>
        <p:spPr>
          <a:xfrm flipV="1">
            <a:off x="6547506" y="1836153"/>
            <a:ext cx="0" cy="5289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ttore 2 93">
            <a:extLst>
              <a:ext uri="{FF2B5EF4-FFF2-40B4-BE49-F238E27FC236}">
                <a16:creationId xmlns:a16="http://schemas.microsoft.com/office/drawing/2014/main" id="{2F2424BF-92C7-F12E-8189-DDBD1987922C}"/>
              </a:ext>
            </a:extLst>
          </p:cNvPr>
          <p:cNvCxnSpPr>
            <a:cxnSpLocks/>
          </p:cNvCxnSpPr>
          <p:nvPr/>
        </p:nvCxnSpPr>
        <p:spPr>
          <a:xfrm flipV="1">
            <a:off x="3006533" y="297955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ttore 2 96">
            <a:extLst>
              <a:ext uri="{FF2B5EF4-FFF2-40B4-BE49-F238E27FC236}">
                <a16:creationId xmlns:a16="http://schemas.microsoft.com/office/drawing/2014/main" id="{C7528D9D-2705-3AAE-3099-C2167EFFCE42}"/>
              </a:ext>
            </a:extLst>
          </p:cNvPr>
          <p:cNvCxnSpPr>
            <a:cxnSpLocks/>
          </p:cNvCxnSpPr>
          <p:nvPr/>
        </p:nvCxnSpPr>
        <p:spPr>
          <a:xfrm flipV="1">
            <a:off x="4454612" y="297955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ttore 2 97">
            <a:extLst>
              <a:ext uri="{FF2B5EF4-FFF2-40B4-BE49-F238E27FC236}">
                <a16:creationId xmlns:a16="http://schemas.microsoft.com/office/drawing/2014/main" id="{22298B0C-7800-CCAA-3569-931ABB7BA6E2}"/>
              </a:ext>
            </a:extLst>
          </p:cNvPr>
          <p:cNvCxnSpPr>
            <a:cxnSpLocks/>
          </p:cNvCxnSpPr>
          <p:nvPr/>
        </p:nvCxnSpPr>
        <p:spPr>
          <a:xfrm flipV="1">
            <a:off x="1614944" y="297955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ttore 2 98">
            <a:extLst>
              <a:ext uri="{FF2B5EF4-FFF2-40B4-BE49-F238E27FC236}">
                <a16:creationId xmlns:a16="http://schemas.microsoft.com/office/drawing/2014/main" id="{9466FD11-3353-5EC8-A5D1-87979B9C9F51}"/>
              </a:ext>
            </a:extLst>
          </p:cNvPr>
          <p:cNvCxnSpPr>
            <a:cxnSpLocks/>
          </p:cNvCxnSpPr>
          <p:nvPr/>
        </p:nvCxnSpPr>
        <p:spPr>
          <a:xfrm flipV="1">
            <a:off x="6547506" y="297955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ttore 2 99">
            <a:extLst>
              <a:ext uri="{FF2B5EF4-FFF2-40B4-BE49-F238E27FC236}">
                <a16:creationId xmlns:a16="http://schemas.microsoft.com/office/drawing/2014/main" id="{9A09EE08-05B4-08C3-C37A-FBDF3D97E18B}"/>
              </a:ext>
            </a:extLst>
          </p:cNvPr>
          <p:cNvCxnSpPr>
            <a:cxnSpLocks/>
          </p:cNvCxnSpPr>
          <p:nvPr/>
        </p:nvCxnSpPr>
        <p:spPr>
          <a:xfrm flipV="1">
            <a:off x="1614944" y="391668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ttore 2 101">
            <a:extLst>
              <a:ext uri="{FF2B5EF4-FFF2-40B4-BE49-F238E27FC236}">
                <a16:creationId xmlns:a16="http://schemas.microsoft.com/office/drawing/2014/main" id="{A799D370-DF67-937D-94BB-9C9B84353626}"/>
              </a:ext>
            </a:extLst>
          </p:cNvPr>
          <p:cNvCxnSpPr>
            <a:cxnSpLocks/>
          </p:cNvCxnSpPr>
          <p:nvPr/>
        </p:nvCxnSpPr>
        <p:spPr>
          <a:xfrm flipV="1">
            <a:off x="3006533" y="391668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ttore 2 102">
            <a:extLst>
              <a:ext uri="{FF2B5EF4-FFF2-40B4-BE49-F238E27FC236}">
                <a16:creationId xmlns:a16="http://schemas.microsoft.com/office/drawing/2014/main" id="{774D6403-5967-7638-37F9-093A7FA5B801}"/>
              </a:ext>
            </a:extLst>
          </p:cNvPr>
          <p:cNvCxnSpPr>
            <a:cxnSpLocks/>
          </p:cNvCxnSpPr>
          <p:nvPr/>
        </p:nvCxnSpPr>
        <p:spPr>
          <a:xfrm flipV="1">
            <a:off x="4454612" y="391668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ttore 2 103">
            <a:extLst>
              <a:ext uri="{FF2B5EF4-FFF2-40B4-BE49-F238E27FC236}">
                <a16:creationId xmlns:a16="http://schemas.microsoft.com/office/drawing/2014/main" id="{9E9A3CFF-0E7E-CBF4-D412-2DE2848AA5D5}"/>
              </a:ext>
            </a:extLst>
          </p:cNvPr>
          <p:cNvCxnSpPr>
            <a:cxnSpLocks/>
          </p:cNvCxnSpPr>
          <p:nvPr/>
        </p:nvCxnSpPr>
        <p:spPr>
          <a:xfrm flipV="1">
            <a:off x="6547506" y="3916680"/>
            <a:ext cx="0" cy="2806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sellaDiTesto 104">
            <a:extLst>
              <a:ext uri="{FF2B5EF4-FFF2-40B4-BE49-F238E27FC236}">
                <a16:creationId xmlns:a16="http://schemas.microsoft.com/office/drawing/2014/main" id="{6E892699-E6A0-0852-485B-7F44A0E7CF27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Bidirectional RNN</a:t>
            </a:r>
          </a:p>
        </p:txBody>
      </p:sp>
      <p:sp>
        <p:nvSpPr>
          <p:cNvPr id="106" name="CasellaDiTesto 105">
            <a:extLst>
              <a:ext uri="{FF2B5EF4-FFF2-40B4-BE49-F238E27FC236}">
                <a16:creationId xmlns:a16="http://schemas.microsoft.com/office/drawing/2014/main" id="{A3376D07-F390-4720-984F-C859E602CC46}"/>
              </a:ext>
            </a:extLst>
          </p:cNvPr>
          <p:cNvSpPr txBox="1"/>
          <p:nvPr/>
        </p:nvSpPr>
        <p:spPr>
          <a:xfrm>
            <a:off x="1349908" y="3093200"/>
            <a:ext cx="5723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…</a:t>
            </a:r>
            <a:endParaRPr lang="en-GB" sz="1200" dirty="0"/>
          </a:p>
        </p:txBody>
      </p:sp>
      <p:sp>
        <p:nvSpPr>
          <p:cNvPr id="107" name="CasellaDiTesto 106">
            <a:extLst>
              <a:ext uri="{FF2B5EF4-FFF2-40B4-BE49-F238E27FC236}">
                <a16:creationId xmlns:a16="http://schemas.microsoft.com/office/drawing/2014/main" id="{7E1103BE-BB6F-6430-9714-AA69C846FC6C}"/>
              </a:ext>
            </a:extLst>
          </p:cNvPr>
          <p:cNvSpPr txBox="1"/>
          <p:nvPr/>
        </p:nvSpPr>
        <p:spPr>
          <a:xfrm>
            <a:off x="2748628" y="3093200"/>
            <a:ext cx="5723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…</a:t>
            </a:r>
            <a:endParaRPr lang="en-GB" sz="1200" dirty="0"/>
          </a:p>
        </p:txBody>
      </p:sp>
      <p:sp>
        <p:nvSpPr>
          <p:cNvPr id="108" name="CasellaDiTesto 107">
            <a:extLst>
              <a:ext uri="{FF2B5EF4-FFF2-40B4-BE49-F238E27FC236}">
                <a16:creationId xmlns:a16="http://schemas.microsoft.com/office/drawing/2014/main" id="{4184E08F-BF90-141C-CDDB-733637694C4C}"/>
              </a:ext>
            </a:extLst>
          </p:cNvPr>
          <p:cNvSpPr txBox="1"/>
          <p:nvPr/>
        </p:nvSpPr>
        <p:spPr>
          <a:xfrm>
            <a:off x="4204868" y="3093200"/>
            <a:ext cx="5723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…</a:t>
            </a:r>
            <a:endParaRPr lang="en-GB" sz="1200" dirty="0"/>
          </a:p>
        </p:txBody>
      </p:sp>
      <p:sp>
        <p:nvSpPr>
          <p:cNvPr id="109" name="CasellaDiTesto 108">
            <a:extLst>
              <a:ext uri="{FF2B5EF4-FFF2-40B4-BE49-F238E27FC236}">
                <a16:creationId xmlns:a16="http://schemas.microsoft.com/office/drawing/2014/main" id="{68ED7663-5FD7-F9AD-954D-AAEC1B940198}"/>
              </a:ext>
            </a:extLst>
          </p:cNvPr>
          <p:cNvSpPr txBox="1"/>
          <p:nvPr/>
        </p:nvSpPr>
        <p:spPr>
          <a:xfrm>
            <a:off x="6261355" y="3093200"/>
            <a:ext cx="5723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…</a:t>
            </a:r>
            <a:endParaRPr lang="en-GB" sz="1200" dirty="0"/>
          </a:p>
        </p:txBody>
      </p:sp>
      <p:sp>
        <p:nvSpPr>
          <p:cNvPr id="110" name="CasellaDiTesto 109">
            <a:extLst>
              <a:ext uri="{FF2B5EF4-FFF2-40B4-BE49-F238E27FC236}">
                <a16:creationId xmlns:a16="http://schemas.microsoft.com/office/drawing/2014/main" id="{B89967CC-A785-0875-74A8-1B6620829025}"/>
              </a:ext>
            </a:extLst>
          </p:cNvPr>
          <p:cNvSpPr txBox="1"/>
          <p:nvPr/>
        </p:nvSpPr>
        <p:spPr>
          <a:xfrm>
            <a:off x="8317842" y="3349132"/>
            <a:ext cx="3179329" cy="101566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Causality is lost. </a:t>
            </a:r>
            <a:r>
              <a:rPr lang="en-GB" sz="2000"/>
              <a:t>Might not be useful </a:t>
            </a:r>
            <a:r>
              <a:rPr lang="en-GB" sz="2000" dirty="0"/>
              <a:t>for prediction, but for tasks like smoothing</a:t>
            </a:r>
          </a:p>
        </p:txBody>
      </p:sp>
      <p:sp>
        <p:nvSpPr>
          <p:cNvPr id="111" name="CasellaDiTesto 110">
            <a:extLst>
              <a:ext uri="{FF2B5EF4-FFF2-40B4-BE49-F238E27FC236}">
                <a16:creationId xmlns:a16="http://schemas.microsoft.com/office/drawing/2014/main" id="{B6DB941B-AB33-D6CF-455F-202EB0392D77}"/>
              </a:ext>
            </a:extLst>
          </p:cNvPr>
          <p:cNvSpPr txBox="1"/>
          <p:nvPr/>
        </p:nvSpPr>
        <p:spPr>
          <a:xfrm>
            <a:off x="4503210" y="6220155"/>
            <a:ext cx="892061" cy="259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u(t+2)</a:t>
            </a:r>
          </a:p>
        </p:txBody>
      </p:sp>
      <p:sp>
        <p:nvSpPr>
          <p:cNvPr id="112" name="CasellaDiTesto 111">
            <a:extLst>
              <a:ext uri="{FF2B5EF4-FFF2-40B4-BE49-F238E27FC236}">
                <a16:creationId xmlns:a16="http://schemas.microsoft.com/office/drawing/2014/main" id="{1AEC2042-E58C-DA7A-4FAF-C7B5175329A2}"/>
              </a:ext>
            </a:extLst>
          </p:cNvPr>
          <p:cNvSpPr txBox="1"/>
          <p:nvPr/>
        </p:nvSpPr>
        <p:spPr>
          <a:xfrm>
            <a:off x="6606628" y="6226201"/>
            <a:ext cx="892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u(</a:t>
            </a:r>
            <a:r>
              <a:rPr lang="en-GB" dirty="0" err="1"/>
              <a:t>t+T</a:t>
            </a:r>
            <a:r>
              <a:rPr lang="en-GB" dirty="0"/>
              <a:t>)</a:t>
            </a:r>
          </a:p>
        </p:txBody>
      </p:sp>
      <p:cxnSp>
        <p:nvCxnSpPr>
          <p:cNvPr id="2" name="Connettore curvo 1">
            <a:extLst>
              <a:ext uri="{FF2B5EF4-FFF2-40B4-BE49-F238E27FC236}">
                <a16:creationId xmlns:a16="http://schemas.microsoft.com/office/drawing/2014/main" id="{550BAF1F-5E92-D6E0-E456-2545ADA44423}"/>
              </a:ext>
            </a:extLst>
          </p:cNvPr>
          <p:cNvCxnSpPr>
            <a:cxnSpLocks/>
          </p:cNvCxnSpPr>
          <p:nvPr/>
        </p:nvCxnSpPr>
        <p:spPr>
          <a:xfrm flipH="1" flipV="1">
            <a:off x="6856790" y="5459579"/>
            <a:ext cx="282725" cy="144765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ttore curvo 3">
            <a:extLst>
              <a:ext uri="{FF2B5EF4-FFF2-40B4-BE49-F238E27FC236}">
                <a16:creationId xmlns:a16="http://schemas.microsoft.com/office/drawing/2014/main" id="{6330CF19-1107-711B-A761-E7E562560407}"/>
              </a:ext>
            </a:extLst>
          </p:cNvPr>
          <p:cNvCxnSpPr>
            <a:cxnSpLocks/>
          </p:cNvCxnSpPr>
          <p:nvPr/>
        </p:nvCxnSpPr>
        <p:spPr>
          <a:xfrm flipH="1" flipV="1">
            <a:off x="6856790" y="4392779"/>
            <a:ext cx="282725" cy="144765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curvo 5">
            <a:extLst>
              <a:ext uri="{FF2B5EF4-FFF2-40B4-BE49-F238E27FC236}">
                <a16:creationId xmlns:a16="http://schemas.microsoft.com/office/drawing/2014/main" id="{9F888F0C-4508-85A8-69F7-FA760D55EDFC}"/>
              </a:ext>
            </a:extLst>
          </p:cNvPr>
          <p:cNvCxnSpPr>
            <a:cxnSpLocks/>
          </p:cNvCxnSpPr>
          <p:nvPr/>
        </p:nvCxnSpPr>
        <p:spPr>
          <a:xfrm flipH="1" flipV="1">
            <a:off x="6856790" y="2513179"/>
            <a:ext cx="282725" cy="144765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curvo 10">
            <a:extLst>
              <a:ext uri="{FF2B5EF4-FFF2-40B4-BE49-F238E27FC236}">
                <a16:creationId xmlns:a16="http://schemas.microsoft.com/office/drawing/2014/main" id="{CD1E6A5F-1ED5-EABB-9427-1453B61D7A3B}"/>
              </a:ext>
            </a:extLst>
          </p:cNvPr>
          <p:cNvCxnSpPr>
            <a:cxnSpLocks/>
            <a:stCxn id="81" idx="5"/>
            <a:endCxn id="83" idx="3"/>
          </p:cNvCxnSpPr>
          <p:nvPr/>
        </p:nvCxnSpPr>
        <p:spPr>
          <a:xfrm rot="16200000" flipH="1">
            <a:off x="3734706" y="2394359"/>
            <a:ext cx="12700" cy="989703"/>
          </a:xfrm>
          <a:prstGeom prst="curvedConnector3">
            <a:avLst>
              <a:gd name="adj1" fmla="val 2510346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curvo 42">
            <a:extLst>
              <a:ext uri="{FF2B5EF4-FFF2-40B4-BE49-F238E27FC236}">
                <a16:creationId xmlns:a16="http://schemas.microsoft.com/office/drawing/2014/main" id="{137E43C1-23ED-8542-AC7B-5168FF044979}"/>
              </a:ext>
            </a:extLst>
          </p:cNvPr>
          <p:cNvCxnSpPr>
            <a:cxnSpLocks/>
          </p:cNvCxnSpPr>
          <p:nvPr/>
        </p:nvCxnSpPr>
        <p:spPr>
          <a:xfrm rot="16200000" flipH="1">
            <a:off x="3724545" y="4243130"/>
            <a:ext cx="12700" cy="989703"/>
          </a:xfrm>
          <a:prstGeom prst="curvedConnector3">
            <a:avLst>
              <a:gd name="adj1" fmla="val 2510346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curvo 53">
            <a:extLst>
              <a:ext uri="{FF2B5EF4-FFF2-40B4-BE49-F238E27FC236}">
                <a16:creationId xmlns:a16="http://schemas.microsoft.com/office/drawing/2014/main" id="{1DCD7FAA-4207-CB83-CE05-889E87774DAC}"/>
              </a:ext>
            </a:extLst>
          </p:cNvPr>
          <p:cNvCxnSpPr>
            <a:cxnSpLocks/>
          </p:cNvCxnSpPr>
          <p:nvPr/>
        </p:nvCxnSpPr>
        <p:spPr>
          <a:xfrm rot="16200000" flipH="1">
            <a:off x="3725640" y="5360937"/>
            <a:ext cx="12700" cy="989703"/>
          </a:xfrm>
          <a:prstGeom prst="curvedConnector3">
            <a:avLst>
              <a:gd name="adj1" fmla="val 2510346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curvo 54">
            <a:extLst>
              <a:ext uri="{FF2B5EF4-FFF2-40B4-BE49-F238E27FC236}">
                <a16:creationId xmlns:a16="http://schemas.microsoft.com/office/drawing/2014/main" id="{206C11B3-DA36-983B-C463-F91D447BF7AE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39879" y="4262984"/>
            <a:ext cx="12700" cy="989703"/>
          </a:xfrm>
          <a:prstGeom prst="curvedConnector3">
            <a:avLst>
              <a:gd name="adj1" fmla="val 2510346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curvo 56">
            <a:extLst>
              <a:ext uri="{FF2B5EF4-FFF2-40B4-BE49-F238E27FC236}">
                <a16:creationId xmlns:a16="http://schemas.microsoft.com/office/drawing/2014/main" id="{1BEA8313-9D70-1339-4241-1FD82A3244F1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39879" y="2444486"/>
            <a:ext cx="12700" cy="989703"/>
          </a:xfrm>
          <a:prstGeom prst="curvedConnector3">
            <a:avLst>
              <a:gd name="adj1" fmla="val 2510346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ttore curvo 57">
            <a:extLst>
              <a:ext uri="{FF2B5EF4-FFF2-40B4-BE49-F238E27FC236}">
                <a16:creationId xmlns:a16="http://schemas.microsoft.com/office/drawing/2014/main" id="{E26DD376-E40A-B202-40C5-726696E9D6E3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39879" y="5399636"/>
            <a:ext cx="12700" cy="989703"/>
          </a:xfrm>
          <a:prstGeom prst="curvedConnector3">
            <a:avLst>
              <a:gd name="adj1" fmla="val 2510346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ttore curvo 59">
            <a:extLst>
              <a:ext uri="{FF2B5EF4-FFF2-40B4-BE49-F238E27FC236}">
                <a16:creationId xmlns:a16="http://schemas.microsoft.com/office/drawing/2014/main" id="{7AC8B2FD-2343-ECFC-1ED4-51CBC4A25C6D}"/>
              </a:ext>
            </a:extLst>
          </p:cNvPr>
          <p:cNvCxnSpPr>
            <a:cxnSpLocks/>
          </p:cNvCxnSpPr>
          <p:nvPr/>
        </p:nvCxnSpPr>
        <p:spPr>
          <a:xfrm flipH="1" flipV="1">
            <a:off x="5942390" y="4270859"/>
            <a:ext cx="282725" cy="144765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ttore curvo 61">
            <a:extLst>
              <a:ext uri="{FF2B5EF4-FFF2-40B4-BE49-F238E27FC236}">
                <a16:creationId xmlns:a16="http://schemas.microsoft.com/office/drawing/2014/main" id="{4369A744-243E-12E6-5F5B-E3BA9C31CDE8}"/>
              </a:ext>
            </a:extLst>
          </p:cNvPr>
          <p:cNvCxnSpPr>
            <a:cxnSpLocks/>
          </p:cNvCxnSpPr>
          <p:nvPr/>
        </p:nvCxnSpPr>
        <p:spPr>
          <a:xfrm flipH="1" flipV="1">
            <a:off x="5983030" y="2350619"/>
            <a:ext cx="282725" cy="144765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ttore curvo 62">
            <a:extLst>
              <a:ext uri="{FF2B5EF4-FFF2-40B4-BE49-F238E27FC236}">
                <a16:creationId xmlns:a16="http://schemas.microsoft.com/office/drawing/2014/main" id="{A3BCD986-F252-B6DA-ACC1-ED2089F3BA53}"/>
              </a:ext>
            </a:extLst>
          </p:cNvPr>
          <p:cNvCxnSpPr>
            <a:cxnSpLocks/>
          </p:cNvCxnSpPr>
          <p:nvPr/>
        </p:nvCxnSpPr>
        <p:spPr>
          <a:xfrm flipH="1" flipV="1">
            <a:off x="5962710" y="5327499"/>
            <a:ext cx="282725" cy="144765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ttore curvo 65">
            <a:extLst>
              <a:ext uri="{FF2B5EF4-FFF2-40B4-BE49-F238E27FC236}">
                <a16:creationId xmlns:a16="http://schemas.microsoft.com/office/drawing/2014/main" id="{37EF6E67-955F-CD84-4DDB-32D8D92BF074}"/>
              </a:ext>
            </a:extLst>
          </p:cNvPr>
          <p:cNvCxnSpPr>
            <a:cxnSpLocks/>
          </p:cNvCxnSpPr>
          <p:nvPr/>
        </p:nvCxnSpPr>
        <p:spPr>
          <a:xfrm flipV="1">
            <a:off x="4650000" y="4090899"/>
            <a:ext cx="926940" cy="669635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ttore curvo 67">
            <a:extLst>
              <a:ext uri="{FF2B5EF4-FFF2-40B4-BE49-F238E27FC236}">
                <a16:creationId xmlns:a16="http://schemas.microsoft.com/office/drawing/2014/main" id="{954D9401-0B6F-5538-6D61-DA5F25499275}"/>
              </a:ext>
            </a:extLst>
          </p:cNvPr>
          <p:cNvCxnSpPr>
            <a:cxnSpLocks/>
          </p:cNvCxnSpPr>
          <p:nvPr/>
        </p:nvCxnSpPr>
        <p:spPr>
          <a:xfrm flipV="1">
            <a:off x="4700966" y="2200879"/>
            <a:ext cx="926940" cy="669635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ttore curvo 70">
            <a:extLst>
              <a:ext uri="{FF2B5EF4-FFF2-40B4-BE49-F238E27FC236}">
                <a16:creationId xmlns:a16="http://schemas.microsoft.com/office/drawing/2014/main" id="{A9C1B620-FE7E-AF2C-862A-122603C2E81B}"/>
              </a:ext>
            </a:extLst>
          </p:cNvPr>
          <p:cNvCxnSpPr>
            <a:cxnSpLocks/>
          </p:cNvCxnSpPr>
          <p:nvPr/>
        </p:nvCxnSpPr>
        <p:spPr>
          <a:xfrm flipV="1">
            <a:off x="4650000" y="5229734"/>
            <a:ext cx="926940" cy="669635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276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Creating training data</a:t>
            </a: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97ABB296-1862-33DA-140C-0632159C2725}"/>
              </a:ext>
            </a:extLst>
          </p:cNvPr>
          <p:cNvSpPr txBox="1"/>
          <p:nvPr/>
        </p:nvSpPr>
        <p:spPr>
          <a:xfrm>
            <a:off x="261210" y="829006"/>
            <a:ext cx="12037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Given an input/output sequence of length T, </a:t>
            </a:r>
            <a:r>
              <a:rPr lang="en-US" b="0" i="0" dirty="0">
                <a:effectLst/>
                <a:latin typeface="Söhne"/>
              </a:rPr>
              <a:t>we can </a:t>
            </a:r>
            <a:r>
              <a:rPr lang="en-US" b="0" i="0" dirty="0">
                <a:solidFill>
                  <a:srgbClr val="FF0000"/>
                </a:solidFill>
                <a:effectLst/>
                <a:latin typeface="Söhne"/>
              </a:rPr>
              <a:t>unfold the network up to T steps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(you simulate T-step time ahead)</a:t>
            </a:r>
            <a:endParaRPr lang="en-US" dirty="0">
              <a:solidFill>
                <a:srgbClr val="0D0D0D"/>
              </a:solidFill>
              <a:latin typeface="Söhne"/>
            </a:endParaRP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FB5FA9FC-FCE0-1C32-EB4F-5D0E6D6A44D8}"/>
              </a:ext>
            </a:extLst>
          </p:cNvPr>
          <p:cNvSpPr txBox="1"/>
          <p:nvPr/>
        </p:nvSpPr>
        <p:spPr>
          <a:xfrm>
            <a:off x="261210" y="2641580"/>
            <a:ext cx="112926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latin typeface="Söhne"/>
              </a:rPr>
              <a:t>… or we can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0" i="0" dirty="0">
                <a:solidFill>
                  <a:srgbClr val="FF0000"/>
                </a:solidFill>
                <a:effectLst/>
                <a:latin typeface="Söhne"/>
              </a:rPr>
              <a:t>split the </a:t>
            </a:r>
            <a:r>
              <a:rPr lang="en-US" dirty="0">
                <a:solidFill>
                  <a:srgbClr val="FF0000"/>
                </a:solidFill>
                <a:latin typeface="Söhne"/>
              </a:rPr>
              <a:t>sequence into shorter sub-sequences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 (overlapped or not) of length L&lt;&lt;T, and thus create </a:t>
            </a:r>
            <a:r>
              <a:rPr lang="en-US" dirty="0">
                <a:latin typeface="Söhne"/>
              </a:rPr>
              <a:t>batch of sub-sequences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. </a:t>
            </a:r>
            <a:r>
              <a:rPr lang="en-US" dirty="0">
                <a:solidFill>
                  <a:srgbClr val="FF0000"/>
                </a:solidFill>
                <a:latin typeface="Söhne"/>
              </a:rPr>
              <a:t>Network is unfolded for L steps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(when you train, you predict L-step time ahead)</a:t>
            </a:r>
            <a:endParaRPr lang="en-US" dirty="0">
              <a:solidFill>
                <a:srgbClr val="0D0D0D"/>
              </a:solidFill>
              <a:latin typeface="Söhne"/>
            </a:endParaRPr>
          </a:p>
        </p:txBody>
      </p:sp>
      <p:pic>
        <p:nvPicPr>
          <p:cNvPr id="5" name="Immagine 4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\mathcal{L} = \frac{1}{T} \sum_{t=0}^{T} \left\|\hat{y}(t) - y(t)\right\|^2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2253E35A-AA59-26C3-6799-4D6E114F027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881" y="1353224"/>
            <a:ext cx="2573358" cy="702540"/>
          </a:xfrm>
          <a:prstGeom prst="rect">
            <a:avLst/>
          </a:prstGeom>
        </p:spPr>
      </p:pic>
      <p:pic>
        <p:nvPicPr>
          <p:cNvPr id="70" name="Immagine 69" descr="Immagine che contiene testo, Diagramma, schermata, linea&#10;&#10;Descrizione generata automaticamente">
            <a:extLst>
              <a:ext uri="{FF2B5EF4-FFF2-40B4-BE49-F238E27FC236}">
                <a16:creationId xmlns:a16="http://schemas.microsoft.com/office/drawing/2014/main" id="{254E35EF-F027-96CB-8056-6ABA916309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3593760"/>
            <a:ext cx="4248929" cy="2832619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5DCC088D-A776-972B-D720-6508047964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640" y="3651877"/>
            <a:ext cx="4945156" cy="217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560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Vanilla Recurrent </a:t>
            </a:r>
            <a:r>
              <a:rPr lang="en-US" sz="3600">
                <a:solidFill>
                  <a:schemeClr val="accent1"/>
                </a:solidFill>
              </a:rPr>
              <a:t>Neural Network</a:t>
            </a:r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e 3">
            <a:extLst>
              <a:ext uri="{FF2B5EF4-FFF2-40B4-BE49-F238E27FC236}">
                <a16:creationId xmlns:a16="http://schemas.microsoft.com/office/drawing/2014/main" id="{A2A16272-8FC0-707E-ABD2-7CEC1648BFC5}"/>
              </a:ext>
            </a:extLst>
          </p:cNvPr>
          <p:cNvSpPr/>
          <p:nvPr/>
        </p:nvSpPr>
        <p:spPr>
          <a:xfrm>
            <a:off x="9565177" y="2499717"/>
            <a:ext cx="880110" cy="8762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9C3B526F-92CA-3BF6-9C14-E82FF0B509CB}"/>
              </a:ext>
            </a:extLst>
          </p:cNvPr>
          <p:cNvCxnSpPr>
            <a:cxnSpLocks/>
            <a:endCxn id="4" idx="4"/>
          </p:cNvCxnSpPr>
          <p:nvPr/>
        </p:nvCxnSpPr>
        <p:spPr>
          <a:xfrm flipV="1">
            <a:off x="10005232" y="3376016"/>
            <a:ext cx="0" cy="7524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61C5ADFD-F859-294E-2A4E-FF63E2946812}"/>
              </a:ext>
            </a:extLst>
          </p:cNvPr>
          <p:cNvCxnSpPr>
            <a:cxnSpLocks/>
          </p:cNvCxnSpPr>
          <p:nvPr/>
        </p:nvCxnSpPr>
        <p:spPr>
          <a:xfrm flipV="1">
            <a:off x="9993802" y="1749687"/>
            <a:ext cx="0" cy="7524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curvo 16">
            <a:extLst>
              <a:ext uri="{FF2B5EF4-FFF2-40B4-BE49-F238E27FC236}">
                <a16:creationId xmlns:a16="http://schemas.microsoft.com/office/drawing/2014/main" id="{E54E42E6-A2CD-D7DB-0885-B6849F4FE4DE}"/>
              </a:ext>
            </a:extLst>
          </p:cNvPr>
          <p:cNvCxnSpPr>
            <a:cxnSpLocks/>
            <a:stCxn id="4" idx="7"/>
            <a:endCxn id="4" idx="5"/>
          </p:cNvCxnSpPr>
          <p:nvPr/>
        </p:nvCxnSpPr>
        <p:spPr>
          <a:xfrm rot="16200000" flipH="1">
            <a:off x="10006579" y="2937866"/>
            <a:ext cx="619637" cy="12700"/>
          </a:xfrm>
          <a:prstGeom prst="curvedConnector5">
            <a:avLst>
              <a:gd name="adj1" fmla="val -36893"/>
              <a:gd name="adj2" fmla="val 4265126"/>
              <a:gd name="adj3" fmla="val 13689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D4ECA975-7F7B-7AD2-E16F-C33969DB553B}"/>
              </a:ext>
            </a:extLst>
          </p:cNvPr>
          <p:cNvSpPr txBox="1"/>
          <p:nvPr/>
        </p:nvSpPr>
        <p:spPr>
          <a:xfrm>
            <a:off x="10073812" y="3861792"/>
            <a:ext cx="733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u(t)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13BBC1D2-DFEA-5331-61BB-22F132570C48}"/>
              </a:ext>
            </a:extLst>
          </p:cNvPr>
          <p:cNvSpPr txBox="1"/>
          <p:nvPr/>
        </p:nvSpPr>
        <p:spPr>
          <a:xfrm>
            <a:off x="10260502" y="2064890"/>
            <a:ext cx="971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h(t)</a:t>
            </a:r>
          </a:p>
        </p:txBody>
      </p:sp>
      <p:pic>
        <p:nvPicPr>
          <p:cNvPr id="31" name="Immagine 30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h(t) = f(h(t-1), u(t); \red{W_f})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82C3BD8B-81F7-D48C-4BEF-BC6A06D5638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509" y="4663551"/>
            <a:ext cx="2845986" cy="252530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22A94644-5E3D-2B23-63D7-D744622951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34" y="1639956"/>
            <a:ext cx="8029575" cy="1095375"/>
          </a:xfrm>
          <a:prstGeom prst="rect">
            <a:avLst/>
          </a:prstGeom>
        </p:spPr>
      </p:pic>
      <p:pic>
        <p:nvPicPr>
          <p:cNvPr id="22" name="Immagine 21">
            <a:extLst>
              <a:ext uri="{FF2B5EF4-FFF2-40B4-BE49-F238E27FC236}">
                <a16:creationId xmlns:a16="http://schemas.microsoft.com/office/drawing/2014/main" id="{2AD2E289-0AD7-FF21-8C82-323D80FD14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927" y="2985320"/>
            <a:ext cx="5262234" cy="2860606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6440EECE-74C9-7983-7865-6761CE1CCF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298" y="798802"/>
            <a:ext cx="6582694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622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Recurrent Neural Networks: </a:t>
            </a:r>
            <a:r>
              <a:rPr lang="en-US" sz="3600" dirty="0" err="1">
                <a:solidFill>
                  <a:schemeClr val="accent1"/>
                </a:solidFill>
              </a:rPr>
              <a:t>Pytorch</a:t>
            </a:r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magine 2">
            <a:extLst>
              <a:ext uri="{FF2B5EF4-FFF2-40B4-BE49-F238E27FC236}">
                <a16:creationId xmlns:a16="http://schemas.microsoft.com/office/drawing/2014/main" id="{9141023A-9C41-62EC-7C98-864A3B296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82" y="840538"/>
            <a:ext cx="5326770" cy="4094883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BDCB38C-F35A-8BE8-6979-DFA9B6CB6B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4050" y="824948"/>
            <a:ext cx="6443662" cy="3037439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79C081B6-E223-D31F-F281-9154765B52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4" y="3991421"/>
            <a:ext cx="5038725" cy="210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55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LSTM: </a:t>
            </a:r>
            <a:r>
              <a:rPr lang="en-US" sz="3600">
                <a:solidFill>
                  <a:schemeClr val="accent1"/>
                </a:solidFill>
              </a:rPr>
              <a:t>Long Short-Term </a:t>
            </a:r>
            <a:r>
              <a:rPr lang="en-US" sz="3600" dirty="0">
                <a:solidFill>
                  <a:schemeClr val="accent1"/>
                </a:solidFill>
              </a:rPr>
              <a:t>Memory Neural Networks</a:t>
            </a: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e 3">
            <a:extLst>
              <a:ext uri="{FF2B5EF4-FFF2-40B4-BE49-F238E27FC236}">
                <a16:creationId xmlns:a16="http://schemas.microsoft.com/office/drawing/2014/main" id="{A2A16272-8FC0-707E-ABD2-7CEC1648BFC5}"/>
              </a:ext>
            </a:extLst>
          </p:cNvPr>
          <p:cNvSpPr/>
          <p:nvPr/>
        </p:nvSpPr>
        <p:spPr>
          <a:xfrm>
            <a:off x="9754544" y="1788228"/>
            <a:ext cx="880110" cy="8762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9C3B526F-92CA-3BF6-9C14-E82FF0B509CB}"/>
              </a:ext>
            </a:extLst>
          </p:cNvPr>
          <p:cNvCxnSpPr>
            <a:cxnSpLocks/>
            <a:endCxn id="4" idx="4"/>
          </p:cNvCxnSpPr>
          <p:nvPr/>
        </p:nvCxnSpPr>
        <p:spPr>
          <a:xfrm flipV="1">
            <a:off x="10194599" y="2664527"/>
            <a:ext cx="0" cy="7524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61C5ADFD-F859-294E-2A4E-FF63E2946812}"/>
              </a:ext>
            </a:extLst>
          </p:cNvPr>
          <p:cNvCxnSpPr>
            <a:cxnSpLocks/>
          </p:cNvCxnSpPr>
          <p:nvPr/>
        </p:nvCxnSpPr>
        <p:spPr>
          <a:xfrm flipV="1">
            <a:off x="10183169" y="1038198"/>
            <a:ext cx="0" cy="7524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curvo 16">
            <a:extLst>
              <a:ext uri="{FF2B5EF4-FFF2-40B4-BE49-F238E27FC236}">
                <a16:creationId xmlns:a16="http://schemas.microsoft.com/office/drawing/2014/main" id="{E54E42E6-A2CD-D7DB-0885-B6849F4FE4DE}"/>
              </a:ext>
            </a:extLst>
          </p:cNvPr>
          <p:cNvCxnSpPr>
            <a:cxnSpLocks/>
            <a:stCxn id="4" idx="7"/>
            <a:endCxn id="4" idx="5"/>
          </p:cNvCxnSpPr>
          <p:nvPr/>
        </p:nvCxnSpPr>
        <p:spPr>
          <a:xfrm rot="16200000" flipH="1">
            <a:off x="10195946" y="2226377"/>
            <a:ext cx="619637" cy="12700"/>
          </a:xfrm>
          <a:prstGeom prst="curvedConnector5">
            <a:avLst>
              <a:gd name="adj1" fmla="val -36893"/>
              <a:gd name="adj2" fmla="val 4265126"/>
              <a:gd name="adj3" fmla="val 13689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D4ECA975-7F7B-7AD2-E16F-C33969DB553B}"/>
              </a:ext>
            </a:extLst>
          </p:cNvPr>
          <p:cNvSpPr txBox="1"/>
          <p:nvPr/>
        </p:nvSpPr>
        <p:spPr>
          <a:xfrm>
            <a:off x="10263179" y="3150303"/>
            <a:ext cx="733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u(t)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13BBC1D2-DFEA-5331-61BB-22F132570C48}"/>
              </a:ext>
            </a:extLst>
          </p:cNvPr>
          <p:cNvSpPr txBox="1"/>
          <p:nvPr/>
        </p:nvSpPr>
        <p:spPr>
          <a:xfrm>
            <a:off x="10275639" y="920970"/>
            <a:ext cx="971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h(t)</a:t>
            </a:r>
          </a:p>
        </p:txBody>
      </p:sp>
      <p:pic>
        <p:nvPicPr>
          <p:cNvPr id="21" name="Immagine 20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h(t) = f_h(c(t), h(t-1), u(t); \red{W_h})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DE5A1BBB-C0C5-16AC-54F0-4526B6EB0DF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7943" y="4546672"/>
            <a:ext cx="3433183" cy="242044"/>
          </a:xfrm>
          <a:prstGeom prst="rect">
            <a:avLst/>
          </a:prstGeom>
        </p:spPr>
      </p:pic>
      <p:pic>
        <p:nvPicPr>
          <p:cNvPr id="14" name="Immagine 13" descr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c(t) = f_c(c(t-1), h(t-1), u(t); \red{W_c})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0E9FD020-CF0E-C3C0-C2FB-18D4743EDDC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7943" y="4000283"/>
            <a:ext cx="3765230" cy="242044"/>
          </a:xfrm>
          <a:prstGeom prst="rect">
            <a:avLst/>
          </a:prstGeom>
        </p:spPr>
      </p:pic>
      <p:grpSp>
        <p:nvGrpSpPr>
          <p:cNvPr id="39" name="Gruppo 38">
            <a:extLst>
              <a:ext uri="{FF2B5EF4-FFF2-40B4-BE49-F238E27FC236}">
                <a16:creationId xmlns:a16="http://schemas.microsoft.com/office/drawing/2014/main" id="{A4FD21F8-261A-069C-3CA5-F239E4206E45}"/>
              </a:ext>
            </a:extLst>
          </p:cNvPr>
          <p:cNvGrpSpPr/>
          <p:nvPr/>
        </p:nvGrpSpPr>
        <p:grpSpPr>
          <a:xfrm>
            <a:off x="323850" y="728465"/>
            <a:ext cx="4391025" cy="2395328"/>
            <a:chOff x="771525" y="1365835"/>
            <a:chExt cx="4791075" cy="2529165"/>
          </a:xfrm>
        </p:grpSpPr>
        <p:pic>
          <p:nvPicPr>
            <p:cNvPr id="33" name="Immagine 32">
              <a:extLst>
                <a:ext uri="{FF2B5EF4-FFF2-40B4-BE49-F238E27FC236}">
                  <a16:creationId xmlns:a16="http://schemas.microsoft.com/office/drawing/2014/main" id="{6FF1A267-ED52-2411-8E6F-B10135B0F24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1525" y="1365835"/>
              <a:ext cx="4381499" cy="2516928"/>
            </a:xfrm>
            <a:prstGeom prst="rect">
              <a:avLst/>
            </a:prstGeom>
          </p:spPr>
        </p:pic>
        <p:sp>
          <p:nvSpPr>
            <p:cNvPr id="36" name="CasellaDiTesto 35">
              <a:extLst>
                <a:ext uri="{FF2B5EF4-FFF2-40B4-BE49-F238E27FC236}">
                  <a16:creationId xmlns:a16="http://schemas.microsoft.com/office/drawing/2014/main" id="{E9F40930-C3A5-EB99-AD95-4348B7C3D31E}"/>
                </a:ext>
              </a:extLst>
            </p:cNvPr>
            <p:cNvSpPr txBox="1"/>
            <p:nvPr/>
          </p:nvSpPr>
          <p:spPr>
            <a:xfrm>
              <a:off x="1335881" y="3664168"/>
              <a:ext cx="422671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00" dirty="0"/>
                <a:t>Image by Guillaume Chevalier, CC BY-SA 4.0, via Wikimedia Commons</a:t>
              </a:r>
            </a:p>
          </p:txBody>
        </p:sp>
      </p:grp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66F06E4D-E534-9BC1-B13A-194DFFABD53F}"/>
              </a:ext>
            </a:extLst>
          </p:cNvPr>
          <p:cNvSpPr txBox="1"/>
          <p:nvPr/>
        </p:nvSpPr>
        <p:spPr>
          <a:xfrm>
            <a:off x="5466995" y="6336134"/>
            <a:ext cx="67250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Hochreiter</a:t>
            </a:r>
            <a:r>
              <a:rPr lang="en-US" sz="1200" dirty="0"/>
              <a:t>, S., &amp; </a:t>
            </a:r>
            <a:r>
              <a:rPr lang="en-US" sz="1200" dirty="0" err="1"/>
              <a:t>Schmidhuber</a:t>
            </a:r>
            <a:r>
              <a:rPr lang="en-US" sz="1200" dirty="0"/>
              <a:t>, J. (1997). Long short-term memory. Neural Computation, 9(8), 1735–1780</a:t>
            </a:r>
          </a:p>
        </p:txBody>
      </p:sp>
      <p:pic>
        <p:nvPicPr>
          <p:cNvPr id="41" name="Immagine 40">
            <a:extLst>
              <a:ext uri="{FF2B5EF4-FFF2-40B4-BE49-F238E27FC236}">
                <a16:creationId xmlns:a16="http://schemas.microsoft.com/office/drawing/2014/main" id="{F5BBE681-934F-D109-3CF3-724C4849C2E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6865"/>
          <a:stretch/>
        </p:blipFill>
        <p:spPr>
          <a:xfrm>
            <a:off x="161570" y="3226914"/>
            <a:ext cx="6629755" cy="843241"/>
          </a:xfrm>
          <a:prstGeom prst="rect">
            <a:avLst/>
          </a:prstGeom>
        </p:spPr>
      </p:pic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E7FCFF74-1402-65C8-3E26-59A38DA51D39}"/>
              </a:ext>
            </a:extLst>
          </p:cNvPr>
          <p:cNvSpPr txBox="1"/>
          <p:nvPr/>
        </p:nvSpPr>
        <p:spPr>
          <a:xfrm>
            <a:off x="11049216" y="1824991"/>
            <a:ext cx="971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h(t)</a:t>
            </a:r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E850AD86-4B40-798E-9A55-7160A667B599}"/>
              </a:ext>
            </a:extLst>
          </p:cNvPr>
          <p:cNvSpPr txBox="1"/>
          <p:nvPr/>
        </p:nvSpPr>
        <p:spPr>
          <a:xfrm>
            <a:off x="11046134" y="2293685"/>
            <a:ext cx="971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c(t)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AF85A48-3663-9C7B-C3B1-95C34C3EB8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381" y="4242327"/>
            <a:ext cx="4457345" cy="234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788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448638" y="2767729"/>
            <a:ext cx="117433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Backpropagation</a:t>
            </a: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638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Back-propagation I</a:t>
            </a: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tangolo 1">
            <a:extLst>
              <a:ext uri="{FF2B5EF4-FFF2-40B4-BE49-F238E27FC236}">
                <a16:creationId xmlns:a16="http://schemas.microsoft.com/office/drawing/2014/main" id="{5323F293-01DD-E0EC-ED48-24FC3EAF87E3}"/>
              </a:ext>
            </a:extLst>
          </p:cNvPr>
          <p:cNvSpPr/>
          <p:nvPr/>
        </p:nvSpPr>
        <p:spPr>
          <a:xfrm>
            <a:off x="1304925" y="1486085"/>
            <a:ext cx="885825" cy="11334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Layer 1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0A2CC10D-6AFF-2654-F2B8-9BC715037F3F}"/>
              </a:ext>
            </a:extLst>
          </p:cNvPr>
          <p:cNvSpPr/>
          <p:nvPr/>
        </p:nvSpPr>
        <p:spPr>
          <a:xfrm>
            <a:off x="3829050" y="1505135"/>
            <a:ext cx="885825" cy="11334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Layer 2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CA2B4653-5D1B-A458-165A-3F69DB9C147F}"/>
              </a:ext>
            </a:extLst>
          </p:cNvPr>
          <p:cNvSpPr/>
          <p:nvPr/>
        </p:nvSpPr>
        <p:spPr>
          <a:xfrm>
            <a:off x="6353175" y="1486085"/>
            <a:ext cx="885825" cy="11334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Layer 3</a:t>
            </a: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9F2AB4B6-8328-7B59-6ABE-0B8E9C02E26D}"/>
              </a:ext>
            </a:extLst>
          </p:cNvPr>
          <p:cNvCxnSpPr>
            <a:cxnSpLocks/>
          </p:cNvCxnSpPr>
          <p:nvPr/>
        </p:nvCxnSpPr>
        <p:spPr>
          <a:xfrm>
            <a:off x="352425" y="1748020"/>
            <a:ext cx="952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Immagine 48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1 = x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12821C7A-D92E-12D4-0C95-10F20512D16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090" y="1476187"/>
            <a:ext cx="562469" cy="179931"/>
          </a:xfrm>
          <a:prstGeom prst="rect">
            <a:avLst/>
          </a:prstGeom>
        </p:spPr>
      </p:pic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7259152A-97EF-94AD-F72E-61DEB78939EB}"/>
              </a:ext>
            </a:extLst>
          </p:cNvPr>
          <p:cNvCxnSpPr>
            <a:cxnSpLocks/>
          </p:cNvCxnSpPr>
          <p:nvPr/>
        </p:nvCxnSpPr>
        <p:spPr>
          <a:xfrm>
            <a:off x="2197523" y="1748020"/>
            <a:ext cx="1631527" cy="9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Immagine 57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2 = f_1(z^1;\theta_1)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4C129DE2-CBC6-455F-B666-02BE9A78C94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968" y="1476187"/>
            <a:ext cx="1252937" cy="228206"/>
          </a:xfrm>
          <a:prstGeom prst="rect">
            <a:avLst/>
          </a:prstGeom>
        </p:spPr>
      </p:pic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FBA1E4A4-BC7C-C3AB-CF42-0CC6DD30AF5B}"/>
              </a:ext>
            </a:extLst>
          </p:cNvPr>
          <p:cNvCxnSpPr>
            <a:cxnSpLocks/>
          </p:cNvCxnSpPr>
          <p:nvPr/>
        </p:nvCxnSpPr>
        <p:spPr>
          <a:xfrm>
            <a:off x="4693073" y="1748020"/>
            <a:ext cx="1631527" cy="9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44820A34-84CA-C8D0-4604-CE491D548DA5}"/>
              </a:ext>
            </a:extLst>
          </p:cNvPr>
          <p:cNvCxnSpPr>
            <a:cxnSpLocks/>
          </p:cNvCxnSpPr>
          <p:nvPr/>
        </p:nvCxnSpPr>
        <p:spPr>
          <a:xfrm>
            <a:off x="7069882" y="1748020"/>
            <a:ext cx="1631527" cy="9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Immagine 61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4 = f_3(z^3,\theta_3) = \ell(x; \theta)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4E260D81-6345-8B60-91E0-5AAA539B8C8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411" y="1476187"/>
            <a:ext cx="2070673" cy="228937"/>
          </a:xfrm>
          <a:prstGeom prst="rect">
            <a:avLst/>
          </a:prstGeom>
        </p:spPr>
      </p:pic>
      <p:pic>
        <p:nvPicPr>
          <p:cNvPr id="32" name="Immagine 31" descr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1}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B6AC9189-D2CB-9453-6889-B7BD787BF45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459" y="2352675"/>
            <a:ext cx="162009" cy="181972"/>
          </a:xfrm>
          <a:prstGeom prst="rect">
            <a:avLst/>
          </a:prstGeom>
        </p:spPr>
      </p:pic>
      <p:pic>
        <p:nvPicPr>
          <p:cNvPr id="35" name="Immagine 34" descr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2}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83829FC8-81E3-B4F7-9CCC-D6C718501DF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4059" y="2371725"/>
            <a:ext cx="166616" cy="181972"/>
          </a:xfrm>
          <a:prstGeom prst="rect">
            <a:avLst/>
          </a:prstGeom>
        </p:spPr>
      </p:pic>
      <p:pic>
        <p:nvPicPr>
          <p:cNvPr id="38" name="Immagine 37" descr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3}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AB96CF02-22AB-37E9-DFE8-992BA346D1AB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184" y="2371726"/>
            <a:ext cx="168152" cy="185043"/>
          </a:xfrm>
          <a:prstGeom prst="rect">
            <a:avLst/>
          </a:prstGeom>
        </p:spPr>
      </p:pic>
      <p:pic>
        <p:nvPicPr>
          <p:cNvPr id="64" name="Immagine 63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ell(x; \theta) = \left(y_k - \hat{y}_k(x_k;\theta) \right)^2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ADCA9DF8-8FD1-6C44-237E-41A8EE55E5A4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0672" y="793445"/>
            <a:ext cx="3380299" cy="369738"/>
          </a:xfrm>
          <a:prstGeom prst="rect">
            <a:avLst/>
          </a:prstGeom>
        </p:spPr>
      </p:pic>
      <p:pic>
        <p:nvPicPr>
          <p:cNvPr id="104" name="Immagine 103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3 = f_2(z^2;\theta_2)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F80328E5-C2C1-0947-3AE6-E528E983443E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662" y="1476187"/>
            <a:ext cx="1252938" cy="228206"/>
          </a:xfrm>
          <a:prstGeom prst="rect">
            <a:avLst/>
          </a:prstGeom>
        </p:spPr>
      </p:pic>
      <p:sp>
        <p:nvSpPr>
          <p:cNvPr id="65" name="CasellaDiTesto 64">
            <a:extLst>
              <a:ext uri="{FF2B5EF4-FFF2-40B4-BE49-F238E27FC236}">
                <a16:creationId xmlns:a16="http://schemas.microsoft.com/office/drawing/2014/main" id="{4DE0EF51-3F79-A5F4-DA59-3B6DAC37BCC6}"/>
              </a:ext>
            </a:extLst>
          </p:cNvPr>
          <p:cNvSpPr txBox="1"/>
          <p:nvPr/>
        </p:nvSpPr>
        <p:spPr>
          <a:xfrm>
            <a:off x="4253865" y="3288848"/>
            <a:ext cx="2496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we want:</a:t>
            </a:r>
          </a:p>
        </p:txBody>
      </p:sp>
      <p:pic>
        <p:nvPicPr>
          <p:cNvPr id="71" name="Immagine 70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frac{\partial \ell}{\partial \theta_1}, \ \frac{\partial \ell}{\partial \theta_2}, \&#10;\frac{\partial \ell}{\partial \theta_3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0F7FE1B3-65D4-CFD6-FE04-5AE4B8F0E486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283" y="3262221"/>
            <a:ext cx="1461874" cy="500729"/>
          </a:xfrm>
          <a:prstGeom prst="rect">
            <a:avLst/>
          </a:prstGeom>
        </p:spPr>
      </p:pic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B3CFBAAB-86FD-86CD-67D6-696FAA89DD10}"/>
              </a:ext>
            </a:extLst>
          </p:cNvPr>
          <p:cNvSpPr txBox="1"/>
          <p:nvPr/>
        </p:nvSpPr>
        <p:spPr>
          <a:xfrm>
            <a:off x="375415" y="4061061"/>
            <a:ext cx="3987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Idea: Back propagate </a:t>
            </a:r>
          </a:p>
        </p:txBody>
      </p:sp>
      <p:pic>
        <p:nvPicPr>
          <p:cNvPr id="8" name="Immagine 7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L = \frac{\partial \ell}{\partial z^{L}}, \ \ L=4,3,2,1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A0896280-910A-4137-7DD5-286BC55BA644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912" y="4009745"/>
            <a:ext cx="2384316" cy="468476"/>
          </a:xfrm>
          <a:prstGeom prst="rect">
            <a:avLst/>
          </a:prstGeom>
        </p:spPr>
      </p:pic>
      <p:grpSp>
        <p:nvGrpSpPr>
          <p:cNvPr id="9" name="Gruppo 8">
            <a:extLst>
              <a:ext uri="{FF2B5EF4-FFF2-40B4-BE49-F238E27FC236}">
                <a16:creationId xmlns:a16="http://schemas.microsoft.com/office/drawing/2014/main" id="{DE43AFEF-32AA-F5FC-D195-7E49F2EA8899}"/>
              </a:ext>
            </a:extLst>
          </p:cNvPr>
          <p:cNvGrpSpPr/>
          <p:nvPr/>
        </p:nvGrpSpPr>
        <p:grpSpPr>
          <a:xfrm>
            <a:off x="352425" y="4723005"/>
            <a:ext cx="8568059" cy="1323612"/>
            <a:chOff x="352425" y="4886510"/>
            <a:chExt cx="8568059" cy="1323612"/>
          </a:xfrm>
        </p:grpSpPr>
        <p:sp>
          <p:nvSpPr>
            <p:cNvPr id="78" name="Rettangolo 77">
              <a:extLst>
                <a:ext uri="{FF2B5EF4-FFF2-40B4-BE49-F238E27FC236}">
                  <a16:creationId xmlns:a16="http://schemas.microsoft.com/office/drawing/2014/main" id="{74D8548C-720F-D3DE-A522-F29F62EB12DE}"/>
                </a:ext>
              </a:extLst>
            </p:cNvPr>
            <p:cNvSpPr/>
            <p:nvPr/>
          </p:nvSpPr>
          <p:spPr>
            <a:xfrm>
              <a:off x="1304925" y="4886510"/>
              <a:ext cx="885825" cy="11334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Layer 1</a:t>
              </a:r>
            </a:p>
          </p:txBody>
        </p:sp>
        <p:sp>
          <p:nvSpPr>
            <p:cNvPr id="79" name="Rettangolo 78">
              <a:extLst>
                <a:ext uri="{FF2B5EF4-FFF2-40B4-BE49-F238E27FC236}">
                  <a16:creationId xmlns:a16="http://schemas.microsoft.com/office/drawing/2014/main" id="{55F09404-B1AF-D4E4-4916-C6A92ECE3218}"/>
                </a:ext>
              </a:extLst>
            </p:cNvPr>
            <p:cNvSpPr/>
            <p:nvPr/>
          </p:nvSpPr>
          <p:spPr>
            <a:xfrm>
              <a:off x="3829050" y="4905560"/>
              <a:ext cx="885825" cy="11334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Layer 2</a:t>
              </a:r>
            </a:p>
          </p:txBody>
        </p:sp>
        <p:sp>
          <p:nvSpPr>
            <p:cNvPr id="80" name="Rettangolo 79">
              <a:extLst>
                <a:ext uri="{FF2B5EF4-FFF2-40B4-BE49-F238E27FC236}">
                  <a16:creationId xmlns:a16="http://schemas.microsoft.com/office/drawing/2014/main" id="{86CE06C8-D0DA-68FB-D5CC-89342E869063}"/>
                </a:ext>
              </a:extLst>
            </p:cNvPr>
            <p:cNvSpPr/>
            <p:nvPr/>
          </p:nvSpPr>
          <p:spPr>
            <a:xfrm>
              <a:off x="6353175" y="4886510"/>
              <a:ext cx="885825" cy="11334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Layer 3</a:t>
              </a:r>
            </a:p>
          </p:txBody>
        </p:sp>
        <p:cxnSp>
          <p:nvCxnSpPr>
            <p:cNvPr id="81" name="Connettore 2 80">
              <a:extLst>
                <a:ext uri="{FF2B5EF4-FFF2-40B4-BE49-F238E27FC236}">
                  <a16:creationId xmlns:a16="http://schemas.microsoft.com/office/drawing/2014/main" id="{5B830728-7389-ED4B-4B0D-4982B41A08A5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52425" y="5719945"/>
              <a:ext cx="9525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ttore 2 82">
              <a:extLst>
                <a:ext uri="{FF2B5EF4-FFF2-40B4-BE49-F238E27FC236}">
                  <a16:creationId xmlns:a16="http://schemas.microsoft.com/office/drawing/2014/main" id="{303E76EA-704F-E346-852E-AAA30C05E48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197523" y="5710204"/>
              <a:ext cx="1631527" cy="97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ttore 2 84">
              <a:extLst>
                <a:ext uri="{FF2B5EF4-FFF2-40B4-BE49-F238E27FC236}">
                  <a16:creationId xmlns:a16="http://schemas.microsoft.com/office/drawing/2014/main" id="{92C3BAF0-F777-0752-44E5-67587DE008C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693073" y="5710204"/>
              <a:ext cx="1631527" cy="97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ttore 2 85">
              <a:extLst>
                <a:ext uri="{FF2B5EF4-FFF2-40B4-BE49-F238E27FC236}">
                  <a16:creationId xmlns:a16="http://schemas.microsoft.com/office/drawing/2014/main" id="{E2907DCA-D81E-675C-E8FA-F9A757128BF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7288957" y="5710204"/>
              <a:ext cx="1631527" cy="97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3" name="Immagine 92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4 = \frac{\partial \ell}{\partial z^4} = 1 &#10; \end{align*}&#10;&#10;&#10;&#10;&#10;\end{document}" title="IguanaTex Bitmap Display">
              <a:extLst>
                <a:ext uri="{FF2B5EF4-FFF2-40B4-BE49-F238E27FC236}">
                  <a16:creationId xmlns:a16="http://schemas.microsoft.com/office/drawing/2014/main" id="{3ADB3918-99D7-0D7A-1D53-64AB91577CC4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4776" y="5785162"/>
              <a:ext cx="1165896" cy="424960"/>
            </a:xfrm>
            <a:prstGeom prst="rect">
              <a:avLst/>
            </a:prstGeom>
          </p:spPr>
        </p:pic>
        <p:pic>
          <p:nvPicPr>
            <p:cNvPr id="88" name="Immagine 87" descr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1}}&#10; \end{align*}&#10;&#10;&#10;&#10;&#10;\end{document}" title="IguanaTex Bitmap Display">
              <a:extLst>
                <a:ext uri="{FF2B5EF4-FFF2-40B4-BE49-F238E27FC236}">
                  <a16:creationId xmlns:a16="http://schemas.microsoft.com/office/drawing/2014/main" id="{E4BB582B-434B-FE2A-AACC-2402954E3B93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9459" y="5753100"/>
              <a:ext cx="162009" cy="181972"/>
            </a:xfrm>
            <a:prstGeom prst="rect">
              <a:avLst/>
            </a:prstGeom>
          </p:spPr>
        </p:pic>
        <p:pic>
          <p:nvPicPr>
            <p:cNvPr id="89" name="Immagine 88" descr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2}}&#10; \end{align*}&#10;&#10;&#10;&#10;&#10;\end{document}" title="IguanaTex Bitmap Display">
              <a:extLst>
                <a:ext uri="{FF2B5EF4-FFF2-40B4-BE49-F238E27FC236}">
                  <a16:creationId xmlns:a16="http://schemas.microsoft.com/office/drawing/2014/main" id="{08C5E665-ED21-9069-BFA5-01D349744961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74059" y="5772150"/>
              <a:ext cx="166616" cy="181972"/>
            </a:xfrm>
            <a:prstGeom prst="rect">
              <a:avLst/>
            </a:prstGeom>
          </p:spPr>
        </p:pic>
        <p:pic>
          <p:nvPicPr>
            <p:cNvPr id="90" name="Immagine 89" descr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3}}&#10; \end{align*}&#10;&#10;&#10;&#10;&#10;\end{document}" title="IguanaTex Bitmap Display">
              <a:extLst>
                <a:ext uri="{FF2B5EF4-FFF2-40B4-BE49-F238E27FC236}">
                  <a16:creationId xmlns:a16="http://schemas.microsoft.com/office/drawing/2014/main" id="{1CA5AD2B-66AE-3FA7-CEAC-ECBB2EBDB774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98184" y="5772151"/>
              <a:ext cx="168152" cy="185043"/>
            </a:xfrm>
            <a:prstGeom prst="rect">
              <a:avLst/>
            </a:prstGeom>
          </p:spPr>
        </p:pic>
        <p:pic>
          <p:nvPicPr>
            <p:cNvPr id="96" name="Immagine 95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3 = \frac{\partial \ell}{\partial z^3} &#10; \end{align*}&#10;&#10;&#10;&#10;&#10;\end{document}" title="IguanaTex Bitmap Display">
              <a:extLst>
                <a:ext uri="{FF2B5EF4-FFF2-40B4-BE49-F238E27FC236}">
                  <a16:creationId xmlns:a16="http://schemas.microsoft.com/office/drawing/2014/main" id="{93D9BD50-A32C-3214-CD0D-DAF10A56892B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30167" y="5785162"/>
              <a:ext cx="787748" cy="424960"/>
            </a:xfrm>
            <a:prstGeom prst="rect">
              <a:avLst/>
            </a:prstGeom>
          </p:spPr>
        </p:pic>
        <p:pic>
          <p:nvPicPr>
            <p:cNvPr id="99" name="Immagine 98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2 = \frac{\partial \ell}{\partial z^2} &#10; \end{align*}&#10;&#10;&#10;&#10;&#10;\end{document}" title="IguanaTex Bitmap Display">
              <a:extLst>
                <a:ext uri="{FF2B5EF4-FFF2-40B4-BE49-F238E27FC236}">
                  <a16:creationId xmlns:a16="http://schemas.microsoft.com/office/drawing/2014/main" id="{20099E68-DC7B-03F8-7654-D6C234C6D771}"/>
                </a:ext>
              </a:extLst>
            </p:cNvPr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09023" y="5785162"/>
              <a:ext cx="787748" cy="424960"/>
            </a:xfrm>
            <a:prstGeom prst="rect">
              <a:avLst/>
            </a:prstGeom>
          </p:spPr>
        </p:pic>
        <p:pic>
          <p:nvPicPr>
            <p:cNvPr id="102" name="Immagine 101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1 = \frac{\partial \ell}{\partial z^1} &#10; \end{align*}&#10;&#10;&#10;&#10;&#10;\end{document}" title="IguanaTex Bitmap Display">
              <a:extLst>
                <a:ext uri="{FF2B5EF4-FFF2-40B4-BE49-F238E27FC236}">
                  <a16:creationId xmlns:a16="http://schemas.microsoft.com/office/drawing/2014/main" id="{260064DC-9DDD-D260-8699-34BFBEA5C6F0}"/>
                </a:ext>
              </a:extLst>
            </p:cNvPr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7770" y="5785162"/>
              <a:ext cx="787748" cy="424960"/>
            </a:xfrm>
            <a:prstGeom prst="rect">
              <a:avLst/>
            </a:prstGeom>
          </p:spPr>
        </p:pic>
      </p:grpSp>
      <p:sp>
        <p:nvSpPr>
          <p:cNvPr id="5" name="Rettangolo 4">
            <a:extLst>
              <a:ext uri="{FF2B5EF4-FFF2-40B4-BE49-F238E27FC236}">
                <a16:creationId xmlns:a16="http://schemas.microsoft.com/office/drawing/2014/main" id="{8C27A533-7688-DC05-367F-4D2698FBF2AE}"/>
              </a:ext>
            </a:extLst>
          </p:cNvPr>
          <p:cNvSpPr/>
          <p:nvPr/>
        </p:nvSpPr>
        <p:spPr>
          <a:xfrm>
            <a:off x="4195646" y="3144068"/>
            <a:ext cx="3582469" cy="731554"/>
          </a:xfrm>
          <a:prstGeom prst="rect">
            <a:avLst/>
          </a:prstGeom>
          <a:solidFill>
            <a:schemeClr val="accent1">
              <a:lumMod val="20000"/>
              <a:lumOff val="80000"/>
              <a:alpha val="32000"/>
            </a:schemeClr>
          </a:solidFill>
          <a:ln>
            <a:solidFill>
              <a:schemeClr val="accent1">
                <a:lumMod val="20000"/>
                <a:lumOff val="80000"/>
                <a:alpha val="1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2849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72" grpId="0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Back-propagation II</a:t>
            </a: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210F2D5-6B5B-DB20-1AC8-4DD1186975B7}"/>
              </a:ext>
            </a:extLst>
          </p:cNvPr>
          <p:cNvSpPr txBox="1"/>
          <p:nvPr/>
        </p:nvSpPr>
        <p:spPr>
          <a:xfrm>
            <a:off x="329420" y="640409"/>
            <a:ext cx="2457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Focus on Layer L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95BD6349-F0E8-FF8E-144D-15A578BD0166}"/>
              </a:ext>
            </a:extLst>
          </p:cNvPr>
          <p:cNvSpPr/>
          <p:nvPr/>
        </p:nvSpPr>
        <p:spPr>
          <a:xfrm>
            <a:off x="2452687" y="1912540"/>
            <a:ext cx="885825" cy="11334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Layer L</a:t>
            </a: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698F589E-8B2F-D04A-5864-854F7D9CAD65}"/>
              </a:ext>
            </a:extLst>
          </p:cNvPr>
          <p:cNvCxnSpPr>
            <a:cxnSpLocks/>
          </p:cNvCxnSpPr>
          <p:nvPr/>
        </p:nvCxnSpPr>
        <p:spPr>
          <a:xfrm rot="10800000">
            <a:off x="821160" y="2717184"/>
            <a:ext cx="1631527" cy="9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1AA89CED-D3D4-19E7-9FEE-6BEF6FE6D7A1}"/>
              </a:ext>
            </a:extLst>
          </p:cNvPr>
          <p:cNvCxnSpPr>
            <a:cxnSpLocks/>
          </p:cNvCxnSpPr>
          <p:nvPr/>
        </p:nvCxnSpPr>
        <p:spPr>
          <a:xfrm rot="10800000">
            <a:off x="3316710" y="2717184"/>
            <a:ext cx="1631527" cy="9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Immagine 20" descr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L}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E388954D-EA0A-F9A2-138A-55F105F857D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696" y="2779130"/>
            <a:ext cx="198864" cy="181972"/>
          </a:xfrm>
          <a:prstGeom prst="rect">
            <a:avLst/>
          </a:prstGeom>
        </p:spPr>
      </p:pic>
      <p:pic>
        <p:nvPicPr>
          <p:cNvPr id="27" name="Immagine 26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{L+1} = \frac{\partial \ell}{\partial z^{L+1}}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30342DA4-9E8D-985D-1832-4479963CD4E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804" y="2792142"/>
            <a:ext cx="1258788" cy="424960"/>
          </a:xfrm>
          <a:prstGeom prst="rect">
            <a:avLst/>
          </a:prstGeom>
        </p:spPr>
      </p:pic>
      <p:pic>
        <p:nvPicPr>
          <p:cNvPr id="25" name="Immagine 24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L = \frac{\partial \ell}{\partial z^{L}}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075F1C24-43EB-798C-5804-E7F70FF5274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660" y="2792142"/>
            <a:ext cx="848456" cy="424960"/>
          </a:xfrm>
          <a:prstGeom prst="rect">
            <a:avLst/>
          </a:prstGeom>
        </p:spPr>
      </p:pic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CC07ED1C-D231-7B41-837D-92E33D6159FF}"/>
              </a:ext>
            </a:extLst>
          </p:cNvPr>
          <p:cNvCxnSpPr>
            <a:cxnSpLocks/>
          </p:cNvCxnSpPr>
          <p:nvPr/>
        </p:nvCxnSpPr>
        <p:spPr>
          <a:xfrm>
            <a:off x="821160" y="2230819"/>
            <a:ext cx="1631527" cy="9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Immagine 34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L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FE8F7971-9139-3BF9-432D-8F3A23F77BB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145" y="1958986"/>
            <a:ext cx="197486" cy="182126"/>
          </a:xfrm>
          <a:prstGeom prst="rect">
            <a:avLst/>
          </a:prstGeom>
        </p:spPr>
      </p:pic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41C1B061-5181-DAB6-D853-6A796214D530}"/>
              </a:ext>
            </a:extLst>
          </p:cNvPr>
          <p:cNvCxnSpPr>
            <a:cxnSpLocks/>
          </p:cNvCxnSpPr>
          <p:nvPr/>
        </p:nvCxnSpPr>
        <p:spPr>
          <a:xfrm>
            <a:off x="3316710" y="2230819"/>
            <a:ext cx="1631527" cy="9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Immagine 32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{L+1} = f_{L}(z^L;\theta_L)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7C30DAAB-FCFB-685F-F97A-4AE106F59A5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299" y="1958986"/>
            <a:ext cx="1579156" cy="230400"/>
          </a:xfrm>
          <a:prstGeom prst="rect">
            <a:avLst/>
          </a:prstGeom>
        </p:spPr>
      </p:pic>
      <p:pic>
        <p:nvPicPr>
          <p:cNvPr id="9" name="Immagine 8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 \frac{\partial \ell}{\partial \theta_{L}}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359F569E-FD59-DA49-15A7-06C8EE2EC5E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5176" y="987186"/>
            <a:ext cx="334994" cy="451291"/>
          </a:xfrm>
          <a:prstGeom prst="rect">
            <a:avLst/>
          </a:prstGeom>
        </p:spPr>
      </p:pic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4B2BBC21-E3F3-56BE-8B2C-209C53F1E5A3}"/>
              </a:ext>
            </a:extLst>
          </p:cNvPr>
          <p:cNvCxnSpPr>
            <a:cxnSpLocks/>
          </p:cNvCxnSpPr>
          <p:nvPr/>
        </p:nvCxnSpPr>
        <p:spPr>
          <a:xfrm flipV="1">
            <a:off x="2895599" y="1489887"/>
            <a:ext cx="0" cy="422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tangolo 2">
            <a:extLst>
              <a:ext uri="{FF2B5EF4-FFF2-40B4-BE49-F238E27FC236}">
                <a16:creationId xmlns:a16="http://schemas.microsoft.com/office/drawing/2014/main" id="{11AB4F9E-E29B-A8FC-7B45-4E3F67779805}"/>
              </a:ext>
            </a:extLst>
          </p:cNvPr>
          <p:cNvSpPr/>
          <p:nvPr/>
        </p:nvSpPr>
        <p:spPr>
          <a:xfrm>
            <a:off x="6929030" y="2895354"/>
            <a:ext cx="4577298" cy="731554"/>
          </a:xfrm>
          <a:prstGeom prst="rect">
            <a:avLst/>
          </a:prstGeom>
          <a:solidFill>
            <a:schemeClr val="accent1">
              <a:lumMod val="20000"/>
              <a:lumOff val="80000"/>
              <a:alpha val="32000"/>
            </a:schemeClr>
          </a:solidFill>
          <a:ln>
            <a:solidFill>
              <a:schemeClr val="accent1">
                <a:lumMod val="20000"/>
                <a:lumOff val="80000"/>
                <a:alpha val="1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We have an interface to connect blocks/layers and recursively compute the derivatives!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455B8A6-6697-3BF0-2A5D-A50C93B1DC74}"/>
              </a:ext>
            </a:extLst>
          </p:cNvPr>
          <p:cNvSpPr txBox="1"/>
          <p:nvPr/>
        </p:nvSpPr>
        <p:spPr>
          <a:xfrm>
            <a:off x="555481" y="3759785"/>
            <a:ext cx="2457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Technicalities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3CE90D8-1C21-D810-A8E5-A35CE54716AB}"/>
              </a:ext>
            </a:extLst>
          </p:cNvPr>
          <p:cNvSpPr txBox="1"/>
          <p:nvPr/>
        </p:nvSpPr>
        <p:spPr>
          <a:xfrm>
            <a:off x="523875" y="4257675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Sigmoid activation function: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C7E787D7-ACAC-A6B5-2B6C-F480CAFEDD34}"/>
                  </a:ext>
                </a:extLst>
              </p:cNvPr>
              <p:cNvSpPr txBox="1"/>
              <p:nvPr/>
            </p:nvSpPr>
            <p:spPr bwMode="auto">
              <a:xfrm>
                <a:off x="3472686" y="4201124"/>
                <a:ext cx="4928363" cy="4177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rtlCol="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20000"/>
                  </a:spcBef>
                </a:pPr>
                <a14:m>
                  <m:oMath xmlns:m="http://schemas.openxmlformats.org/officeDocument/2006/math">
                    <m:r>
                      <a:rPr lang="it-CH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ＭＳ Ｐゴシック" pitchFamily="-112" charset="-128"/>
                      </a:rPr>
                      <m:t>𝜎</m:t>
                    </m:r>
                    <m:d>
                      <m:dPr>
                        <m:ctrlPr>
                          <a:rPr lang="it-CH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CH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it-CH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CH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CH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CH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it-CH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CH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it-CH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it-CH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  <m:r>
                      <a:rPr lang="it-CH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CH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it-CH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CH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it-CH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num>
                      <m:den>
                        <m:r>
                          <a:rPr lang="it-CH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it-CH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CH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it-CH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kern="0" dirty="0">
                    <a:ea typeface="ＭＳ Ｐゴシック" pitchFamily="-112" charset="-128"/>
                    <a:cs typeface="ＭＳ Ｐゴシック" pitchFamily="-112" charset="-128"/>
                  </a:rPr>
                  <a:t>; </a:t>
                </a:r>
                <a14:m>
                  <m:oMath xmlns:m="http://schemas.openxmlformats.org/officeDocument/2006/math">
                    <m:r>
                      <a:rPr lang="it-CH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ＭＳ Ｐゴシック" pitchFamily="-112" charset="-128"/>
                      </a:rPr>
                      <m:t> </m:t>
                    </m:r>
                    <m:r>
                      <a:rPr lang="it-CH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ＭＳ Ｐゴシック" pitchFamily="-112" charset="-128"/>
                      </a:rPr>
                      <m:t>𝜎</m:t>
                    </m:r>
                    <m:r>
                      <a:rPr lang="it-CH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ＭＳ Ｐゴシック" pitchFamily="-112" charset="-128"/>
                      </a:rPr>
                      <m:t>′</m:t>
                    </m:r>
                    <m:d>
                      <m:dPr>
                        <m:ctrlPr>
                          <a:rPr lang="it-CH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CH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it-CH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it-CH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ＭＳ Ｐゴシック" pitchFamily="-112" charset="-128"/>
                      </a:rPr>
                      <m:t>𝜎</m:t>
                    </m:r>
                    <m:d>
                      <m:dPr>
                        <m:ctrlPr>
                          <a:rPr lang="it-CH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CH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GB" kern="0" dirty="0">
                    <a:ea typeface="ＭＳ Ｐゴシック" pitchFamily="-112" charset="-128"/>
                    <a:cs typeface="ＭＳ Ｐゴシック" pitchFamily="-112" charset="-128"/>
                  </a:rPr>
                  <a:t>(1-</a:t>
                </a:r>
                <a:r>
                  <a:rPr lang="it-CH" kern="0" dirty="0">
                    <a:ea typeface="Cambria Math" panose="02040503050406030204" pitchFamily="18" charset="0"/>
                    <a:cs typeface="ＭＳ Ｐゴシック" pitchFamily="-112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it-CH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ＭＳ Ｐゴシック" pitchFamily="-112" charset="-128"/>
                      </a:rPr>
                      <m:t>𝜎</m:t>
                    </m:r>
                    <m:d>
                      <m:dPr>
                        <m:ctrlPr>
                          <a:rPr lang="it-CH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CH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GB" kern="0" dirty="0">
                    <a:ea typeface="ＭＳ Ｐゴシック" pitchFamily="-112" charset="-128"/>
                    <a:cs typeface="ＭＳ Ｐゴシック" pitchFamily="-112" charset="-128"/>
                  </a:rPr>
                  <a:t>)</a:t>
                </a:r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C7E787D7-ACAC-A6B5-2B6C-F480CAFED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72686" y="4201124"/>
                <a:ext cx="4928363" cy="417743"/>
              </a:xfrm>
              <a:prstGeom prst="rect">
                <a:avLst/>
              </a:prstGeom>
              <a:blipFill>
                <a:blip r:embed="rId22"/>
                <a:stretch>
                  <a:fillRect l="-1238" b="-2029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6EABBCA-10C5-0229-AD0D-7A98819A6956}"/>
              </a:ext>
            </a:extLst>
          </p:cNvPr>
          <p:cNvSpPr txBox="1"/>
          <p:nvPr/>
        </p:nvSpPr>
        <p:spPr>
          <a:xfrm>
            <a:off x="523875" y="4829047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Linear layer: </a:t>
            </a:r>
          </a:p>
        </p:txBody>
      </p:sp>
      <p:pic>
        <p:nvPicPr>
          <p:cNvPr id="50" name="Immagine 49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 z^{L+1} = Wz^L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C044289E-CD87-5948-5786-64FA55039B03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271" y="4900508"/>
            <a:ext cx="1254857" cy="207360"/>
          </a:xfrm>
          <a:prstGeom prst="rect">
            <a:avLst/>
          </a:prstGeom>
        </p:spPr>
      </p:pic>
      <p:pic>
        <p:nvPicPr>
          <p:cNvPr id="37" name="Immagine 36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 \frac{\partial z^{L+1}}{\partial z_i^{L}} = W_{:,i} \ \rightarrow \ \delta^{L} = \delta^{L+1} W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7DD3D073-8ED3-4BF8-E350-3E6A107D791B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229" y="4865618"/>
            <a:ext cx="2769185" cy="509074"/>
          </a:xfrm>
          <a:prstGeom prst="rect">
            <a:avLst/>
          </a:prstGeom>
        </p:spPr>
      </p:pic>
      <p:sp>
        <p:nvSpPr>
          <p:cNvPr id="5" name="CasellaDiTesto 71">
            <a:extLst>
              <a:ext uri="{FF2B5EF4-FFF2-40B4-BE49-F238E27FC236}">
                <a16:creationId xmlns:a16="http://schemas.microsoft.com/office/drawing/2014/main" id="{09508ED4-63D0-20A3-DA94-BE2987FBE190}"/>
              </a:ext>
            </a:extLst>
          </p:cNvPr>
          <p:cNvSpPr txBox="1"/>
          <p:nvPr/>
        </p:nvSpPr>
        <p:spPr>
          <a:xfrm>
            <a:off x="495766" y="5807855"/>
            <a:ext cx="11244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Algorithm: reverse-mode automatic differentiation. Application to neural network training is called </a:t>
            </a:r>
            <a:r>
              <a:rPr lang="en-GB" b="1" dirty="0"/>
              <a:t>back-propagation</a:t>
            </a:r>
            <a:r>
              <a:rPr lang="en-GB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5A4D03-0A8D-31A9-12E8-0D5FE4EC017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01049" y="3977327"/>
            <a:ext cx="2451983" cy="17303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AB9BF0-87BB-FD07-956F-06B21EF096D4}"/>
              </a:ext>
            </a:extLst>
          </p:cNvPr>
          <p:cNvSpPr txBox="1"/>
          <p:nvPr/>
        </p:nvSpPr>
        <p:spPr>
          <a:xfrm>
            <a:off x="486034" y="6317029"/>
            <a:ext cx="11219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/>
              <a:t>Baydin</a:t>
            </a:r>
            <a:r>
              <a:rPr lang="en-GB" sz="1200" dirty="0"/>
              <a:t>, A. G., Pearlmutter, B. A., Radul, A. A., &amp; Siskind, J. M. (2018). Automatic differentiation in machine learning: a survey. Journal of machine learning research, 18(153), 1-43.</a:t>
            </a:r>
            <a:endParaRPr lang="en-CH" sz="1200" dirty="0"/>
          </a:p>
        </p:txBody>
      </p:sp>
      <p:pic>
        <p:nvPicPr>
          <p:cNvPr id="10" name="Immagine 9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_i^L = \frac{\partial \ell}{\partial z_i^{L}} =   \frac{\partial \ell}{\partial z^{L+1}}  \frac{\partial z^{L+1}}{\partial z_i^{L}} =   \delta^{L+1}   \frac{\partial z^{L+1}}{\partial z_i^{L}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D9F3C78E-D4DE-3A37-59EB-519418849F2D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555" y="1349340"/>
            <a:ext cx="3601551" cy="509074"/>
          </a:xfrm>
          <a:prstGeom prst="rect">
            <a:avLst/>
          </a:prstGeom>
        </p:spPr>
      </p:pic>
      <p:pic>
        <p:nvPicPr>
          <p:cNvPr id="20" name="Immagine 19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 \frac{\partial \ell}{\partial \theta_L} = \sum_{i=1}^{n_{L+1}}   \frac{\partial \ell}{\partial z_i^{L+1}}  \frac{\partial z_i^{L+1}}{\partial \theta_L} =  \sum_{i=1}^{n_{L+1}}\delta_i^{L+1}   \frac{\partial z_i^{L+1}}{\partial \theta_L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18D59818-C409-1735-86A5-2D5EC5E0A48C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703" y="2068219"/>
            <a:ext cx="3915332" cy="57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57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/>
      <p:bldP spid="14" grpId="0"/>
      <p:bldP spid="17" grpId="0"/>
      <p:bldP spid="18" grpId="0"/>
      <p:bldP spid="5" grpId="1"/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746.1567"/>
  <p:tag name="ORIGINALWIDTH" val="3876.266"/>
  <p:tag name="LATEXADDIN" val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definecolor{dgreen}{RGB}{0,100,0}&#10;\begin{document}&#10;&#10; \begin{align*}&#10;\textcolor{dgreen}{z_1^2} =\sigma\left(\sum_{j=1}^4 w^1_{1,j}\textcolor{red}{z^1_j} + b_1^1\right) = \sigma\left( W^1_1\textcolor{red}{z^1}+b_1^1  \right)&#10; \end{align*}&#10;&#10;&#10;&#10;&#10;\end{document}"/>
  <p:tag name="IGUANATEXSIZE" val="24"/>
  <p:tag name="IGUANATEXCURSOR" val="396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746.1567"/>
  <p:tag name="ORIGINALWIDTH" val="3876.266"/>
  <p:tag name="LATEXADDIN" val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definecolor{dgreen}{RGB}{0,100,0}&#10;\begin{document}&#10;&#10; \begin{align*}&#10;\textcolor{blue}{z_2^3} =\sigma\left(\sum_{j=1}^5 w^2_{2,j}\textcolor{dgreen}{z^2_j} + b^2_2\right) = \sigma\left( W^2_2\textcolor{dgreen}{z^2}+b^2_2  \right)&#10; \end{align*}&#10;&#10;&#10;&#10;&#10;\end{document}"/>
  <p:tag name="IGUANATEXSIZE" val="24"/>
  <p:tag name="IGUANATEXCURSOR" val="315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629.9213"/>
  <p:tag name="ORIGINALWIDTH" val="3403.075"/>
  <p:tag name="LATEXADDIN" val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definecolor{dyel}{RGB}{155,155,0}&#10;\begin{document}&#10;&#10; \begin{align*}&#10;\textcolor{dyel}{y=z^4} = \sum_{j=1}^3 w^3_{1,j}\textcolor{blue}{z^3_j} + b^3 =    W^3_1\textcolor{blue}{z^3}+b^3  &#10; \end{align*}&#10;&#10;&#10;&#10;&#10;\end{document}"/>
  <p:tag name="IGUANATEXSIZE" val="24"/>
  <p:tag name="IGUANATEXCURSOR" val="492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4.7206"/>
  <p:tag name="ORIGINALWIDTH" val="2503.187"/>
  <p:tag name="LATEXADDIN" val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definecolor{dyel}{RGB}{155,155,0}&#10;\definecolor{dgreen}{RGB}{0,100,0}&#10;\begin{document}&#10;&#10; \begin{align*}&#10;\textcolor{dyel}{y=z^4} = f(\textcolor{blue}{z^3}(\textcolor{dgreen}{z^2}(\textcolor{red}{z^1}));W,b) &#10; \end{align*}&#10;&#10;&#10;&#10;&#10;\end{document}"/>
  <p:tag name="IGUANATEXSIZE" val="24"/>
  <p:tag name="IGUANATEXCURSOR" val="481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557.9302"/>
  <p:tag name="ORIGINALWIDTH" val="6077.24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\textcolor{dyel}{\hat{y}(k)}   = &amp;  f\big(\underset{\textcolor{red}{z^1(k)}}{\underbrace{y(k-1),  \ldots, y(k-na), u(k),  u(k-1), \ldots,  u(k-nb)}}; W,b \big) &#10; \end{align*}&#10;&#10;&#10;&#10;&#10;\end{document}"/>
  <p:tag name="IGUANATEXSIZE" val="24"/>
  <p:tag name="IGUANATEXCURSOR" val="479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3.9708"/>
  <p:tag name="ORIGINALWIDTH" val="6640.419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\textcolor{red}{z^1} = y_i(k-1), \ldots, y_i(k-na), u_1(k),  \ldots,  u_1(k-nb), u_2(k),  \ldots,  u_2(k-nb)&#10; \end{align*}&#10;&#10;&#10;&#10;&#10;\end{document}"/>
  <p:tag name="IGUANATEXSIZE" val="24"/>
  <p:tag name="IGUANATEXCURSOR" val="490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557.9302"/>
  <p:tag name="ORIGINALWIDTH" val="7600.3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\textcolor{dyel}{\hat{y_i}(k)}   = &amp;  f\big(\underset{\textcolor{red}{\hat{z}^1(k)}}{\underbrace{ \textcolor{dyel}{\hat{y_i}(k-1)}, \ldots, \textcolor{dyel}{\hat{y_i}(k-na)}, u_1(k),  \ldots,  u_1(k-nb), u_2(k),  \ldots,  u_2(k-nb)}}; W,b \big) &#10; \end{align*}&#10;&#10;&#10;&#10;&#10;\end{document}"/>
  <p:tag name="IGUANATEXSIZE" val="24"/>
  <p:tag name="IGUANATEXCURSOR" val="612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16.7229"/>
  <p:tag name="ORIGINALWIDTH" val="2442.445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h(t) = f(h(t-1), u(t); \red{W_f})&#10; \end{align*}&#10;&#10;&#10;&#10;&#10;\end{document}"/>
  <p:tag name="IGUANATEXSIZE" val="24"/>
  <p:tag name="IGUANATEXCURSOR" val="445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605.9243"/>
  <p:tag name="ORIGINALWIDTH" val="2624.672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\mathcal{L} = \sum_{i=0}^{T} \left\|\hat{y}(t+i) - y(t+i)\right\|^2&#10; \end{align*}&#10;&#10;&#10;&#10;&#10;\end{document}"/>
  <p:tag name="IGUANATEXSIZE" val="24"/>
  <p:tag name="IGUANATEXCURSOR" val="465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27.2216"/>
  <p:tag name="ORIGINALWIDTH" val="1880.015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\hat{y}(t) =  h(t) \red{W'_{ho}} + \red{b_{hy}}&#10; \end{align*}&#10;&#10;&#10;&#10;&#10;\end{document}"/>
  <p:tag name="IGUANATEXSIZE" val="24"/>
  <p:tag name="IGUANATEXCURSOR" val="449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602.9246"/>
  <p:tag name="ORIGINALWIDTH" val="2208.474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\mathcal{L} = \frac{1}{T} \sum_{t=0}^{T} \left\|\hat{y}(t) - y(t)\right\|^2&#10; \end{align*}&#10;&#10;&#10;&#10;&#10;\end{document}"/>
  <p:tag name="IGUANATEXSIZE" val="24"/>
  <p:tag name="IGUANATEXCURSOR" val="477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16.7229"/>
  <p:tag name="ORIGINALWIDTH" val="2442.445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h(t) = f(h(t-1), u(t); \red{W_f})&#10; \end{align*}&#10;&#10;&#10;&#10;&#10;\end{document}"/>
  <p:tag name="IGUANATEXSIZE" val="24"/>
  <p:tag name="IGUANATEXCURSOR" val="450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2946.382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h(t) = f_h(c(t), h(t-1), u(t); \red{W_h})&#10; \end{align*}&#10;&#10;&#10;&#10;&#10;\end{document}"/>
  <p:tag name="IGUANATEXSIZE" val="24"/>
  <p:tag name="IGUANATEXCURSOR" val="481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3231.346"/>
  <p:tag name="LATEXADDIN" val="\documentclass{article}&#10;\usepackage{amsmath}&#10;\pagestyle{empty}&#10;\usepackage{bm}&#10;\usepackage{color}&#10;\newcommand{\pmeas}{{\bf p}}&#10;\newcommand{\umeas}{{\bf u}}&#10;\newcommand{\ymeas}{{\bf y}}&#10;\newcommand{\yo}{{\bf y}^{\rm o} }&#10;&#10;\newcommand{\nin}{n_u} &#10;\newcommand{\ny}{n_y} &#10;\newcommand{\nx}{n_x} &#10;\newcommand{\np}{n_p} &#10;\newcommand{\red}[1]{{\color{red}#1}}&#10;\usepackage{xcolor}&#10;\definecolor{dyel}{RGB}{155,155,0}&#10;\begin{document}&#10;&#10; \begin{align*}&#10; c(t) = f_c(c(t-1), h(t-1), u(t); \red{W_c})&#10; \end{align*}&#10;&#10;&#10;&#10;&#10;\end{document}"/>
  <p:tag name="IGUANATEXSIZE" val="24"/>
  <p:tag name="IGUANATEXCURSOR" val="483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4.4769"/>
  <p:tag name="ORIGINALWIDTH" val="576.6779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1 = x&#10; \end{align*}&#10;&#10;&#10;&#10;&#10;\end{document}"/>
  <p:tag name="IGUANATEXSIZE" val="16"/>
  <p:tag name="IGUANATEXCURSOR" val="336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3.9708"/>
  <p:tag name="ORIGINALWIDTH" val="1284.589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2 = f_1(z^1;\theta_1)&#10; \end{align*}&#10;&#10;&#10;&#10;&#10;\end{document}"/>
  <p:tag name="IGUANATEXSIZE" val="16"/>
  <p:tag name="IGUANATEXCURSOR" val="339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4.7206"/>
  <p:tag name="ORIGINALWIDTH" val="2122.985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4 = f_3(z^3,\theta_3) = \ell(x; \theta) &#10; \end{align*}&#10;&#10;&#10;&#10;&#10;\end{document}"/>
  <p:tag name="IGUANATEXSIZE" val="16"/>
  <p:tag name="IGUANATEXCURSOR" val="339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77.7278"/>
  <p:tag name="ORIGINALWIDTH" val="158.2302"/>
  <p:tag name="LATEXADDIN" val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1}}&#10; \end{align*}&#10;&#10;&#10;&#10;&#10;\end{document}"/>
  <p:tag name="IGUANATEXSIZE" val="24"/>
  <p:tag name="IGUANATEXCURSOR" val="375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77.7278"/>
  <p:tag name="ORIGINALWIDTH" val="162.7297"/>
  <p:tag name="LATEXADDIN" val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2}}&#10; \end{align*}&#10;&#10;&#10;&#10;&#10;\end{document}"/>
  <p:tag name="IGUANATEXSIZE" val="24"/>
  <p:tag name="IGUANATEXCURSOR" val="373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0.7274"/>
  <p:tag name="ORIGINALWIDTH" val="164.2294"/>
  <p:tag name="LATEXADDIN" val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3}}&#10; \end{align*}&#10;&#10;&#10;&#10;&#10;\end{document}"/>
  <p:tag name="IGUANATEXSIZE" val="24"/>
  <p:tag name="IGUANATEXCURSOR" val="373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52.7184"/>
  <p:tag name="ORIGINALWIDTH" val="2310.461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ell(x; \theta) = \left(y_k - \hat{y}_k(x_k;\theta) \right)^2&#10; \end{align*}&#10;&#10;&#10;&#10;&#10;\end{document}"/>
  <p:tag name="IGUANATEXSIZE" val="24"/>
  <p:tag name="IGUANATEXCURSOR" val="336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3.9708"/>
  <p:tag name="ORIGINALWIDTH" val="1284.589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3 = f_2(z^2;\theta_2)&#10; \end{align*}&#10;&#10;&#10;&#10;&#10;\end{document}"/>
  <p:tag name="IGUANATEXSIZE" val="16"/>
  <p:tag name="IGUANATEXCURSOR" val="352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65.6918"/>
  <p:tag name="ORIGINALWIDTH" val="1359.58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frac{\partial \ell}{\partial \theta_1}, \ \frac{\partial \ell}{\partial \theta_2}, \&#10;\frac{\partial \ell}{\partial \theta_3}&#10; \end{align*}&#10;&#10;&#10;&#10;&#10;\end{document}"/>
  <p:tag name="IGUANATEXSIZE" val="24"/>
  <p:tag name="IGUANATEXCURSOR" val="454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35.6955"/>
  <p:tag name="ORIGINALWIDTH" val="2217.473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L = \frac{\partial \ell}{\partial z^{L}}, \ \ L=4,3,2,1&#10; \end{align*}&#10;&#10;&#10;&#10;&#10;\end{document}"/>
  <p:tag name="IGUANATEXSIZE" val="24"/>
  <p:tag name="IGUANATEXCURSOR" val="392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35.6955"/>
  <p:tag name="ORIGINALWIDTH" val="1195.351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4 = \frac{\partial \ell}{\partial z^4} = 1 &#10; \end{align*}&#10;&#10;&#10;&#10;&#10;\end{document}"/>
  <p:tag name="IGUANATEXSIZE" val="16"/>
  <p:tag name="IGUANATEXCURSOR" val="379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77.7278"/>
  <p:tag name="ORIGINALWIDTH" val="158.2302"/>
  <p:tag name="LATEXADDIN" val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1}}&#10; \end{align*}&#10;&#10;&#10;&#10;&#10;\end{document}"/>
  <p:tag name="IGUANATEXSIZE" val="24"/>
  <p:tag name="IGUANATEXCURSOR" val="375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77.7278"/>
  <p:tag name="ORIGINALWIDTH" val="162.7297"/>
  <p:tag name="LATEXADDIN" val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2}}&#10; \end{align*}&#10;&#10;&#10;&#10;&#10;\end{document}"/>
  <p:tag name="IGUANATEXSIZE" val="24"/>
  <p:tag name="IGUANATEXCURSOR" val="373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0.7274"/>
  <p:tag name="ORIGINALWIDTH" val="164.2294"/>
  <p:tag name="LATEXADDIN" val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3}}&#10; \end{align*}&#10;&#10;&#10;&#10;&#10;\end{document}"/>
  <p:tag name="IGUANATEXSIZE" val="24"/>
  <p:tag name="IGUANATEXCURSOR" val="373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35.6955"/>
  <p:tag name="ORIGINALWIDTH" val="807.649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3 = \frac{\partial \ell}{\partial z^3} &#10; \end{align*}&#10;&#10;&#10;&#10;&#10;\end{document}"/>
  <p:tag name="IGUANATEXSIZE" val="16"/>
  <p:tag name="IGUANATEXCURSOR" val="375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35.6955"/>
  <p:tag name="ORIGINALWIDTH" val="807.649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2 = \frac{\partial \ell}{\partial z^2} &#10; \end{align*}&#10;&#10;&#10;&#10;&#10;\end{document}"/>
  <p:tag name="IGUANATEXSIZE" val="16"/>
  <p:tag name="IGUANATEXCURSOR" val="374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35.6955"/>
  <p:tag name="ORIGINALWIDTH" val="807.649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1 = \frac{\partial \ell}{\partial z^1} &#10; \end{align*}&#10;&#10;&#10;&#10;&#10;\end{document}"/>
  <p:tag name="IGUANATEXSIZE" val="16"/>
  <p:tag name="IGUANATEXCURSOR" val="374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77.7278"/>
  <p:tag name="ORIGINALWIDTH" val="194.2258"/>
  <p:tag name="LATEXADDIN" val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L}}&#10; \end{align*}&#10;&#10;&#10;&#10;&#10;\end{document}"/>
  <p:tag name="IGUANATEXSIZE" val="24"/>
  <p:tag name="IGUANATEXCURSOR" val="373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35.6955"/>
  <p:tag name="ORIGINALWIDTH" val="1290.589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{L+1} = \frac{\partial \ell}{\partial z^{L+1}} &#10; \end{align*}&#10;&#10;&#10;&#10;&#10;\end{document}"/>
  <p:tag name="IGUANATEXSIZE" val="16"/>
  <p:tag name="IGUANATEXCURSOR" val="381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35.6955"/>
  <p:tag name="ORIGINALWIDTH" val="869.8912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L = \frac{\partial \ell}{\partial z^{L}} &#10; \end{align*}&#10;&#10;&#10;&#10;&#10;\end{document}"/>
  <p:tag name="IGUANATEXSIZE" val="16"/>
  <p:tag name="IGUANATEXCURSOR" val="330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6.7267"/>
  <p:tag name="ORIGINALWIDTH" val="202.4747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L &#10; \end{align*}&#10;&#10;&#10;&#10;&#10;\end{document}"/>
  <p:tag name="IGUANATEXSIZE" val="16"/>
  <p:tag name="IGUANATEXCURSOR" val="334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6.2205"/>
  <p:tag name="ORIGINALWIDTH" val="1619.048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{L+1} = f_{L}(z^L;\theta_L)&#10; \end{align*}&#10;&#10;&#10;&#10;&#10;\end{document}"/>
  <p:tag name="IGUANATEXSIZE" val="16"/>
  <p:tag name="IGUANATEXCURSOR" val="358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62.6921"/>
  <p:tag name="ORIGINALWIDTH" val="343.4571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 \frac{\partial \ell}{\partial \theta_{L}} &#10; \end{align*}&#10;&#10;&#10;&#10;&#10;\end{document}"/>
  <p:tag name="IGUANATEXSIZE" val="16"/>
  <p:tag name="IGUANATEXCURSOR" val="368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8.9764"/>
  <p:tag name="ORIGINALWIDTH" val="1143.607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 z^{L+1} = Wz^L &#10; \end{align*}&#10;&#10;&#10;&#10;&#10;\end{document}"/>
  <p:tag name="IGUANATEXSIZE" val="18"/>
  <p:tag name="IGUANATEXCURSOR" val="345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521.9348"/>
  <p:tag name="ORIGINALWIDTH" val="2839.145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 \frac{\partial z^{L+1}}{\partial z_i^{L}} = W_{:,i} \ \rightarrow \ \delta^{L} = \delta^{L+1} W&#10; \end{align*}&#10;&#10;&#10;&#10;&#10;\end{document}"/>
  <p:tag name="IGUANATEXSIZE" val="16"/>
  <p:tag name="IGUANATEXCURSOR" val="426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521.9348"/>
  <p:tag name="ORIGINALWIDTH" val="3692.539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_i^L = \frac{\partial \ell}{\partial z_i^{L}} =   \frac{\partial \ell}{\partial z^{L+1}}  \frac{\partial z^{L+1}}{\partial z_i^{L}} =   \delta^{L+1}   \frac{\partial z^{L+1}}{\partial z_i^{L}}&#10; \end{align*}&#10;&#10;&#10;&#10;&#10;\end{document}"/>
  <p:tag name="IGUANATEXSIZE" val="16"/>
  <p:tag name="IGUANATEXCURSOR" val="486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589.4263"/>
  <p:tag name="ORIGINALWIDTH" val="4014.248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 \frac{\partial \ell}{\partial \theta_L} = \sum_{i=1}^{n_{L+1}}   \frac{\partial \ell}{\partial z_i^{L+1}}  \frac{\partial z_i^{L+1}}{\partial \theta_L} =  \sum_{i=1}^{n_{L+1}}\delta_i^{L+1}   \frac{\partial z_i^{L+1}}{\partial \theta_L}&#10; \end{align*}&#10;&#10;&#10;&#10;&#10;\end{document}"/>
  <p:tag name="IGUANATEXSIZE" val="16"/>
  <p:tag name="IGUANATEXCURSOR" val="505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1E2B9D2-2F4D-42F1-AD64-97E34F816B4F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aea3e091-929c-45f4-960f-ba861d3d3c8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924</Words>
  <Application>Microsoft Office PowerPoint</Application>
  <PresentationFormat>Widescreen</PresentationFormat>
  <Paragraphs>181</Paragraphs>
  <Slides>18</Slides>
  <Notes>18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7" baseType="lpstr">
      <vt:lpstr>CMR12</vt:lpstr>
      <vt:lpstr>ＭＳ Ｐゴシック</vt:lpstr>
      <vt:lpstr>Söhne</vt:lpstr>
      <vt:lpstr>Arial</vt:lpstr>
      <vt:lpstr>Calibri</vt:lpstr>
      <vt:lpstr>Calibri Light</vt:lpstr>
      <vt:lpstr>Cambria Math</vt:lpstr>
      <vt:lpstr>Wingdings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Piga Dario</dc:creator>
  <cp:lastModifiedBy>Piga Dario</cp:lastModifiedBy>
  <cp:revision>771</cp:revision>
  <cp:lastPrinted>2025-07-07T06:51:23Z</cp:lastPrinted>
  <dcterms:created xsi:type="dcterms:W3CDTF">2023-03-08T09:24:31Z</dcterms:created>
  <dcterms:modified xsi:type="dcterms:W3CDTF">2026-06-04T14:24:08Z</dcterms:modified>
</cp:coreProperties>
</file>
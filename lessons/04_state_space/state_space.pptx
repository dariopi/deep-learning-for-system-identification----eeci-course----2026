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8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9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66" r:id="rId2"/>
    <p:sldId id="6297" r:id="rId3"/>
    <p:sldId id="6325" r:id="rId4"/>
    <p:sldId id="6326" r:id="rId5"/>
    <p:sldId id="6328" r:id="rId6"/>
    <p:sldId id="6329" r:id="rId7"/>
    <p:sldId id="6330" r:id="rId8"/>
    <p:sldId id="6332" r:id="rId9"/>
    <p:sldId id="6336" r:id="rId10"/>
    <p:sldId id="6333" r:id="rId11"/>
    <p:sldId id="6334" r:id="rId12"/>
    <p:sldId id="6337" r:id="rId13"/>
    <p:sldId id="6338" r:id="rId14"/>
    <p:sldId id="6339" r:id="rId15"/>
    <p:sldId id="546" r:id="rId16"/>
  </p:sldIdLst>
  <p:sldSz cx="12192000" cy="6858000"/>
  <p:notesSz cx="6858000" cy="9144000"/>
  <p:defaultTextStyle>
    <a:defPPr>
      <a:defRPr lang="it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41" autoAdjust="0"/>
    <p:restoredTop sz="94658"/>
  </p:normalViewPr>
  <p:slideViewPr>
    <p:cSldViewPr snapToGrid="0">
      <p:cViewPr varScale="1">
        <p:scale>
          <a:sx n="120" d="100"/>
          <a:sy n="120" d="100"/>
        </p:scale>
        <p:origin x="13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CH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D4630A-6D3B-4C97-A7DC-509EB0048625}" type="datetimeFigureOut">
              <a:rPr lang="it-CH" smtClean="0"/>
              <a:t>11.06.26</a:t>
            </a:fld>
            <a:endParaRPr lang="it-CH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CH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CH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8AB120-BC75-4CF8-A646-8F594D18F614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974353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8AB120-BC75-4CF8-A646-8F594D18F614}" type="slidenum">
              <a:rPr lang="it-CH" smtClean="0"/>
              <a:t>1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9864582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2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06090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3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8318853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4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3323600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5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796982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6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619682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7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659142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8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41208225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9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1127278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10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391362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CH" dirty="0"/>
              <a:t>https://github.com/pytorch/examples/blob/main/word_language_model/main.py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11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5088651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CH" dirty="0"/>
              <a:t>https://github.com/pytorch/examples/blob/main/word_language_model/main.py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12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1250600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CH" dirty="0"/>
              <a:t>https://github.com/pytorch/examples/blob/main/word_language_model/main.py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13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0632435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AAF09-1E0A-5919-664A-53DBF5B61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0BF40F6-9776-006A-4F11-A23BAC2B0A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4C075CC-224C-066D-64D9-9D434204FE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CH" dirty="0"/>
              <a:t>https://github.com/pytorch/examples/blob/main/word_language_model/main.py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D470EBA-0ED6-E67E-483B-653F74B410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14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1588663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20B484-5030-D323-3799-18FA1EE763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9F607B8-D98E-2C2D-FD15-3E6921D6C4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E2C49ED-4AE3-3ABD-9CB8-D661A6030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11.06.26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A1FB008-ACE7-DA06-5DBF-8A8094406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4AAF54B-A0BB-172F-FFB5-76E038F2E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9065968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ACD8D2-7F26-51BF-53AF-D314B772D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49697EA-A1D6-343E-9013-5B20BA7D3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FDD92C8-9503-541F-ED04-2CBCA5849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11.06.26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F1CF8E1-BCD7-AE00-D4F0-9AA876441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439E997-E27F-22A4-BDE8-0BB5D3C27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40859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54FAE7E-1311-376E-12CD-43708CB8A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E359590-B5DF-055B-0A41-C61323F45A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388A398-9D7E-9161-4789-27E7A86BF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11.06.26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585AF01-354D-58B0-9B55-512AC0026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C12635B-81C4-B102-DBA3-C627FFC62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192156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E870519-A0B9-6161-B990-85EC53198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CB62B06-CA6D-DC89-D3F1-D9B689A872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7332277-1682-7AB1-A155-EDC31B592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D850E56-92AA-D52D-F08C-A8212F630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11.06.26</a:t>
            </a:fld>
            <a:endParaRPr lang="it-CH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0651B1D-DEE6-2B35-D94D-6787C83C5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76BE208-B222-0984-247E-D53A9CAA0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26025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F022027-0EF9-C671-52E4-20557A58B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3709EF0-8438-0DD6-4124-A0C50878A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062E512-0261-B21F-CA8C-50BFD0EE5E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115CA723-7328-CED3-9475-D68C9B081D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93D6203-BBF9-A08E-5229-DDA0B85CC9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696AB44D-1F20-9C96-5CE3-46DAE87EC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11.06.26</a:t>
            </a:fld>
            <a:endParaRPr lang="it-CH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85717CC5-EA27-DB3F-85C8-040F7257A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3A362AB5-378D-93CE-A14E-5E59B0693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57275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016366-24B4-9045-8CE8-113CADB61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BC3538B-67EB-9087-DD95-7501248C2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11.06.26</a:t>
            </a:fld>
            <a:endParaRPr lang="it-CH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D4C76070-7C60-65D3-D778-2479CEEB0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E783E5A-A005-449B-90F2-109BB45AA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7517886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D20BC331-97F2-ACC1-F23C-CE6007665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11.06.26</a:t>
            </a:fld>
            <a:endParaRPr lang="it-CH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AA7527E-8A6D-DD64-3A80-16335E8A9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BF6F9BA-1DD3-EF35-4CAD-85C079998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014587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03D1C2-D40E-A5DB-586A-DFFEE4847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31EA32E-BC47-511D-F5A7-5DD04E98DA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61C5C7E-DB9D-421C-13B1-569C5AD58A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CE291CC-2352-B728-EB3C-9C627413F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11.06.26</a:t>
            </a:fld>
            <a:endParaRPr lang="it-CH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21A0E64-AAB1-7067-F142-10B0F0DF7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B1FE456-524C-82F1-8545-CCB6E36F0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75648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CE44FD-2718-23AC-43E0-EDF4F4C08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CA2A1BE1-0B89-72BD-F44E-D30DFFCFBA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CH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FF456F9-4757-5831-A5B0-1E5FE5963C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1FFAA7E-1BAE-3D49-3080-0B6CEEC64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11.06.26</a:t>
            </a:fld>
            <a:endParaRPr lang="it-CH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7C37025-82BA-C9E7-BCDF-672A98665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542D7A8-1672-AE15-148C-054E202A1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3762134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96D4D1-9A0B-C3B1-D44B-D74E4DD12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B1BC625-60FE-6F53-1450-E2EED6AD67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2B5FECE-4E78-A0B1-37BD-E54E1FB64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11.06.26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51C8BB3-DB20-7A61-02FF-03A580D02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0F7CA1F-E5A8-366B-4E60-D41A202A3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504809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014F5905-E42A-0078-807D-D1FDD330B8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09508D6-F0FC-F070-F9E6-8FE91B7D48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867D89D-2FB3-B467-D1BA-F5A1775B1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11.06.26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60D6AAE-9366-A499-CBA6-7CFCF7249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A1487E1-D98D-28A9-E619-564484C78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40513920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24ACBC1-7691-4B0F-B09B-D5FA1D463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B079E-E48D-41EE-8E0D-6D7DB137FADB}" type="slidenum">
              <a:rPr lang="en-US" smtClean="0"/>
              <a:t>‹#›</a:t>
            </a:fld>
            <a:endParaRPr lang="en-US"/>
          </a:p>
        </p:txBody>
      </p:sp>
      <p:sp>
        <p:nvSpPr>
          <p:cNvPr id="7" name="Segnaposto piè di pagina 4">
            <a:extLst>
              <a:ext uri="{FF2B5EF4-FFF2-40B4-BE49-F238E27FC236}">
                <a16:creationId xmlns:a16="http://schemas.microsoft.com/office/drawing/2014/main" id="{C408B5E2-4029-434C-9F5D-FF2C2CDE69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40539" y="622151"/>
            <a:ext cx="2994821" cy="52006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it-IT" dirty="0"/>
              <a:t>H2020-MSCA-RISE-2019</a:t>
            </a:r>
          </a:p>
          <a:p>
            <a:r>
              <a:rPr lang="pt-BR" dirty="0"/>
              <a:t>VIRTUOUS GA N</a:t>
            </a:r>
            <a:r>
              <a:rPr lang="pt-BR" dirty="0" err="1"/>
              <a:t>°</a:t>
            </a:r>
            <a:r>
              <a:rPr lang="pt-BR" dirty="0"/>
              <a:t> 872181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04676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D291D90-F333-1EC7-570B-03EC023CD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  <a:endParaRPr lang="it-CH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598149F-EF5F-F06A-84E3-2189368E51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A4A68CE-624B-7CC1-9580-0547409D34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147C38-CC24-4E9D-9FE1-BE5105214113}" type="datetimeFigureOut">
              <a:rPr lang="it-CH" smtClean="0"/>
              <a:t>11.06.26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F897E9-F9F4-5B60-DEF7-EE25EBCFC2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2B8217B-F0E3-B9EE-4F9B-60C6D674E6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648298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jp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5.emf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4.emf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7.emf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6.emf"/><Relationship Id="rId5" Type="http://schemas.openxmlformats.org/officeDocument/2006/relationships/image" Target="../media/image7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ciencedirect.com/science/article/pii/S0947358021000169" TargetMode="External"/><Relationship Id="rId3" Type="http://schemas.openxmlformats.org/officeDocument/2006/relationships/notesSlide" Target="../notesSlides/notesSlide4.xml"/><Relationship Id="rId7" Type="http://schemas.openxmlformats.org/officeDocument/2006/relationships/image" Target="../media/image11.emf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6" Type="http://schemas.openxmlformats.org/officeDocument/2006/relationships/image" Target="../media/image10.jpeg"/><Relationship Id="rId5" Type="http://schemas.openxmlformats.org/officeDocument/2006/relationships/image" Target="../media/image9.png"/><Relationship Id="rId4" Type="http://schemas.openxmlformats.org/officeDocument/2006/relationships/image" Target="../media/image10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abs/2403.14833" TargetMode="External"/><Relationship Id="rId3" Type="http://schemas.openxmlformats.org/officeDocument/2006/relationships/hyperlink" Target="https://arxiv.org/abs/1906.01563" TargetMode="Externa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xiv.org/abs/2111.00396" TargetMode="External"/><Relationship Id="rId5" Type="http://schemas.openxmlformats.org/officeDocument/2006/relationships/hyperlink" Target="https://arxiv.org/abs/2206.12928" TargetMode="External"/><Relationship Id="rId4" Type="http://schemas.openxmlformats.org/officeDocument/2006/relationships/hyperlink" Target="https://arxiv.org/abs/2502.14432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14.emf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13.emf"/><Relationship Id="rId5" Type="http://schemas.openxmlformats.org/officeDocument/2006/relationships/image" Target="../media/image13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notesSlide" Target="../notesSlides/notesSlide8.xml"/><Relationship Id="rId7" Type="http://schemas.openxmlformats.org/officeDocument/2006/relationships/image" Target="../media/image17.emf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6" Type="http://schemas.openxmlformats.org/officeDocument/2006/relationships/image" Target="../media/image16.emf"/><Relationship Id="rId5" Type="http://schemas.openxmlformats.org/officeDocument/2006/relationships/image" Target="../media/image19.png"/><Relationship Id="rId4" Type="http://schemas.openxmlformats.org/officeDocument/2006/relationships/hyperlink" Target="https://arxiv.org/abs/2206.12928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006.02915.pdf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sv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lar.google.com/citations?view_op=view_citation&amp;hl=en&amp;user=NlW9YVQAAAAJ&amp;sortby=pubdate&amp;citation_for_view=NlW9YVQAAAAJ:ufrVoPGSRksC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emf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2l.ai/chapter_recurrent-neural-networks/bptt.html" TargetMode="External"/><Relationship Id="rId7" Type="http://schemas.openxmlformats.org/officeDocument/2006/relationships/image" Target="../media/image2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0.png"/><Relationship Id="rId5" Type="http://schemas.openxmlformats.org/officeDocument/2006/relationships/image" Target="../media/image251.png"/><Relationship Id="rId4" Type="http://schemas.openxmlformats.org/officeDocument/2006/relationships/hyperlink" Target="https://github.com/pytorch/examples/blob/main/word_language_model/main.py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emf"/><Relationship Id="rId3" Type="http://schemas.openxmlformats.org/officeDocument/2006/relationships/notesSlide" Target="../notesSlides/notesSlide12.xml"/><Relationship Id="rId7" Type="http://schemas.openxmlformats.org/officeDocument/2006/relationships/image" Target="../media/image250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6" Type="http://schemas.openxmlformats.org/officeDocument/2006/relationships/image" Target="../media/image240.png"/><Relationship Id="rId5" Type="http://schemas.openxmlformats.org/officeDocument/2006/relationships/image" Target="../media/image21.png"/><Relationship Id="rId10" Type="http://schemas.openxmlformats.org/officeDocument/2006/relationships/image" Target="../media/image8.png"/><Relationship Id="rId4" Type="http://schemas.openxmlformats.org/officeDocument/2006/relationships/hyperlink" Target="https://github.com/forgi86/pytorch-ident" TargetMode="External"/><Relationship Id="rId9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544B9190-CC66-3045-B18E-543DD7776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B079E-E48D-41EE-8E0D-6D7DB137FADB}" type="slidenum">
              <a:rPr lang="en-US" smtClean="0"/>
              <a:t>1</a:t>
            </a:fld>
            <a:endParaRPr lang="en-US" dirty="0"/>
          </a:p>
        </p:txBody>
      </p:sp>
      <p:sp>
        <p:nvSpPr>
          <p:cNvPr id="7" name="CasellaDiTesto 6"/>
          <p:cNvSpPr txBox="1"/>
          <p:nvPr/>
        </p:nvSpPr>
        <p:spPr>
          <a:xfrm>
            <a:off x="355801" y="3190028"/>
            <a:ext cx="11712374" cy="27652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>
                <a:solidFill>
                  <a:schemeClr val="accent1">
                    <a:lumMod val="75000"/>
                  </a:schemeClr>
                </a:solidFill>
              </a:rPr>
              <a:t>Neural State-Space models</a:t>
            </a:r>
            <a:br>
              <a:rPr lang="en-US" sz="3600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Theory</a:t>
            </a:r>
          </a:p>
          <a:p>
            <a:pPr>
              <a:lnSpc>
                <a:spcPct val="150000"/>
              </a:lnSpc>
            </a:pPr>
            <a:endParaRPr lang="en-US" sz="2400" dirty="0">
              <a:solidFill>
                <a:schemeClr val="accent1">
                  <a:lumMod val="7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latin typeface="Trebuchet MS" charset="0"/>
                <a:ea typeface="Trebuchet MS" charset="0"/>
                <a:cs typeface="Trebuchet MS" charset="0"/>
              </a:rPr>
              <a:t>Marco Forgione, Dalle Molle Institute for Artificial Intelligence, Lugano, Switzerland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Trebuchet MS" charset="0"/>
                <a:ea typeface="Trebuchet MS" charset="0"/>
                <a:cs typeface="Trebuchet MS" charset="0"/>
              </a:rPr>
              <a:t>Leuven, June 17, 2026 </a:t>
            </a:r>
          </a:p>
        </p:txBody>
      </p:sp>
      <p:pic>
        <p:nvPicPr>
          <p:cNvPr id="4" name="Picture 52" descr="C:\Users\marco\Downloads\IDSIA-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3012" y="485678"/>
            <a:ext cx="1920867" cy="2332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2" descr="ampus Lugano"/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4563" y="485678"/>
            <a:ext cx="3038676" cy="21727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magine 8" descr="Immagine che contiene esterni, cielo, edificio, edificio governativo&#10;&#10;Descrizione generata automaticamente">
            <a:extLst>
              <a:ext uri="{FF2B5EF4-FFF2-40B4-BE49-F238E27FC236}">
                <a16:creationId xmlns:a16="http://schemas.microsoft.com/office/drawing/2014/main" id="{0874940B-3B5F-4726-B105-568BD2A322B4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515" y="504919"/>
            <a:ext cx="3040110" cy="2173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0627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State-space models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/>
              <p:nvPr/>
            </p:nvSpPr>
            <p:spPr>
              <a:xfrm>
                <a:off x="47625" y="704850"/>
                <a:ext cx="12192000" cy="60016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CH" sz="2400" dirty="0"/>
                  <a:t>They are defined in continuous/discrete time by:</a:t>
                </a:r>
              </a:p>
              <a:p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CH" sz="2400" dirty="0"/>
                  <a:t> is the state vector. It is a latent (=hidden, unobserved) quantity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it-CH" sz="2400" dirty="0"/>
                  <a:t> is the input vector (=external/exogenous variable, covariate)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it-CH" sz="2400" dirty="0"/>
                  <a:t> is the output vector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CH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it-CH" sz="2400" dirty="0"/>
                  <a:t> is a vector of unknown parameters to be estimated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it-CH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400" dirty="0"/>
                  <a:t>Powerful and flexible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400" dirty="0"/>
                  <a:t>Familiar to engineer/researcher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400" dirty="0"/>
                  <a:t>Suitable to embed physics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400" dirty="0"/>
                  <a:t>Might be harder to train than other sequence models</a:t>
                </a:r>
              </a:p>
              <a:p>
                <a:endParaRPr lang="it-CH" sz="2400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" y="704850"/>
                <a:ext cx="12192000" cy="6001643"/>
              </a:xfrm>
              <a:prstGeom prst="rect">
                <a:avLst/>
              </a:prstGeom>
              <a:blipFill>
                <a:blip r:embed="rId5"/>
                <a:stretch>
                  <a:fillRect l="-728" t="-84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\begin{align*}&#10;x(k+1) &amp;= f(x(k), u(k); \theta) \\&#10;y(k) &amp;= g(x(k); \theta)&#10;\end{align*}&#10;&#10;\end{document}" title="IguanaTex Bitmap Display">
            <a:extLst>
              <a:ext uri="{FF2B5EF4-FFF2-40B4-BE49-F238E27FC236}">
                <a16:creationId xmlns:a16="http://schemas.microsoft.com/office/drawing/2014/main" id="{48E3B2ED-DEEB-FF6E-277A-4E4472EB396C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251477" y="1642188"/>
            <a:ext cx="3474720" cy="762000"/>
          </a:xfrm>
          <a:prstGeom prst="rect">
            <a:avLst/>
          </a:prstGeom>
        </p:spPr>
      </p:pic>
      <p:pic>
        <p:nvPicPr>
          <p:cNvPr id="4" name="Picture 3" descr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\begin{align*}&#10;\dot x(t) &amp;= f(x(t), u(t); \theta) \\&#10;y(t) &amp;= g(x(t); \theta)&#10;\end{align*}&#10;&#10;\end{document}" title="IguanaTex Bitmap Display">
            <a:extLst>
              <a:ext uri="{FF2B5EF4-FFF2-40B4-BE49-F238E27FC236}">
                <a16:creationId xmlns:a16="http://schemas.microsoft.com/office/drawing/2014/main" id="{C6DC8E23-B007-2C7C-A5BD-B7217815C3E3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1834831" y="1642188"/>
            <a:ext cx="2773680" cy="762000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2C4619D-8E84-1ADA-74C7-D70D746CC2EF}"/>
              </a:ext>
            </a:extLst>
          </p:cNvPr>
          <p:cNvCxnSpPr/>
          <p:nvPr/>
        </p:nvCxnSpPr>
        <p:spPr>
          <a:xfrm>
            <a:off x="5909388" y="1513115"/>
            <a:ext cx="0" cy="10201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1420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Neural state-space models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/>
              <p:nvPr/>
            </p:nvSpPr>
            <p:spPr>
              <a:xfrm>
                <a:off x="47625" y="704850"/>
                <a:ext cx="12192000" cy="71096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it-CH" sz="2400" dirty="0"/>
              </a:p>
              <a:p>
                <a:r>
                  <a:rPr lang="it-CH" sz="2400" dirty="0"/>
                  <a:t>In our context, </a:t>
                </a:r>
                <a14:m>
                  <m:oMath xmlns:m="http://schemas.openxmlformats.org/officeDocument/2006/math">
                    <m:r>
                      <a:rPr lang="it-CH" sz="2400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it-CH" sz="2400" dirty="0"/>
                  <a:t> and </a:t>
                </a:r>
                <a14:m>
                  <m:oMath xmlns:m="http://schemas.openxmlformats.org/officeDocument/2006/math">
                    <m:r>
                      <a:rPr lang="it-CH" sz="2400" i="1" dirty="0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it-CH" sz="2400" dirty="0"/>
                  <a:t> are feed-forward neural networks, e.g.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  <a:p>
                <a:r>
                  <a:rPr lang="it-CH" sz="2400" dirty="0"/>
                  <a:t>Overall, we define a </a:t>
                </a:r>
                <a:r>
                  <a:rPr lang="it-CH" sz="2400" b="1" dirty="0"/>
                  <a:t>neural state-space</a:t>
                </a:r>
                <a:r>
                  <a:rPr lang="it-CH" sz="2400" dirty="0"/>
                  <a:t> model, aka </a:t>
                </a:r>
                <a:r>
                  <a:rPr lang="it-CH" sz="2400" b="1" dirty="0"/>
                  <a:t>recurrent neural network</a:t>
                </a:r>
                <a:r>
                  <a:rPr lang="it-CH" sz="2400" dirty="0"/>
                  <a:t> (RNN)</a:t>
                </a:r>
              </a:p>
              <a:p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  <a:p>
                <a:r>
                  <a:rPr lang="it-CH" sz="2400" dirty="0"/>
                  <a:t>With  respect to classic RNNs (Vanilla RNN, LSTM), focus on: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it-CH" sz="2400" dirty="0"/>
                  <a:t>Embedding prior (physical) knowledge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it-CH" sz="2400" dirty="0"/>
                  <a:t>Parsimonious representations suitable for control</a:t>
                </a:r>
              </a:p>
              <a:p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" y="704850"/>
                <a:ext cx="12192000" cy="7109639"/>
              </a:xfrm>
              <a:prstGeom prst="rect">
                <a:avLst/>
              </a:prstGeom>
              <a:blipFill>
                <a:blip r:embed="rId5"/>
                <a:stretch>
                  <a:fillRect l="-728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\begin{align*}&#10;f(z; \theta) &amp;= W_3 \sigma(W_2\sigma(W_1 z + b_1) + b_2) + b_3\\&#10;z &amp;= [x \;u]^\top\\&#10;\theta &amp;= \mathrm{vec}(W_1, W_2, W_3, b_1, b_2, b_3)&#10;\end{align*}&#10;&#10;\end{document}" title="IguanaTex Bitmap Display">
            <a:extLst>
              <a:ext uri="{FF2B5EF4-FFF2-40B4-BE49-F238E27FC236}">
                <a16:creationId xmlns:a16="http://schemas.microsoft.com/office/drawing/2014/main" id="{B1C7E997-7463-2BE6-301B-6547454CA76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3403" y="1795963"/>
            <a:ext cx="4624573" cy="1097356"/>
          </a:xfrm>
          <a:prstGeom prst="rect">
            <a:avLst/>
          </a:prstGeom>
        </p:spPr>
      </p:pic>
      <p:pic>
        <p:nvPicPr>
          <p:cNvPr id="6" name="Picture 5" descr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\begin{align*}&#10;x({k+1}) &amp;= x(k) + f(x(k), u(k); \theta) \\&#10;y(k) &amp;= g(x(k); \theta)&#10;\end{align*}&#10;&#10;\end{document}" title="IguanaTex Bitmap Display">
            <a:extLst>
              <a:ext uri="{FF2B5EF4-FFF2-40B4-BE49-F238E27FC236}">
                <a16:creationId xmlns:a16="http://schemas.microsoft.com/office/drawing/2014/main" id="{D0A03FA0-21E5-65FD-FDFA-7C44BD9FA18F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865451" y="1795963"/>
            <a:ext cx="4419600" cy="762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8F742A0-6837-EA89-92D2-120E5F17646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24485" y="3523847"/>
            <a:ext cx="3960552" cy="1661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296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Physics-inspired neural state-space models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/>
              <p:nvPr/>
            </p:nvSpPr>
            <p:spPr>
              <a:xfrm>
                <a:off x="47625" y="704850"/>
                <a:ext cx="12192000" cy="56323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it-CH" sz="2400" dirty="0"/>
              </a:p>
              <a:p>
                <a:r>
                  <a:rPr lang="it-CH" sz="2400" dirty="0"/>
                  <a:t>Cascaded Tanks System. Input: upper tank inlet flow u. Output: lower tank level. </a:t>
                </a:r>
              </a:p>
              <a:p>
                <a:br>
                  <a:rPr lang="it-CH" sz="2400" dirty="0"/>
                </a:br>
                <a:r>
                  <a:rPr lang="it-CH" sz="2400" dirty="0"/>
                  <a:t>Intuitive physics: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400" dirty="0"/>
                  <a:t>The system has two states: levels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CH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it-CH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400" dirty="0"/>
                  <a:t>The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CH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it-CH" sz="2400" dirty="0"/>
                  <a:t> is measured: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CH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400" dirty="0"/>
                  <a:t>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CH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it-CH" sz="2400" dirty="0"/>
                  <a:t> does not depend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CH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400" dirty="0"/>
                  <a:t>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CH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it-CH" sz="2400" dirty="0"/>
                  <a:t> does not depend on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it-CH" sz="2400" dirty="0"/>
                  <a:t> directly</a:t>
                </a:r>
              </a:p>
              <a:p>
                <a:endParaRPr lang="it-CH" sz="2400" dirty="0"/>
              </a:p>
              <a:p>
                <a:endParaRPr lang="it-CH" sz="2400" dirty="0"/>
              </a:p>
              <a:p>
                <a:r>
                  <a:rPr lang="it-CH" sz="2400" dirty="0"/>
                  <a:t>Observations above are embedded in a </a:t>
                </a:r>
                <a:r>
                  <a:rPr lang="it-CH" sz="2400" b="1" dirty="0"/>
                  <a:t>physics-inspired</a:t>
                </a:r>
                <a:r>
                  <a:rPr lang="it-CH" sz="2400" dirty="0"/>
                  <a:t> neural state-space model:</a:t>
                </a:r>
              </a:p>
              <a:p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  <a:p>
                <a:endParaRPr lang="it-CH" sz="2400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" y="704850"/>
                <a:ext cx="12192000" cy="5632311"/>
              </a:xfrm>
              <a:prstGeom prst="rect">
                <a:avLst/>
              </a:prstGeom>
              <a:blipFill>
                <a:blip r:embed="rId4"/>
                <a:stretch>
                  <a:fillRect l="-728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screenshot of a computer game&#10;&#10;Description automatically generated">
            <a:extLst>
              <a:ext uri="{FF2B5EF4-FFF2-40B4-BE49-F238E27FC236}">
                <a16:creationId xmlns:a16="http://schemas.microsoft.com/office/drawing/2014/main" id="{53FCA984-9DD3-6EC4-262B-D6D0B9CAB8E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8088" y="1630998"/>
            <a:ext cx="1787827" cy="2183364"/>
          </a:xfrm>
          <a:prstGeom prst="rect">
            <a:avLst/>
          </a:prstGeom>
        </p:spPr>
      </p:pic>
      <p:pic>
        <p:nvPicPr>
          <p:cNvPr id="6" name="Picture 5" descr="A close-up of a machine&#10;&#10;Description automatically generated">
            <a:extLst>
              <a:ext uri="{FF2B5EF4-FFF2-40B4-BE49-F238E27FC236}">
                <a16:creationId xmlns:a16="http://schemas.microsoft.com/office/drawing/2014/main" id="{AD899361-E4A6-B371-E2B8-A165D23EB3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3130" y="1630998"/>
            <a:ext cx="1637523" cy="2183364"/>
          </a:xfrm>
          <a:prstGeom prst="rect">
            <a:avLst/>
          </a:prstGeom>
        </p:spPr>
      </p:pic>
      <p:pic>
        <p:nvPicPr>
          <p:cNvPr id="5" name="Picture 4" descr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\begin{align*}&#10;\dot x_1 &amp;= f_1(x_1, u; \theta) \\&#10;\dot x_2 &amp;= f_2(x_1, x_2; \theta) \\&#10;y &amp;= x_2&#10;\end{align*}&#10;&#10;\end{document}" title="IguanaTex Bitmap Display">
            <a:extLst>
              <a:ext uri="{FF2B5EF4-FFF2-40B4-BE49-F238E27FC236}">
                <a16:creationId xmlns:a16="http://schemas.microsoft.com/office/drawing/2014/main" id="{5A54A43B-9438-3F21-A9DA-3A4485631A29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0256" y="5008499"/>
            <a:ext cx="1952325" cy="1055311"/>
          </a:xfrm>
          <a:prstGeom prst="rect">
            <a:avLst/>
          </a:prstGeom>
        </p:spPr>
      </p:pic>
      <p:sp>
        <p:nvSpPr>
          <p:cNvPr id="11" name="CasellaDiTesto 3 1">
            <a:extLst>
              <a:ext uri="{FF2B5EF4-FFF2-40B4-BE49-F238E27FC236}">
                <a16:creationId xmlns:a16="http://schemas.microsoft.com/office/drawing/2014/main" id="{33FA8B89-75FC-4081-30E9-E27A6E0438BD}"/>
              </a:ext>
            </a:extLst>
          </p:cNvPr>
          <p:cNvSpPr txBox="1"/>
          <p:nvPr/>
        </p:nvSpPr>
        <p:spPr>
          <a:xfrm>
            <a:off x="6239070" y="3963298"/>
            <a:ext cx="467774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dirty="0" err="1"/>
              <a:t>Schoukens</a:t>
            </a:r>
            <a:r>
              <a:rPr lang="en-GB" sz="1050" dirty="0"/>
              <a:t>, M. et al. "Cascaded tanks benchmark combining soft and hard nonlinearities." Workshop on nonlinear system identification benchmarks, 2016.</a:t>
            </a:r>
          </a:p>
        </p:txBody>
      </p:sp>
      <p:sp>
        <p:nvSpPr>
          <p:cNvPr id="12" name="CasellaDiTesto 3 2">
            <a:extLst>
              <a:ext uri="{FF2B5EF4-FFF2-40B4-BE49-F238E27FC236}">
                <a16:creationId xmlns:a16="http://schemas.microsoft.com/office/drawing/2014/main" id="{1F176A5C-D87A-E4A6-7A6A-3929858750CD}"/>
              </a:ext>
            </a:extLst>
          </p:cNvPr>
          <p:cNvSpPr txBox="1"/>
          <p:nvPr/>
        </p:nvSpPr>
        <p:spPr>
          <a:xfrm>
            <a:off x="154112" y="6210122"/>
            <a:ext cx="108808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dirty="0"/>
              <a:t>Identification results in Forgione, M. and </a:t>
            </a:r>
            <a:r>
              <a:rPr lang="en-GB" sz="1050" dirty="0" err="1"/>
              <a:t>Piga</a:t>
            </a:r>
            <a:r>
              <a:rPr lang="en-GB" sz="1050" dirty="0"/>
              <a:t>, D. "</a:t>
            </a:r>
            <a:r>
              <a:rPr lang="en-GB" sz="1050" dirty="0">
                <a:hlinkClick r:id="rId8"/>
              </a:rPr>
              <a:t>Continuous-time system identification with neural networks: Model structures and fitting criteria</a:t>
            </a:r>
            <a:r>
              <a:rPr lang="en-GB" sz="1050" dirty="0"/>
              <a:t>.” European Journal of Control, 2021</a:t>
            </a:r>
          </a:p>
        </p:txBody>
      </p:sp>
    </p:spTree>
    <p:extLst>
      <p:ext uri="{BB962C8B-B14F-4D97-AF65-F5344CB8AC3E}">
        <p14:creationId xmlns:p14="http://schemas.microsoft.com/office/powerpoint/2010/main" val="2940169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Physics-inspired neural state-space models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2DE14E0-CC7B-02C4-B850-8C14C7345D75}"/>
              </a:ext>
            </a:extLst>
          </p:cNvPr>
          <p:cNvSpPr txBox="1"/>
          <p:nvPr/>
        </p:nvSpPr>
        <p:spPr>
          <a:xfrm>
            <a:off x="246581" y="863876"/>
            <a:ext cx="12192000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CH" sz="2400" dirty="0"/>
              <a:t>Several contributions aim at embedding </a:t>
            </a:r>
            <a:r>
              <a:rPr lang="it-CH" sz="2400" b="1" dirty="0"/>
              <a:t>prior knowledge</a:t>
            </a:r>
            <a:r>
              <a:rPr lang="it-CH" sz="2400" dirty="0"/>
              <a:t> in the architecture. </a:t>
            </a:r>
          </a:p>
          <a:p>
            <a:br>
              <a:rPr lang="it-CH" sz="2400" dirty="0"/>
            </a:br>
            <a:endParaRPr lang="it-CH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CH" sz="2400" dirty="0"/>
              <a:t>(Port) Hamiltonian neural networks </a:t>
            </a:r>
            <a:br>
              <a:rPr lang="it-CH" sz="2400" dirty="0"/>
            </a:br>
            <a:r>
              <a:rPr lang="it-CH" sz="1400" dirty="0"/>
              <a:t>S. Greydanus et al., </a:t>
            </a:r>
            <a:r>
              <a:rPr lang="it-CH" sz="1400" dirty="0">
                <a:hlinkClick r:id="rId3"/>
              </a:rPr>
              <a:t>Hamiltonian Neural Networks</a:t>
            </a:r>
            <a:r>
              <a:rPr lang="it-CH" sz="1400" dirty="0"/>
              <a:t>, 2019</a:t>
            </a:r>
            <a:br>
              <a:rPr lang="it-CH" sz="1400" dirty="0"/>
            </a:br>
            <a:r>
              <a:rPr lang="it-CH" sz="1400" dirty="0"/>
              <a:t>S. Moradi et al., </a:t>
            </a:r>
            <a:r>
              <a:rPr lang="it-CH" sz="1400" dirty="0">
                <a:hlinkClick r:id="rId4"/>
              </a:rPr>
              <a:t>Port-Hamiltonian Neural Networks with Output Error Noise Models</a:t>
            </a:r>
            <a:r>
              <a:rPr lang="it-CH" sz="1400" dirty="0"/>
              <a:t>, 2025</a:t>
            </a:r>
            <a:br>
              <a:rPr lang="it-CH" sz="1400" dirty="0"/>
            </a:br>
            <a:endParaRPr lang="it-CH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CH" sz="2400" dirty="0"/>
              <a:t>Lagrangian neural networks</a:t>
            </a:r>
            <a:br>
              <a:rPr lang="it-CH" sz="2400" dirty="0"/>
            </a:br>
            <a:r>
              <a:rPr lang="it-CH" sz="1400" dirty="0"/>
              <a:t>M. Cranmer et al., </a:t>
            </a:r>
            <a:r>
              <a:rPr lang="it-CH" sz="1400" dirty="0">
                <a:hlinkClick r:id="rId5"/>
              </a:rPr>
              <a:t>Lagrangian Neural Networks</a:t>
            </a:r>
            <a:r>
              <a:rPr lang="it-CH" sz="1400" dirty="0"/>
              <a:t>, 2020</a:t>
            </a:r>
          </a:p>
          <a:p>
            <a:endParaRPr lang="it-CH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CH" sz="2400" dirty="0"/>
              <a:t>Structured state-space sequence models</a:t>
            </a:r>
            <a:br>
              <a:rPr lang="it-CH" sz="2400" dirty="0"/>
            </a:br>
            <a:r>
              <a:rPr lang="it-CH" sz="1400" dirty="0"/>
              <a:t>A. Gu et al., </a:t>
            </a:r>
            <a:r>
              <a:rPr lang="it-CH" sz="1400" dirty="0">
                <a:hlinkClick r:id="rId6"/>
              </a:rPr>
              <a:t>Efficiently Modeling Long Sequences with Structured State Spaces</a:t>
            </a:r>
            <a:r>
              <a:rPr lang="it-CH" sz="1400" dirty="0"/>
              <a:t>, 2022</a:t>
            </a:r>
            <a:endParaRPr lang="it-CH" sz="2400" dirty="0"/>
          </a:p>
          <a:p>
            <a:endParaRPr lang="it-CH" sz="2400" dirty="0"/>
          </a:p>
          <a:p>
            <a:endParaRPr lang="it-CH" sz="2400" dirty="0"/>
          </a:p>
          <a:p>
            <a:endParaRPr lang="it-CH" sz="2400" dirty="0"/>
          </a:p>
          <a:p>
            <a:r>
              <a:rPr lang="it-CH" sz="2400" dirty="0"/>
              <a:t>    … and many, many more!</a:t>
            </a:r>
          </a:p>
        </p:txBody>
      </p:sp>
      <p:pic>
        <p:nvPicPr>
          <p:cNvPr id="4" name="Picture 3" descr="A diagram of a model&#10;&#10;Description automatically generated">
            <a:extLst>
              <a:ext uri="{FF2B5EF4-FFF2-40B4-BE49-F238E27FC236}">
                <a16:creationId xmlns:a16="http://schemas.microsoft.com/office/drawing/2014/main" id="{6B3DB385-C5B4-588C-5A3B-CD18EC416D9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0200" y="1524001"/>
            <a:ext cx="2514600" cy="31504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DD9F9E1-16DB-69B9-20D0-4B7DE5849D83}"/>
              </a:ext>
            </a:extLst>
          </p:cNvPr>
          <p:cNvSpPr txBox="1"/>
          <p:nvPr/>
        </p:nvSpPr>
        <p:spPr>
          <a:xfrm>
            <a:off x="7823200" y="4780001"/>
            <a:ext cx="342427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CH" sz="1000" dirty="0"/>
              <a:t>From M. Forgione, M. Mejari, and D. Piga </a:t>
            </a:r>
            <a:r>
              <a:rPr lang="en-GB" sz="1000" b="0" i="0" u="none" strike="noStrike" dirty="0">
                <a:solidFill>
                  <a:srgbClr val="1A0DAB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hlinkClick r:id="rId8"/>
              </a:rPr>
              <a:t>Model order reduction of deep structured state-space models: A system-theoretic approach</a:t>
            </a:r>
            <a:r>
              <a:rPr lang="en-GB" sz="1000" b="0" i="0" u="none" strike="noStrike" dirty="0"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, 2024</a:t>
            </a:r>
            <a:endParaRPr lang="it-CH" sz="1200" dirty="0"/>
          </a:p>
        </p:txBody>
      </p:sp>
    </p:spTree>
    <p:extLst>
      <p:ext uri="{BB962C8B-B14F-4D97-AF65-F5344CB8AC3E}">
        <p14:creationId xmlns:p14="http://schemas.microsoft.com/office/powerpoint/2010/main" val="35117838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Simulation error minimization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/>
              <p:nvPr/>
            </p:nvSpPr>
            <p:spPr>
              <a:xfrm>
                <a:off x="-6350" y="693597"/>
                <a:ext cx="12192000" cy="60016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it-CH" sz="2400" dirty="0"/>
              </a:p>
              <a:p>
                <a:r>
                  <a:rPr lang="it-CH" sz="2000" dirty="0"/>
                  <a:t>In principle, </a:t>
                </a:r>
                <a:r>
                  <a:rPr lang="it-CH" sz="2000" b="1" dirty="0"/>
                  <a:t>simulation error minimization</a:t>
                </a:r>
                <a:r>
                  <a:rPr lang="it-CH" sz="2000" dirty="0"/>
                  <a:t> can be a valid approach:</a:t>
                </a:r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Minimization wrt both </a:t>
                </a:r>
                <a14:m>
                  <m:oMath xmlns:m="http://schemas.openxmlformats.org/officeDocument/2006/math">
                    <m:r>
                      <a:rPr lang="it-CH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it-CH" sz="2000" dirty="0"/>
                  <a:t> (model)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CH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CH" sz="2000" dirty="0"/>
                  <a:t> (initial state)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It is related to maximum likelihood under certain hypotheses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It favors learning of </a:t>
                </a:r>
                <a:r>
                  <a:rPr lang="it-CH" sz="2000" b="1" dirty="0"/>
                  <a:t>long-term</a:t>
                </a:r>
                <a:r>
                  <a:rPr lang="it-CH" sz="2000" dirty="0"/>
                  <a:t> dependencies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We stick with it for the exercise session</a:t>
                </a:r>
              </a:p>
              <a:p>
                <a:endParaRPr lang="it-CH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It might be </a:t>
                </a:r>
                <a:r>
                  <a:rPr lang="it-CH" sz="2000" b="1" dirty="0"/>
                  <a:t>computationally heavy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Processing of a long sequence only gives one gradient update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It might be </a:t>
                </a:r>
                <a:r>
                  <a:rPr lang="it-CH" sz="2000" b="1" dirty="0"/>
                  <a:t>numerically hard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Unstable/chaotic dynamics cannot be predicted on the long term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It might not match the intended model usage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 MPC only needs estimates up to the prediction horizon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endParaRPr lang="it-CH" sz="2000" dirty="0"/>
              </a:p>
              <a:p>
                <a:r>
                  <a:rPr lang="it-CH" sz="2000" dirty="0"/>
                  <a:t>For these reasons, alternative methods based on simulation on </a:t>
                </a:r>
                <a:r>
                  <a:rPr lang="it-CH" sz="2000" b="1" dirty="0"/>
                  <a:t>shorter sub-sequences</a:t>
                </a:r>
                <a:r>
                  <a:rPr lang="it-CH" sz="2000" dirty="0"/>
                  <a:t> have been developed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350" y="693597"/>
                <a:ext cx="12192000" cy="6001643"/>
              </a:xfrm>
              <a:prstGeom prst="rect">
                <a:avLst/>
              </a:prstGeom>
              <a:blipFill>
                <a:blip r:embed="rId5"/>
                <a:stretch>
                  <a:fillRect l="-520" b="-84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\documentclass{article}&#10;\usepackage{amsmath}&#10;\newcommand{\sys}{S}&#10;\newcommand{\diss}{d}&#10;\newcommand{\learn}{\mathcal{L}} &#10;\newcommand{\free}{\mathcal{M}}  &#10;\newcommand{\D}{\mathcal{D}}&#10;\newcommand{\R}{\mathbb{R}}&#10;\newcommand{\nsamp}{T}&#10;\newcommand{\norm}[1]{\left\lVert#1\right\rVert}&#10;\newcommand{\E}{\mathbb{E}}&#10;\newcommand{\mdl}{M}&#10;\newcommand{\mdlstruc}{\mathcal{M}}&#10;\pagestyle{empty}&#10;&#10;\begin{document}&#10;&#10; \begin{equation*}&#10;  \hat \theta, \hat {x}(0) = \arg \min_{\theta, x(0)} &#10;\frac{1}{T} \sum_{k=0}^{\nsamp-1} \norm{\hat y^\mathrm{sim}(k) - y(k)}^2&#10; \end{equation*}&#10;&#10;\end{document}" title="IguanaTex Bitmap Display">
            <a:extLst>
              <a:ext uri="{FF2B5EF4-FFF2-40B4-BE49-F238E27FC236}">
                <a16:creationId xmlns:a16="http://schemas.microsoft.com/office/drawing/2014/main" id="{41C32532-F762-745B-F0D3-FE30889FD44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75466" y="1588462"/>
            <a:ext cx="5075492" cy="827526"/>
          </a:xfrm>
          <a:prstGeom prst="rect">
            <a:avLst/>
          </a:prstGeom>
        </p:spPr>
      </p:pic>
      <p:pic>
        <p:nvPicPr>
          <p:cNvPr id="13" name="Picture 12" descr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 \begin{equation*}&#10; \begin{split}&#10;  x({k+1}) &amp;= x(k) + &#10;f(x(k), u(k);\;\theta)\\&#10;  \hat{y}^{\rm sim}(k) &amp;= g(x(k);\;\theta)&#10;  \end{split}&#10; \end{equation*}&#10;&#10;\end{document}" title="IguanaTex Bitmap Display">
            <a:extLst>
              <a:ext uri="{FF2B5EF4-FFF2-40B4-BE49-F238E27FC236}">
                <a16:creationId xmlns:a16="http://schemas.microsoft.com/office/drawing/2014/main" id="{41CF705F-5624-F809-789B-EACA2F81E8B0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6961359" y="1588462"/>
            <a:ext cx="4141235" cy="75549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97B81AC-8C95-C867-AF01-2C5F8A1E0849}"/>
              </a:ext>
            </a:extLst>
          </p:cNvPr>
          <p:cNvCxnSpPr/>
          <p:nvPr/>
        </p:nvCxnSpPr>
        <p:spPr>
          <a:xfrm>
            <a:off x="6292305" y="1520757"/>
            <a:ext cx="0" cy="10201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2FCCE4A-2560-642C-E06F-E862DE921BA7}"/>
              </a:ext>
            </a:extLst>
          </p:cNvPr>
          <p:cNvSpPr txBox="1"/>
          <p:nvPr/>
        </p:nvSpPr>
        <p:spPr>
          <a:xfrm>
            <a:off x="3346450" y="-79375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CH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269468-8265-B07C-8EBD-A9BBBDC578C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89799" y="2622377"/>
            <a:ext cx="3403601" cy="1427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92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Truncated simulation error minimization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/>
              <p:nvPr/>
            </p:nvSpPr>
            <p:spPr>
              <a:xfrm>
                <a:off x="47625" y="704850"/>
                <a:ext cx="12192000" cy="59400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it-CH" sz="2000" dirty="0"/>
              </a:p>
              <a:p>
                <a:r>
                  <a:rPr lang="it-CH" sz="2000" dirty="0"/>
                  <a:t>Different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𝑳</m:t>
                    </m:r>
                  </m:oMath>
                </a14:m>
                <a:r>
                  <a:rPr lang="it-CH" sz="2000" b="1" dirty="0"/>
                  <a:t>-step-ahead</a:t>
                </a:r>
                <a:r>
                  <a:rPr lang="it-CH" sz="2000" dirty="0"/>
                  <a:t> </a:t>
                </a:r>
                <a:r>
                  <a:rPr lang="it-CH" sz="2000" b="1" dirty="0"/>
                  <a:t>error minimization</a:t>
                </a:r>
                <a:r>
                  <a:rPr lang="it-CH" sz="2000" dirty="0"/>
                  <a:t> schemes have been developed:</a:t>
                </a:r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Simulate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it-CH" sz="2000" dirty="0"/>
                  <a:t> (batch size) shorter sequences of length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dirty="0" smtClean="0"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it-CH" sz="2000" dirty="0"/>
                  <a:t> extracted from the longer (length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it-CH" sz="2000" dirty="0"/>
                  <a:t>) training dataset.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Main variation is: how do we deal with all possible initial conditions?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" y="704850"/>
                <a:ext cx="12192000" cy="5940088"/>
              </a:xfrm>
              <a:prstGeom prst="rect">
                <a:avLst/>
              </a:prstGeom>
              <a:blipFill>
                <a:blip r:embed="rId3"/>
                <a:stretch>
                  <a:fillRect l="-520" b="-853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Graphic 8">
            <a:extLst>
              <a:ext uri="{FF2B5EF4-FFF2-40B4-BE49-F238E27FC236}">
                <a16:creationId xmlns:a16="http://schemas.microsoft.com/office/drawing/2014/main" id="{E255A427-FBA0-18B6-2220-303FBF73BB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73121" y="1427326"/>
            <a:ext cx="7141335" cy="504643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D969FA-4B7D-F077-7C67-17F88493E1CD}"/>
              </a:ext>
            </a:extLst>
          </p:cNvPr>
          <p:cNvSpPr txBox="1"/>
          <p:nvPr/>
        </p:nvSpPr>
        <p:spPr>
          <a:xfrm>
            <a:off x="5299657" y="4541925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259782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Zero initialization strategy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/>
              <p:nvPr/>
            </p:nvSpPr>
            <p:spPr>
              <a:xfrm>
                <a:off x="47625" y="704850"/>
                <a:ext cx="12192000" cy="59400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it-CH" sz="2000" dirty="0"/>
              </a:p>
              <a:p>
                <a:endParaRPr lang="it-CH" sz="2000" b="1" dirty="0"/>
              </a:p>
              <a:p>
                <a:endParaRPr lang="it-CH" sz="2000" b="1" dirty="0"/>
              </a:p>
              <a:p>
                <a:endParaRPr lang="it-CH" sz="2000" b="1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Initialize from arbitrary (ZERO) state and discard a few initial samples from the loss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Described as a baseline in </a:t>
                </a:r>
                <a:r>
                  <a:rPr lang="it-CH" sz="1400" dirty="0"/>
                  <a:t>M.Forgione, M.Mejari, and D.Piga, </a:t>
                </a:r>
                <a:r>
                  <a:rPr lang="it-CH" sz="1400" dirty="0">
                    <a:hlinkClick r:id="rId4"/>
                  </a:rPr>
                  <a:t>Learning neural state-space models: do we need a state estimator?</a:t>
                </a:r>
                <a:r>
                  <a:rPr lang="it-CH" sz="1400" dirty="0"/>
                  <a:t>, 2022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Very simple, yet effective when the system memory is short  (wrt sequence length </a:t>
                </a:r>
                <a14:m>
                  <m:oMath xmlns:m="http://schemas.openxmlformats.org/officeDocument/2006/math">
                    <m:r>
                      <a:rPr lang="it-CH" sz="20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it-CH" sz="2000" dirty="0"/>
                  <a:t>)</a:t>
                </a:r>
              </a:p>
              <a:p>
                <a:endParaRPr lang="it-CH" sz="2000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" y="704850"/>
                <a:ext cx="12192000" cy="5940088"/>
              </a:xfrm>
              <a:prstGeom prst="rect">
                <a:avLst/>
              </a:prstGeom>
              <a:blipFill>
                <a:blip r:embed="rId5"/>
                <a:stretch>
                  <a:fillRect l="-41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983E8DDC-471C-AA1E-7ECE-820CBEDC09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4050" y="966786"/>
            <a:ext cx="3652929" cy="3652929"/>
          </a:xfrm>
          <a:prstGeom prst="rect">
            <a:avLst/>
          </a:prstGeom>
        </p:spPr>
      </p:pic>
      <p:pic>
        <p:nvPicPr>
          <p:cNvPr id="4" name="Picture 3" descr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$$&#10;\hat {\bf x}_{[:, 0]} = 0&#10;$$&#10;&#10;\end{document}" title="IguanaTex Bitmap Display">
            <a:extLst>
              <a:ext uri="{FF2B5EF4-FFF2-40B4-BE49-F238E27FC236}">
                <a16:creationId xmlns:a16="http://schemas.microsoft.com/office/drawing/2014/main" id="{DE6DF2B6-5180-4D36-EF30-F67CC354B6AF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8424" y="3978710"/>
            <a:ext cx="773841" cy="224006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745D6BB5-7E50-1423-BD45-4D73F743C1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46581" y="966786"/>
            <a:ext cx="7141335" cy="5046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6081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Learn the hidden state sequence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/>
              <p:nvPr/>
            </p:nvSpPr>
            <p:spPr>
              <a:xfrm>
                <a:off x="47625" y="704850"/>
                <a:ext cx="12192000" cy="6247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it-CH" sz="2000" dirty="0"/>
              </a:p>
              <a:p>
                <a:endParaRPr lang="it-CH" sz="2000" b="1" dirty="0"/>
              </a:p>
              <a:p>
                <a:endParaRPr lang="it-CH" sz="2000" b="1" dirty="0"/>
              </a:p>
              <a:p>
                <a:endParaRPr lang="it-CH" sz="2000" b="1" dirty="0"/>
              </a:p>
              <a:p>
                <a:endParaRPr lang="it-CH" sz="2000" b="1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Learn the sequence of states along with the system mappings </a:t>
                </a:r>
                <a14:m>
                  <m:oMath xmlns:m="http://schemas.openxmlformats.org/officeDocument/2006/math">
                    <m:r>
                      <a:rPr lang="it-CH" sz="2000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it-CH" sz="2000" dirty="0"/>
                  <a:t> and </a:t>
                </a:r>
                <a14:m>
                  <m:oMath xmlns:m="http://schemas.openxmlformats.org/officeDocument/2006/math">
                    <m:r>
                      <a:rPr lang="it-CH" sz="2000" i="1" dirty="0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it-CH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Regularize the learned state sequence with the systep mapping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Described in</a:t>
                </a:r>
                <a:r>
                  <a:rPr lang="it-CH" sz="1400" dirty="0"/>
                  <a:t> M.Forgione and D.Piga, </a:t>
                </a:r>
                <a:r>
                  <a:rPr lang="it-CH" sz="1400" dirty="0">
                    <a:hlinkClick r:id="rId3"/>
                  </a:rPr>
                  <a:t>Continuous-time system identification with neural networks</a:t>
                </a:r>
                <a:r>
                  <a:rPr lang="it-CH" sz="1400" dirty="0"/>
                  <a:t>, 2021</a:t>
                </a:r>
              </a:p>
              <a:p>
                <a:endParaRPr lang="it-CH" sz="2000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" y="704850"/>
                <a:ext cx="12192000" cy="6247864"/>
              </a:xfrm>
              <a:prstGeom prst="rect">
                <a:avLst/>
              </a:prstGeom>
              <a:blipFill>
                <a:blip r:embed="rId4"/>
                <a:stretch>
                  <a:fillRect l="-41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phic 4">
            <a:extLst>
              <a:ext uri="{FF2B5EF4-FFF2-40B4-BE49-F238E27FC236}">
                <a16:creationId xmlns:a16="http://schemas.microsoft.com/office/drawing/2014/main" id="{A34B565C-C4DC-631A-017A-B1CC606EF2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67781" y="717749"/>
            <a:ext cx="7772400" cy="549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80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Learn a state estimator along with the model (SUBNET)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2DE14E0-CC7B-02C4-B850-8C14C7345D75}"/>
              </a:ext>
            </a:extLst>
          </p:cNvPr>
          <p:cNvSpPr txBox="1"/>
          <p:nvPr/>
        </p:nvSpPr>
        <p:spPr>
          <a:xfrm>
            <a:off x="47625" y="704850"/>
            <a:ext cx="12192000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CH" sz="2000" dirty="0"/>
              <a:t>Use the initial samples of each sequence to reconstruct the initial state with a (learned) state estimator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CH" sz="2000" dirty="0"/>
              <a:t>See </a:t>
            </a:r>
            <a:r>
              <a:rPr lang="it-CH" sz="1400" dirty="0"/>
              <a:t>G. Beintema, M. Schoukens, R.Tóth </a:t>
            </a:r>
            <a:r>
              <a:rPr lang="en-GB" sz="1400" b="0" i="0" u="none" strike="noStrike" dirty="0">
                <a:solidFill>
                  <a:srgbClr val="1A0DAB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hlinkClick r:id="rId3"/>
              </a:rPr>
              <a:t>Deep subspace encoders for nonlinear system identification</a:t>
            </a:r>
            <a:r>
              <a:rPr lang="en-GB" sz="1400" b="0" i="0" u="none" strike="noStrike" dirty="0"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, 2022</a:t>
            </a:r>
            <a:endParaRPr lang="it-CH" sz="2000" dirty="0"/>
          </a:p>
          <a:p>
            <a:endParaRPr lang="it-CH" sz="2000" dirty="0"/>
          </a:p>
        </p:txBody>
      </p:sp>
      <p:pic>
        <p:nvPicPr>
          <p:cNvPr id="4" name="Picture 3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BED8F971-40A6-0F49-3A60-4FC18C399E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581" y="1498577"/>
            <a:ext cx="6241876" cy="221444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673EF27-9045-9805-1C45-2D4493049D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0375" y="966785"/>
            <a:ext cx="3532059" cy="35320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35937C-59EB-AE85-D652-254ED91E7307}"/>
              </a:ext>
            </a:extLst>
          </p:cNvPr>
          <p:cNvSpPr txBox="1"/>
          <p:nvPr/>
        </p:nvSpPr>
        <p:spPr>
          <a:xfrm>
            <a:off x="949036" y="3724271"/>
            <a:ext cx="616527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CH" sz="900" dirty="0"/>
              <a:t>From G. Beintema, M. Schoukens, R.Tóth </a:t>
            </a:r>
            <a:r>
              <a:rPr lang="en-GB" sz="900" b="0" i="0" u="none" strike="noStrike" dirty="0">
                <a:solidFill>
                  <a:srgbClr val="1A0DAB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hlinkClick r:id="rId3"/>
              </a:rPr>
              <a:t>Deep subspace encoders for nonlinear system identification</a:t>
            </a:r>
            <a:r>
              <a:rPr lang="en-GB" sz="900" b="0" i="0" u="none" strike="noStrike" dirty="0"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, 2022</a:t>
            </a:r>
            <a:endParaRPr lang="it-CH" sz="1100" dirty="0"/>
          </a:p>
        </p:txBody>
      </p:sp>
    </p:spTree>
    <p:extLst>
      <p:ext uri="{BB962C8B-B14F-4D97-AF65-F5344CB8AC3E}">
        <p14:creationId xmlns:p14="http://schemas.microsoft.com/office/powerpoint/2010/main" val="30524165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Truncated back-propagation through time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/>
              <p:nvPr/>
            </p:nvSpPr>
            <p:spPr>
              <a:xfrm>
                <a:off x="246581" y="790250"/>
                <a:ext cx="12192000" cy="50167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it-CH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Simulate over the entire length sequence, but </a:t>
                </a:r>
                <a:r>
                  <a:rPr lang="it-CH" sz="2000" b="1" dirty="0"/>
                  <a:t>truncate</a:t>
                </a:r>
                <a:r>
                  <a:rPr lang="it-CH" sz="2000" dirty="0"/>
                  <a:t> derivative computation  every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it-CH" sz="2000" dirty="0"/>
                  <a:t> steps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After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it-CH" sz="2000" dirty="0"/>
                  <a:t> steps, only the state </a:t>
                </a:r>
                <a:r>
                  <a:rPr lang="it-CH" sz="2000" b="1" dirty="0"/>
                  <a:t>value</a:t>
                </a:r>
                <a:r>
                  <a:rPr lang="it-CH" sz="2000" dirty="0"/>
                  <a:t> is propagated, while its derivatives wrt parameters are discarderd</a:t>
                </a:r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Sequential processing over the long sequence of length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it-CH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000" dirty="0"/>
                  <a:t>Parallelized by processing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it-CH" sz="2000" dirty="0"/>
                  <a:t> long sequences of length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it-CH" sz="2000" dirty="0"/>
                  <a:t> altogether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it-CH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it-CH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it-CH" sz="2000" dirty="0"/>
              </a:p>
              <a:p>
                <a:endParaRPr lang="it-CH" sz="2000" dirty="0"/>
              </a:p>
              <a:p>
                <a:r>
                  <a:rPr lang="it-CH" sz="2000" dirty="0"/>
                  <a:t>Classical machine-learning approach described e.g. in the </a:t>
                </a:r>
                <a:r>
                  <a:rPr lang="it-CH" sz="2000" dirty="0">
                    <a:hlinkClick r:id="rId3"/>
                  </a:rPr>
                  <a:t>Dive into Deep Learning book, ch 9.7</a:t>
                </a:r>
                <a:r>
                  <a:rPr lang="it-CH" sz="2000" dirty="0"/>
                  <a:t>. </a:t>
                </a:r>
                <a:br>
                  <a:rPr lang="it-CH" sz="2000" dirty="0"/>
                </a:br>
                <a:r>
                  <a:rPr lang="it-CH" sz="2000" dirty="0"/>
                  <a:t>Nice illustrative example in the ufficial PyTorch example </a:t>
                </a:r>
                <a:r>
                  <a:rPr lang="it-CH" sz="2000" dirty="0">
                    <a:hlinkClick r:id="rId4"/>
                  </a:rPr>
                  <a:t>word language model</a:t>
                </a:r>
                <a:r>
                  <a:rPr lang="it-CH" sz="2000" dirty="0"/>
                  <a:t> (NLP)</a:t>
                </a:r>
                <a:endParaRPr lang="it-CH" sz="2800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81" y="790250"/>
                <a:ext cx="12192000" cy="5016758"/>
              </a:xfrm>
              <a:prstGeom prst="rect">
                <a:avLst/>
              </a:prstGeom>
              <a:blipFill>
                <a:blip r:embed="rId5"/>
                <a:stretch>
                  <a:fillRect l="-520" b="-1263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82B4266-913A-6987-DF50-22CC77C8F7C8}"/>
              </a:ext>
            </a:extLst>
          </p:cNvPr>
          <p:cNvCxnSpPr/>
          <p:nvPr/>
        </p:nvCxnSpPr>
        <p:spPr>
          <a:xfrm>
            <a:off x="1002508" y="2506893"/>
            <a:ext cx="74787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67BFD3BF-FAB4-9EA9-DF58-D2F88AF56E28}"/>
              </a:ext>
            </a:extLst>
          </p:cNvPr>
          <p:cNvSpPr/>
          <p:nvPr/>
        </p:nvSpPr>
        <p:spPr>
          <a:xfrm>
            <a:off x="979648" y="2484033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8D41CDA-59DE-D942-E1D6-9A7F67844CD5}"/>
              </a:ext>
            </a:extLst>
          </p:cNvPr>
          <p:cNvSpPr/>
          <p:nvPr/>
        </p:nvSpPr>
        <p:spPr>
          <a:xfrm>
            <a:off x="2459740" y="2486618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C7A0A3B-43DD-48E0-A289-D8FDCBEBC67C}"/>
              </a:ext>
            </a:extLst>
          </p:cNvPr>
          <p:cNvSpPr/>
          <p:nvPr/>
        </p:nvSpPr>
        <p:spPr>
          <a:xfrm>
            <a:off x="3955327" y="2484038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CBE03BE-2534-864E-AEE5-8F17548766AE}"/>
              </a:ext>
            </a:extLst>
          </p:cNvPr>
          <p:cNvCxnSpPr/>
          <p:nvPr/>
        </p:nvCxnSpPr>
        <p:spPr>
          <a:xfrm>
            <a:off x="3990717" y="2276571"/>
            <a:ext cx="15029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668CD33E-86EC-30D8-994B-E43DDE6395A2}"/>
              </a:ext>
            </a:extLst>
          </p:cNvPr>
          <p:cNvSpPr/>
          <p:nvPr/>
        </p:nvSpPr>
        <p:spPr>
          <a:xfrm>
            <a:off x="5471578" y="2476291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6C49577-9BFC-5D42-77F1-141FE9FEDF7E}"/>
              </a:ext>
            </a:extLst>
          </p:cNvPr>
          <p:cNvSpPr/>
          <p:nvPr/>
        </p:nvSpPr>
        <p:spPr>
          <a:xfrm>
            <a:off x="6998164" y="2484042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64030E3-7294-E623-9B70-A0E6D051D6FE}"/>
                  </a:ext>
                </a:extLst>
              </p:cNvPr>
              <p:cNvSpPr txBox="1"/>
              <p:nvPr/>
            </p:nvSpPr>
            <p:spPr>
              <a:xfrm>
                <a:off x="4361851" y="1996799"/>
                <a:ext cx="76001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4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CH" sz="1400" dirty="0"/>
                  <a:t> steps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64030E3-7294-E623-9B70-A0E6D051D6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1851" y="1996799"/>
                <a:ext cx="760016" cy="307777"/>
              </a:xfrm>
              <a:prstGeom prst="rect">
                <a:avLst/>
              </a:prstGeom>
              <a:blipFill>
                <a:blip r:embed="rId6"/>
                <a:stretch>
                  <a:fillRect t="-4000" r="-1639" b="-2000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20DB63D-D2B0-362F-3D22-CC9B339557EC}"/>
                  </a:ext>
                </a:extLst>
              </p:cNvPr>
              <p:cNvSpPr txBox="1"/>
              <p:nvPr/>
            </p:nvSpPr>
            <p:spPr>
              <a:xfrm>
                <a:off x="8171561" y="2555322"/>
                <a:ext cx="76001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CH" sz="1400" dirty="0"/>
                  <a:t> steps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20DB63D-D2B0-362F-3D22-CC9B33955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1561" y="2555322"/>
                <a:ext cx="760016" cy="307777"/>
              </a:xfrm>
              <a:prstGeom prst="rect">
                <a:avLst/>
              </a:prstGeom>
              <a:blipFill>
                <a:blip r:embed="rId7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81588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 err="1">
                <a:solidFill>
                  <a:schemeClr val="accent1"/>
                </a:solidFill>
              </a:rPr>
              <a:t>PyTorch</a:t>
            </a:r>
            <a:r>
              <a:rPr lang="en-US" sz="3600" dirty="0">
                <a:solidFill>
                  <a:schemeClr val="accent1"/>
                </a:solidFill>
              </a:rPr>
              <a:t> Implementation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2DE14E0-CC7B-02C4-B850-8C14C7345D75}"/>
              </a:ext>
            </a:extLst>
          </p:cNvPr>
          <p:cNvSpPr txBox="1"/>
          <p:nvPr/>
        </p:nvSpPr>
        <p:spPr>
          <a:xfrm>
            <a:off x="246581" y="790250"/>
            <a:ext cx="1219200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CH" sz="2000" dirty="0"/>
              <a:t>Unlike with standard RNNs, we must work at a slightly lower level</a:t>
            </a:r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endParaRPr lang="it-CH" sz="2000" dirty="0"/>
          </a:p>
          <a:p>
            <a:r>
              <a:rPr lang="it-CH" sz="2000" dirty="0"/>
              <a:t>Note: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CH" sz="2000" dirty="0"/>
              <a:t>we actually implement: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CH" sz="2000" dirty="0"/>
              <a:t>we make a custom weight initialization</a:t>
            </a:r>
            <a:endParaRPr lang="it-CH" dirty="0"/>
          </a:p>
          <a:p>
            <a:endParaRPr lang="it-CH" sz="1100" dirty="0"/>
          </a:p>
          <a:p>
            <a:r>
              <a:rPr lang="it-CH" sz="1100" dirty="0"/>
              <a:t>Code adapted from </a:t>
            </a:r>
            <a:r>
              <a:rPr lang="it-CH" sz="1100" dirty="0">
                <a:hlinkClick r:id="rId4"/>
              </a:rPr>
              <a:t>https://github.com/forgi86/pytorch-ident</a:t>
            </a:r>
            <a:endParaRPr lang="it-CH" sz="11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8EE95F-0AB0-E6F2-EC84-71D287760E1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189" t="-257" b="-1"/>
          <a:stretch/>
        </p:blipFill>
        <p:spPr>
          <a:xfrm>
            <a:off x="618363" y="1752998"/>
            <a:ext cx="3953636" cy="32341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C414DD-4B17-15C7-9414-E11F7C15D356}"/>
                  </a:ext>
                </a:extLst>
              </p:cNvPr>
              <p:cNvSpPr txBox="1"/>
              <p:nvPr/>
            </p:nvSpPr>
            <p:spPr>
              <a:xfrm>
                <a:off x="533400" y="1287013"/>
                <a:ext cx="37178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C</a:t>
                </a:r>
                <a:r>
                  <a:rPr lang="en-CH" dirty="0"/>
                  <a:t>ustom state-update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CH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C414DD-4B17-15C7-9414-E11F7C15D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1287013"/>
                <a:ext cx="3717813" cy="369332"/>
              </a:xfrm>
              <a:prstGeom prst="rect">
                <a:avLst/>
              </a:prstGeom>
              <a:blipFill>
                <a:blip r:embed="rId6"/>
                <a:stretch>
                  <a:fillRect l="-1706" t="-6667" b="-26667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D2018C5-8AEB-B8CD-D5D5-F0A9999111B0}"/>
                  </a:ext>
                </a:extLst>
              </p:cNvPr>
              <p:cNvSpPr txBox="1"/>
              <p:nvPr/>
            </p:nvSpPr>
            <p:spPr>
              <a:xfrm>
                <a:off x="6323531" y="1287013"/>
                <a:ext cx="39440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C</a:t>
                </a:r>
                <a:r>
                  <a:rPr lang="en-CH" dirty="0"/>
                  <a:t>ustom code to unroll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CH" dirty="0"/>
                  <a:t> over time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D2018C5-8AEB-B8CD-D5D5-F0A999911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3531" y="1287013"/>
                <a:ext cx="3944093" cy="369332"/>
              </a:xfrm>
              <a:prstGeom prst="rect">
                <a:avLst/>
              </a:prstGeom>
              <a:blipFill>
                <a:blip r:embed="rId7"/>
                <a:stretch>
                  <a:fillRect l="-1282" t="-6667" r="-321" b="-26667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$&#10;x({k+1}) = x(k) + f(x(k), u(k); \theta) \\&#10;$&#10;&#10;\end{document}" title="IguanaTex Bitmap Display">
            <a:extLst>
              <a:ext uri="{FF2B5EF4-FFF2-40B4-BE49-F238E27FC236}">
                <a16:creationId xmlns:a16="http://schemas.microsoft.com/office/drawing/2014/main" id="{54FB3CA8-DE0B-598B-13D3-A6E0F98CE35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3206123" y="5443987"/>
            <a:ext cx="3683001" cy="254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F801D60-EE1D-C94D-BCD2-011BFE71F0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42581" y="1656345"/>
            <a:ext cx="3678923" cy="31738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A158FAC-9E6C-CFE1-8932-9484294D4EA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18677" y="5024037"/>
            <a:ext cx="3059087" cy="128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1916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 err="1">
                <a:solidFill>
                  <a:schemeClr val="accent1"/>
                </a:solidFill>
              </a:rPr>
              <a:t>PyTorch</a:t>
            </a:r>
            <a:r>
              <a:rPr lang="en-US" sz="3600" dirty="0">
                <a:solidFill>
                  <a:schemeClr val="accent1"/>
                </a:solidFill>
              </a:rPr>
              <a:t> Implementation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/>
              <p:nvPr/>
            </p:nvSpPr>
            <p:spPr>
              <a:xfrm>
                <a:off x="246581" y="790250"/>
                <a:ext cx="10383319" cy="59400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CH" sz="2000" dirty="0"/>
                  <a:t>We can then instantiate a model that behaves very similarly to a standard PyTorch RNN </a:t>
                </a:r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r>
                  <a:rPr lang="it-CH" sz="2000" dirty="0"/>
                  <a:t>The model accepts a batch of initial states (B, n_x) and input sequences (B, T, n_u) and returns a batch of simulated states (B, T, n_x)</a:t>
                </a:r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endParaRPr lang="it-CH" sz="2000" dirty="0"/>
              </a:p>
              <a:p>
                <a:r>
                  <a:rPr lang="it-CH" sz="2000" dirty="0"/>
                  <a:t>We may finally process batch_x_sim through a feed-forward network to simulate the output </a:t>
                </a:r>
              </a:p>
              <a:p>
                <a:r>
                  <a:rPr lang="it-CH" sz="2000" dirty="0"/>
                  <a:t>equation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dirty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2000" b="0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CH" sz="2000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it-CH" sz="20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CH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CH" sz="20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CH" sz="2000" dirty="0"/>
                  <a:t>. Alternatively, we may set the output to a subset of the simulated states. </a:t>
                </a:r>
              </a:p>
              <a:p>
                <a:endParaRPr lang="it-CH" sz="2000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2DE14E0-CC7B-02C4-B850-8C14C7345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81" y="790250"/>
                <a:ext cx="10383319" cy="5940088"/>
              </a:xfrm>
              <a:prstGeom prst="rect">
                <a:avLst/>
              </a:prstGeom>
              <a:blipFill>
                <a:blip r:embed="rId3"/>
                <a:stretch>
                  <a:fillRect l="-611" t="-641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C261563F-55F0-89E8-21C7-A1761EFA5D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6421" y="3518471"/>
            <a:ext cx="8216114" cy="189172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6B8A2C6-9A85-8DD3-31EE-FF8610B001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6421" y="1328340"/>
            <a:ext cx="6280150" cy="113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795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993C5-FE6B-AC57-695B-0A822EED8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063D222-AE2B-5AAF-F57D-6CD70B063897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Conclusions</a:t>
            </a:r>
          </a:p>
        </p:txBody>
      </p:sp>
      <p:sp>
        <p:nvSpPr>
          <p:cNvPr id="5" name="CasellaDiTesto 1">
            <a:extLst>
              <a:ext uri="{FF2B5EF4-FFF2-40B4-BE49-F238E27FC236}">
                <a16:creationId xmlns:a16="http://schemas.microsoft.com/office/drawing/2014/main" id="{27B97490-D3F2-56F8-2A90-68DEE17884D1}"/>
              </a:ext>
            </a:extLst>
          </p:cNvPr>
          <p:cNvSpPr txBox="1"/>
          <p:nvPr/>
        </p:nvSpPr>
        <p:spPr>
          <a:xfrm>
            <a:off x="246581" y="1294888"/>
            <a:ext cx="1038331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CH" sz="2000" dirty="0"/>
              <a:t>Neural state-space models are just custom RNNs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CH" sz="2000" dirty="0"/>
              <a:t>Beyond standard Vanilla RNN, LSTM, GRU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CH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CH" sz="2000" dirty="0"/>
          </a:p>
          <a:p>
            <a:r>
              <a:rPr lang="it-CH" sz="2000" dirty="0"/>
              <a:t>Recent research has explored: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CH" sz="2000" dirty="0"/>
              <a:t>State initialization for training with mini-batches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CH" sz="2000" dirty="0"/>
              <a:t>Embedding of physical knowledge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CH" sz="2000" dirty="0"/>
          </a:p>
          <a:p>
            <a:r>
              <a:rPr lang="it-CH" sz="2000" dirty="0"/>
              <a:t>We focus on physical knowledge in the exercises</a:t>
            </a:r>
          </a:p>
        </p:txBody>
      </p:sp>
    </p:spTree>
    <p:extLst>
      <p:ext uri="{BB962C8B-B14F-4D97-AF65-F5344CB8AC3E}">
        <p14:creationId xmlns:p14="http://schemas.microsoft.com/office/powerpoint/2010/main" val="2384196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544B9190-CC66-3045-B18E-543DD7776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B079E-E48D-41EE-8E0D-6D7DB137FADB}" type="slidenum">
              <a:rPr lang="en-US" smtClean="0"/>
              <a:t>15</a:t>
            </a:fld>
            <a:endParaRPr lang="en-US" dirty="0"/>
          </a:p>
        </p:txBody>
      </p:sp>
      <p:sp>
        <p:nvSpPr>
          <p:cNvPr id="7" name="CasellaDiTesto 6"/>
          <p:cNvSpPr txBox="1"/>
          <p:nvPr/>
        </p:nvSpPr>
        <p:spPr>
          <a:xfrm>
            <a:off x="0" y="3751368"/>
            <a:ext cx="12192000" cy="998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4400" dirty="0">
                <a:solidFill>
                  <a:schemeClr val="accent1">
                    <a:lumMod val="75000"/>
                  </a:schemeClr>
                </a:solidFill>
              </a:rPr>
              <a:t>Thank you for your attention</a:t>
            </a:r>
            <a:endParaRPr lang="en-US" sz="4400" b="1" dirty="0">
              <a:solidFill>
                <a:schemeClr val="accent1">
                  <a:lumMod val="75000"/>
                </a:schemeClr>
              </a:solidFill>
              <a:latin typeface="Trebuchet MS" charset="0"/>
              <a:ea typeface="Trebuchet MS" charset="0"/>
              <a:cs typeface="Trebuchet MS" charset="0"/>
            </a:endParaRPr>
          </a:p>
        </p:txBody>
      </p:sp>
      <p:pic>
        <p:nvPicPr>
          <p:cNvPr id="4" name="Picture 52" descr="C:\Users\marco\Downloads\IDSIA-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3013" y="442046"/>
            <a:ext cx="1723868" cy="20934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2" descr="ampus Lugano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4563" y="485678"/>
            <a:ext cx="2727038" cy="1949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magine 8" descr="Immagine che contiene esterni, cielo, edificio, edificio governativo&#10;&#10;Descrizione generata automaticamente">
            <a:extLst>
              <a:ext uri="{FF2B5EF4-FFF2-40B4-BE49-F238E27FC236}">
                <a16:creationId xmlns:a16="http://schemas.microsoft.com/office/drawing/2014/main" id="{0874940B-3B5F-4726-B105-568BD2A322B4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515" y="504920"/>
            <a:ext cx="2728325" cy="1950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60840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5"/>
  <p:tag name="ORIGINALWIDTH" val="114"/>
  <p:tag name="OUTPUTTYPE" val="PDF"/>
  <p:tag name="IGUANATEXVERSION" val="160"/>
  <p:tag name="LATEXADDIN" val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\begin{align*}&#10;x(k+1) &amp;= f(x(k), u(k); \theta) \\&#10;y(k) &amp;= g(x(k); \theta)&#10;\end{align*}&#10;&#10;\end{document}"/>
  <p:tag name="IGUANATEXSIZE" val="24"/>
  <p:tag name="IGUANATEXCURSOR" val="471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5"/>
  <p:tag name="ORIGINALWIDTH" val="91"/>
  <p:tag name="OUTPUTTYPE" val="PDF"/>
  <p:tag name="IGUANATEXVERSION" val="160"/>
  <p:tag name="LATEXADDIN" val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\begin{align*}&#10;\dot x(t) &amp;= f(x(t), u(t); \theta) \\&#10;y(t) &amp;= g(x(t); \theta)&#10;\end{align*}&#10;&#10;\end{document}"/>
  <p:tag name="IGUANATEXSIZE" val="18"/>
  <p:tag name="IGUANATEXCURSOR" val="447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42"/>
  <p:tag name="ORIGINALWIDTH" val="177"/>
  <p:tag name="OUTPUTTYPE" val="PDF"/>
  <p:tag name="IGUANATEXVERSION" val="160"/>
  <p:tag name="LATEXADDIN" val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\begin{align*}&#10;f(z; \theta) &amp;= W_3 \sigma(W_2\sigma(W_1 z + b_1) + b_2) + b_3\\&#10;z &amp;= [x \;u]^\top\\&#10;\theta &amp;= \mathrm{vec}(W_1, W_2, W_3, b_1, b_2, b_3)&#10;\end{align*}&#10;&#10;\end{document}"/>
  <p:tag name="IGUANATEXSIZE" val="24"/>
  <p:tag name="IGUANATEXCURSOR" val="433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5"/>
  <p:tag name="ORIGINALWIDTH" val="145"/>
  <p:tag name="OUTPUTTYPE" val="PDF"/>
  <p:tag name="IGUANATEXVERSION" val="160"/>
  <p:tag name="LATEXADDIN" val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\begin{align*}&#10;x({k+1}) &amp;= x(k) + f(x(k), u(k); \theta) \\&#10;y(k) &amp;= g(x(k); \theta)&#10;\end{align*}&#10;&#10;\end{document}"/>
  <p:tag name="IGUANATEXSIZE" val="24"/>
  <p:tag name="IGUANATEXCURSOR" val="480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40"/>
  <p:tag name="ORIGINALWIDTH" val="74"/>
  <p:tag name="OUTPUTTYPE" val="PDF"/>
  <p:tag name="IGUANATEXVERSION" val="160"/>
  <p:tag name="LATEXADDIN" val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\begin{align*}&#10;\dot x_1 &amp;= f_1(x_1, u; \theta) \\&#10;\dot x_2 &amp;= f_2(x_1, x_2; \theta) \\&#10;y &amp;= x_2&#10;\end{align*}&#10;&#10;\end{document}"/>
  <p:tag name="IGUANATEXSIZE" val="18"/>
  <p:tag name="IGUANATEXCURSOR" val="472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0"/>
  <p:tag name="ORIGINALWIDTH" val="184"/>
  <p:tag name="OUTPUTTYPE" val="PDF"/>
  <p:tag name="IGUANATEXVERSION" val="160"/>
  <p:tag name="LATEXADDIN" val="\documentclass{article}&#10;\usepackage{amsmath}&#10;\newcommand{\sys}{S}&#10;\newcommand{\diss}{d}&#10;\newcommand{\learn}{\mathcal{L}} &#10;\newcommand{\free}{\mathcal{M}}  &#10;\newcommand{\D}{\mathcal{D}}&#10;\newcommand{\R}{\mathbb{R}}&#10;\newcommand{\nsamp}{T}&#10;\newcommand{\norm}[1]{\left\lVert#1\right\rVert}&#10;\newcommand{\E}{\mathbb{E}}&#10;\newcommand{\mdl}{M}&#10;\newcommand{\mdlstruc}{\mathcal{M}}&#10;\pagestyle{empty}&#10;&#10;\begin{document}&#10;&#10; \begin{equation*}&#10;  \hat \theta, \hat {x}(0) = \arg \min_{\theta, x(0)} &#10;\frac{1}{T} \sum_{k=0}^{\nsamp-1} \norm{\hat y^\mathrm{sim}(k) - y(k)}^2&#10; \end{equation*}&#10;&#10;\end{document}"/>
  <p:tag name="IGUANATEXSIZE" val="24"/>
  <p:tag name="IGUANATEXCURSOR" val="550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7"/>
  <p:tag name="ORIGINALWIDTH" val="148"/>
  <p:tag name="OUTPUTTYPE" val="PDF"/>
  <p:tag name="IGUANATEXVERSION" val="160"/>
  <p:tag name="LATEXADDIN" val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 \begin{equation*}&#10; \begin{split}&#10;  x({k+1}) &amp;= x(k) + &#10;f(x(k), u(k);\;\theta)\\&#10;  \hat{y}^{\rm sim}(k) &amp;= g(x(k);\;\theta)&#10;  \end{split}&#10; \end{equation*}&#10;&#10;\end{document}"/>
  <p:tag name="IGUANATEXSIZE" val="24"/>
  <p:tag name="IGUANATEXCURSOR" val="510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"/>
  <p:tag name="ORIGINALWIDTH" val="38"/>
  <p:tag name="OUTPUTTYPE" val="PDF"/>
  <p:tag name="IGUANATEXVERSION" val="160"/>
  <p:tag name="LATEXADDIN" val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$$&#10;\hat {\bf x}_{[:, 0]} = 0&#10;$$&#10;&#10;\end{document}"/>
  <p:tag name="IGUANATEXSIZE" val="18"/>
  <p:tag name="IGUANATEXCURSOR" val="420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145"/>
  <p:tag name="OUTPUTTYPE" val="PDF"/>
  <p:tag name="IGUANATEXVERSION" val="160"/>
  <p:tag name="LATEXADDIN" val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$&#10;x({k+1}) = x(k) + f(x(k), u(k); \theta) \\&#10;$&#10;&#10;\end{document}"/>
  <p:tag name="IGUANATEXSIZE" val="20"/>
  <p:tag name="IGUANATEXCURSOR" val="439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27105</TotalTime>
  <Words>1170</Words>
  <Application>Microsoft Macintosh PowerPoint</Application>
  <PresentationFormat>Widescreen</PresentationFormat>
  <Paragraphs>252</Paragraphs>
  <Slides>15</Slides>
  <Notes>14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Cambria Math</vt:lpstr>
      <vt:lpstr>Trebuchet MS</vt:lpstr>
      <vt:lpstr>Tema di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Piga Dario</dc:creator>
  <cp:lastModifiedBy>Forgione Marco</cp:lastModifiedBy>
  <cp:revision>809</cp:revision>
  <dcterms:created xsi:type="dcterms:W3CDTF">2023-03-08T09:24:31Z</dcterms:created>
  <dcterms:modified xsi:type="dcterms:W3CDTF">2026-06-11T16:01:42Z</dcterms:modified>
</cp:coreProperties>
</file>
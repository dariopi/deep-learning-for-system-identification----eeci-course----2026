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ink/ink1.xml" ContentType="application/inkml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6" r:id="rId2"/>
    <p:sldId id="6340" r:id="rId3"/>
    <p:sldId id="6297" r:id="rId4"/>
    <p:sldId id="6291" r:id="rId5"/>
    <p:sldId id="6354" r:id="rId6"/>
    <p:sldId id="6355" r:id="rId7"/>
    <p:sldId id="6356" r:id="rId8"/>
    <p:sldId id="6301" r:id="rId9"/>
    <p:sldId id="6305" r:id="rId10"/>
    <p:sldId id="6308" r:id="rId11"/>
    <p:sldId id="6307" r:id="rId12"/>
    <p:sldId id="6357" r:id="rId13"/>
    <p:sldId id="6358" r:id="rId14"/>
    <p:sldId id="6359" r:id="rId15"/>
    <p:sldId id="6360" r:id="rId16"/>
    <p:sldId id="6361" r:id="rId17"/>
    <p:sldId id="6362" r:id="rId18"/>
    <p:sldId id="6349" r:id="rId19"/>
    <p:sldId id="6346" r:id="rId20"/>
    <p:sldId id="6345" r:id="rId21"/>
    <p:sldId id="6365" r:id="rId22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>
        <p:scale>
          <a:sx n="68" d="100"/>
          <a:sy n="68" d="100"/>
        </p:scale>
        <p:origin x="924" y="-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2T08:26:09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D583-47DE-5F89-675A-F88FED36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32EB26B-D869-6279-B26D-1C4D6F8B9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F676DDA-B9BA-12A4-768E-E8B61FEE6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07EEF9-3341-A4E8-976B-D4C6B3E3D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56159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6090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6347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209370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21431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50855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06536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584365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42301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08488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2570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79D8-DBBF-EF6E-8EBD-94C2333D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CD921C-0B04-55C2-F307-3BC69790F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9EA472-F729-6B42-9A45-46695140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A1AEB3-2BC2-B44F-600D-A77AEDB7F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22638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844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6BB3-14E5-099B-1725-3FBDA498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0AFEA3-19C9-C532-0B5A-D53773122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2CEA9E-ADDC-BDA3-8F37-6F90B81B1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F46AB6-9FE7-83D6-9776-562709BB6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67361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353A-4B2C-3988-03E9-EEB56357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9A330C7-BD9E-03E5-A6CD-22EF7D0E6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76307DF-8D40-70C4-6886-652EF2060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FBC5DD-D687-70EA-1E20-5641097AF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75745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29F5-2E29-3040-1BDD-B31D9345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7ECBBB2-1CD2-B739-DEF1-E79AB9FB8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ED3846B-FD13-D7EC-9138-F89CE8245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1E9E69-2093-85FB-32A7-FA865FEEC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794425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D04D-E8AF-4A26-F48D-944E5FE8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8055D93-FEAD-F4E3-11F7-09954F0F0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FE810E-CCAD-043C-6481-B9318B2D3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3407BE-0374-923D-BBF9-35E760054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594517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BDDF-6F92-0214-F257-387EB69E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EC2002-684E-F440-3DE1-D0CFEC3AA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C7A379-AA00-4D05-6CEF-2BDDA8FF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691F9B-0A31-6929-41A2-796DF4B87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69028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0DB0-D2EB-F068-E132-CEE565FE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3FD4FE-38B3-8FBF-2C8D-4A71841BD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827FD2C-1417-E241-B440-CD44B1EC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B10243-ACE5-452E-0BF0-DB3CEFA8C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64910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4D841-E8DF-4A6A-6842-D0D82477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08A1DB-75D5-D751-1326-F83C1189F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91EB17-6C3D-36EC-E24D-4BF23B0C7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54D95D-F120-C42D-CA32-19E45BA72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2542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ACBC1-7691-4B0F-B09B-D5FA1D46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C408B5E2-4029-434C-9F5D-FF2C2CDE6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539" y="622151"/>
            <a:ext cx="2994821" cy="520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H2020-MSCA-RISE-2019</a:t>
            </a:r>
          </a:p>
          <a:p>
            <a:r>
              <a:rPr lang="pt-BR" dirty="0"/>
              <a:t>VIRTUOUS GA N</a:t>
            </a:r>
            <a:r>
              <a:rPr lang="pt-BR" dirty="0" err="1"/>
              <a:t>°</a:t>
            </a:r>
            <a:r>
              <a:rPr lang="pt-BR" dirty="0"/>
              <a:t> 872181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467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5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4" Type="http://schemas.openxmlformats.org/officeDocument/2006/relationships/tags" Target="../tags/tag6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22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21.png"/><Relationship Id="rId5" Type="http://schemas.openxmlformats.org/officeDocument/2006/relationships/tags" Target="../tags/tag11.xml"/><Relationship Id="rId10" Type="http://schemas.openxmlformats.org/officeDocument/2006/relationships/image" Target="../media/image20.png"/><Relationship Id="rId4" Type="http://schemas.openxmlformats.org/officeDocument/2006/relationships/tags" Target="../tags/tag10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6.xml"/><Relationship Id="rId12" Type="http://schemas.openxmlformats.org/officeDocument/2006/relationships/image" Target="../media/image2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25.png"/><Relationship Id="rId5" Type="http://schemas.openxmlformats.org/officeDocument/2006/relationships/tags" Target="../tags/tag16.xml"/><Relationship Id="rId10" Type="http://schemas.openxmlformats.org/officeDocument/2006/relationships/image" Target="../media/image24.png"/><Relationship Id="rId4" Type="http://schemas.openxmlformats.org/officeDocument/2006/relationships/tags" Target="../tags/tag15.xml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onlinearbenchmark.org/" TargetMode="External"/><Relationship Id="rId3" Type="http://schemas.openxmlformats.org/officeDocument/2006/relationships/tags" Target="../tags/tag17.xml"/><Relationship Id="rId7" Type="http://schemas.openxmlformats.org/officeDocument/2006/relationships/image" Target="../media/image28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30.png"/><Relationship Id="rId5" Type="http://schemas.openxmlformats.org/officeDocument/2006/relationships/slideLayout" Target="../slideLayouts/slideLayout1.xml"/><Relationship Id="rId10" Type="http://schemas.openxmlformats.org/officeDocument/2006/relationships/hyperlink" Target="https://github.com/forgi86/dl-sysid-eeci2025/blob/main/lessons/01_introduction/cascaded_tanks.ipynb" TargetMode="External"/><Relationship Id="rId4" Type="http://schemas.openxmlformats.org/officeDocument/2006/relationships/tags" Target="../tags/tag18.xml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21.xml"/><Relationship Id="rId7" Type="http://schemas.openxmlformats.org/officeDocument/2006/relationships/image" Target="../media/image3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3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35.png"/><Relationship Id="rId5" Type="http://schemas.openxmlformats.org/officeDocument/2006/relationships/tags" Target="../tags/tag26.xml"/><Relationship Id="rId10" Type="http://schemas.openxmlformats.org/officeDocument/2006/relationships/image" Target="../media/image34.png"/><Relationship Id="rId4" Type="http://schemas.openxmlformats.org/officeDocument/2006/relationships/tags" Target="../tags/tag25.xml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29.xml"/><Relationship Id="rId7" Type="http://schemas.openxmlformats.org/officeDocument/2006/relationships/image" Target="../media/image38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7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2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41.gif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34.xml"/><Relationship Id="rId7" Type="http://schemas.openxmlformats.org/officeDocument/2006/relationships/image" Target="../media/image44.png"/><Relationship Id="rId12" Type="http://schemas.openxmlformats.org/officeDocument/2006/relationships/image" Target="../media/image480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12.xml"/><Relationship Id="rId11" Type="http://schemas.openxmlformats.org/officeDocument/2006/relationships/customXml" Target="../ink/ink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7.png"/><Relationship Id="rId4" Type="http://schemas.openxmlformats.org/officeDocument/2006/relationships/tags" Target="../tags/tag35.xml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38.xml"/><Relationship Id="rId7" Type="http://schemas.openxmlformats.org/officeDocument/2006/relationships/image" Target="../media/image48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51.png"/><Relationship Id="rId4" Type="http://schemas.openxmlformats.org/officeDocument/2006/relationships/tags" Target="../tags/tag39.xml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44B9190-CC66-3045-B18E-543DD777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355801" y="3190028"/>
            <a:ext cx="11712374" cy="2176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Deep learning for System Identification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Dario Piga, Dalle Molle Institute for Artificial Intelligence, USI-SUPSI, Lugano, Switzerland</a:t>
            </a:r>
            <a:br>
              <a:rPr lang="en-US" sz="1600" dirty="0">
                <a:latin typeface="Trebuchet MS" charset="0"/>
                <a:ea typeface="Trebuchet MS" charset="0"/>
                <a:cs typeface="Trebuchet MS" charset="0"/>
              </a:rPr>
            </a:br>
            <a:r>
              <a:rPr lang="en-US" sz="1600" dirty="0"/>
              <a:t>Leuven, June 15, 2026 </a:t>
            </a:r>
          </a:p>
        </p:txBody>
      </p:sp>
      <p:pic>
        <p:nvPicPr>
          <p:cNvPr id="4" name="Picture 52" descr="C:\Users\marco\Downloads\IDSIA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012" y="485678"/>
            <a:ext cx="1920867" cy="233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mpus Lugano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563" y="485678"/>
            <a:ext cx="3038676" cy="217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 descr="Immagine che contiene esterni, cielo, edificio, edificio governativo&#10;&#10;Descrizione generata automaticamente">
            <a:extLst>
              <a:ext uri="{FF2B5EF4-FFF2-40B4-BE49-F238E27FC236}">
                <a16:creationId xmlns:a16="http://schemas.microsoft.com/office/drawing/2014/main" id="{0874940B-3B5F-4726-B105-568BD2A322B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15" y="504919"/>
            <a:ext cx="3040110" cy="21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6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2953-6A38-869F-FEEB-28489C4F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256F4DE3-333D-1763-9558-7CBF3EB6024F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BAD32E5-F594-F3CC-36DB-DFEFFFE15906}"/>
              </a:ext>
            </a:extLst>
          </p:cNvPr>
          <p:cNvSpPr txBox="1"/>
          <p:nvPr/>
        </p:nvSpPr>
        <p:spPr>
          <a:xfrm>
            <a:off x="448638" y="2767729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Introduction to System Identification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C3966C9-7422-B912-FF71-EE308DC2E530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09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Models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DE14E0-CC7B-02C4-B850-8C14C7345D75}"/>
              </a:ext>
            </a:extLst>
          </p:cNvPr>
          <p:cNvSpPr txBox="1"/>
          <p:nvPr/>
        </p:nvSpPr>
        <p:spPr>
          <a:xfrm>
            <a:off x="47625" y="790575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>
                <a:solidFill>
                  <a:srgbClr val="0070C0"/>
                </a:solidFill>
              </a:rPr>
              <a:t>Abstractions</a:t>
            </a:r>
            <a:r>
              <a:rPr lang="it-CH" sz="2400" dirty="0"/>
              <a:t> of reality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/>
              <a:t>Models can </a:t>
            </a:r>
            <a:r>
              <a:rPr lang="it-CH" sz="2400" dirty="0" err="1">
                <a:solidFill>
                  <a:srgbClr val="0070C0"/>
                </a:solidFill>
              </a:rPr>
              <a:t>describe</a:t>
            </a:r>
            <a:r>
              <a:rPr lang="it-CH" sz="2400" dirty="0"/>
              <a:t> </a:t>
            </a:r>
            <a:r>
              <a:rPr lang="it-CH" sz="2400" dirty="0" err="1"/>
              <a:t>mechanical</a:t>
            </a:r>
            <a:r>
              <a:rPr lang="it-CH" sz="2400" dirty="0"/>
              <a:t> systems, social interactions, markets,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/>
              <a:t>Different</a:t>
            </a:r>
            <a:r>
              <a:rPr lang="it-CH" sz="2400" dirty="0"/>
              <a:t> </a:t>
            </a:r>
            <a:r>
              <a:rPr lang="it-CH" sz="2400" dirty="0" err="1"/>
              <a:t>types</a:t>
            </a:r>
            <a:r>
              <a:rPr lang="it-CH" sz="2400" dirty="0"/>
              <a:t> of models: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Intuitive/</a:t>
            </a:r>
            <a:r>
              <a:rPr lang="it-CH" sz="2400" dirty="0" err="1">
                <a:solidFill>
                  <a:srgbClr val="0070C0"/>
                </a:solidFill>
              </a:rPr>
              <a:t>mental</a:t>
            </a:r>
            <a:r>
              <a:rPr lang="it-CH" sz="2400" dirty="0">
                <a:solidFill>
                  <a:srgbClr val="0070C0"/>
                </a:solidFill>
              </a:rPr>
              <a:t>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CH" sz="2400" dirty="0" err="1">
                <a:solidFill>
                  <a:srgbClr val="0070C0"/>
                </a:solidFill>
              </a:rPr>
              <a:t>Graphical</a:t>
            </a:r>
            <a:r>
              <a:rPr lang="it-CH" sz="2400" dirty="0">
                <a:solidFill>
                  <a:srgbClr val="0070C0"/>
                </a:solidFill>
              </a:rPr>
              <a:t> models </a:t>
            </a:r>
            <a:r>
              <a:rPr lang="it-CH" sz="2400" dirty="0"/>
              <a:t>(Bode </a:t>
            </a:r>
            <a:r>
              <a:rPr lang="it-CH" sz="2400" dirty="0" err="1"/>
              <a:t>diagrams</a:t>
            </a:r>
            <a:r>
              <a:rPr lang="it-CH" sz="2400" dirty="0"/>
              <a:t>, flowcharts)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Mathematical models </a:t>
            </a:r>
            <a:r>
              <a:rPr lang="it-CH" sz="2400" dirty="0"/>
              <a:t>describing relations between variables/signals of the system/process</a:t>
            </a:r>
          </a:p>
        </p:txBody>
      </p:sp>
      <p:pic>
        <p:nvPicPr>
          <p:cNvPr id="7" name="Immagine 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dot{\bf{x}}(t) &amp;= f(x(t),u(t)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1589F23-B596-48E5-717F-3D88548428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131" y="4717413"/>
            <a:ext cx="2489417" cy="303908"/>
          </a:xfrm>
          <a:prstGeom prst="rect">
            <a:avLst/>
          </a:prstGeom>
        </p:spPr>
      </p:pic>
      <p:pic>
        <p:nvPicPr>
          <p:cNvPr id="17" name="Immagine 1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&#10;  \begin{equation*}&#10;    \frac{\partial u}{\partial t} = \alpha \frac{\partial^2 u}{\partial x^2}&#10;\end{equation*}&#10;&#10;&#10;&#10;&#10;&#10;\end{document}" title="IguanaTex Bitmap Display">
            <a:extLst>
              <a:ext uri="{FF2B5EF4-FFF2-40B4-BE49-F238E27FC236}">
                <a16:creationId xmlns:a16="http://schemas.microsoft.com/office/drawing/2014/main" id="{3E880F60-2827-DE78-BC2E-74471F401A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358" y="5479562"/>
            <a:ext cx="1514057" cy="67254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C5B2E911-263A-60A5-83AB-411C498CFF4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191" t="3609" r="11372" b="27257"/>
          <a:stretch/>
        </p:blipFill>
        <p:spPr>
          <a:xfrm>
            <a:off x="9939708" y="4692554"/>
            <a:ext cx="2033217" cy="1815201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9F8C2B8-627A-7829-F6CD-D3D96AE35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199" y="4512934"/>
            <a:ext cx="1472209" cy="1472209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6C17D79B-38B3-721F-6115-3C0C926F2F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556" y="4454659"/>
            <a:ext cx="3429483" cy="1933575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04477265-A7D0-E9FA-EF83-489055DBA2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4525" y="4744023"/>
            <a:ext cx="1836679" cy="1836679"/>
          </a:xfrm>
          <a:prstGeom prst="rect">
            <a:avLst/>
          </a:prstGeom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636A7CC9-0639-08B6-C813-4C354DA10445}"/>
              </a:ext>
            </a:extLst>
          </p:cNvPr>
          <p:cNvSpPr/>
          <p:nvPr/>
        </p:nvSpPr>
        <p:spPr>
          <a:xfrm>
            <a:off x="540281" y="3324225"/>
            <a:ext cx="3098269" cy="5185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42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Modelling paradigms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DE14E0-CC7B-02C4-B850-8C14C7345D75}"/>
              </a:ext>
            </a:extLst>
          </p:cNvPr>
          <p:cNvSpPr txBox="1"/>
          <p:nvPr/>
        </p:nvSpPr>
        <p:spPr>
          <a:xfrm>
            <a:off x="47625" y="638175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First </a:t>
            </a:r>
            <a:r>
              <a:rPr lang="it-CH" sz="2400" dirty="0" err="1">
                <a:solidFill>
                  <a:srgbClr val="0070C0"/>
                </a:solidFill>
              </a:rPr>
              <a:t>principles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 err="1">
                <a:solidFill>
                  <a:srgbClr val="0070C0"/>
                </a:solidFill>
              </a:rPr>
              <a:t>modelling</a:t>
            </a:r>
            <a:r>
              <a:rPr lang="it-CH" sz="2400" dirty="0"/>
              <a:t> (from </a:t>
            </a:r>
            <a:r>
              <a:rPr lang="it-CH" sz="2400" dirty="0">
                <a:solidFill>
                  <a:srgbClr val="FF0000"/>
                </a:solidFill>
              </a:rPr>
              <a:t>first </a:t>
            </a:r>
            <a:r>
              <a:rPr lang="it-CH" sz="2400" dirty="0" err="1">
                <a:solidFill>
                  <a:srgbClr val="FF0000"/>
                </a:solidFill>
              </a:rPr>
              <a:t>principle</a:t>
            </a:r>
            <a:r>
              <a:rPr lang="it-CH" sz="2400" dirty="0">
                <a:solidFill>
                  <a:srgbClr val="FF0000"/>
                </a:solidFill>
              </a:rPr>
              <a:t> </a:t>
            </a:r>
            <a:r>
              <a:rPr lang="it-CH" sz="2400" dirty="0" err="1">
                <a:solidFill>
                  <a:srgbClr val="FF0000"/>
                </a:solidFill>
              </a:rPr>
              <a:t>laws</a:t>
            </a:r>
            <a:r>
              <a:rPr lang="it-CH" sz="2400" dirty="0">
                <a:solidFill>
                  <a:srgbClr val="FF0000"/>
                </a:solidFill>
              </a:rPr>
              <a:t> of </a:t>
            </a:r>
            <a:r>
              <a:rPr lang="it-CH" sz="2400" dirty="0" err="1">
                <a:solidFill>
                  <a:srgbClr val="FF0000"/>
                </a:solidFill>
              </a:rPr>
              <a:t>physics</a:t>
            </a:r>
            <a:r>
              <a:rPr lang="it-CH" sz="2400" dirty="0">
                <a:solidFill>
                  <a:srgbClr val="FF0000"/>
                </a:solidFill>
              </a:rPr>
              <a:t>/</a:t>
            </a:r>
            <a:r>
              <a:rPr lang="it-CH" sz="2400" dirty="0" err="1">
                <a:solidFill>
                  <a:srgbClr val="FF0000"/>
                </a:solidFill>
              </a:rPr>
              <a:t>chemistry</a:t>
            </a:r>
            <a:r>
              <a:rPr lang="it-CH" sz="2400" dirty="0">
                <a:solidFill>
                  <a:srgbClr val="FF0000"/>
                </a:solidFill>
              </a:rPr>
              <a:t>/</a:t>
            </a:r>
            <a:r>
              <a:rPr lang="it-CH" sz="2400" dirty="0" err="1">
                <a:solidFill>
                  <a:srgbClr val="FF0000"/>
                </a:solidFill>
              </a:rPr>
              <a:t>biology</a:t>
            </a:r>
            <a:r>
              <a:rPr lang="it-CH" sz="2400" dirty="0"/>
              <a:t>, etc.)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Pure </a:t>
            </a:r>
            <a:r>
              <a:rPr lang="it-CH" sz="2400" dirty="0" err="1"/>
              <a:t>physical</a:t>
            </a:r>
            <a:r>
              <a:rPr lang="it-CH" sz="2400" dirty="0"/>
              <a:t> </a:t>
            </a:r>
            <a:r>
              <a:rPr lang="it-CH" sz="2400" dirty="0" err="1"/>
              <a:t>modelling</a:t>
            </a:r>
            <a:r>
              <a:rPr lang="it-CH" sz="2400" dirty="0"/>
              <a:t>: </a:t>
            </a:r>
            <a:r>
              <a:rPr lang="it-CH" sz="2400" b="1" dirty="0"/>
              <a:t>white-box </a:t>
            </a:r>
            <a:r>
              <a:rPr lang="it-CH" sz="2400" b="1" dirty="0" err="1"/>
              <a:t>approach</a:t>
            </a:r>
            <a:r>
              <a:rPr lang="it-CH" sz="2400" b="1" dirty="0"/>
              <a:t>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Knowledge of the </a:t>
            </a:r>
            <a:r>
              <a:rPr lang="it-CH" sz="2400" dirty="0" err="1"/>
              <a:t>physics</a:t>
            </a:r>
            <a:r>
              <a:rPr lang="it-CH" sz="2400" dirty="0"/>
              <a:t> </a:t>
            </a:r>
            <a:r>
              <a:rPr lang="it-CH" sz="2400" dirty="0" err="1"/>
              <a:t>behind</a:t>
            </a:r>
            <a:r>
              <a:rPr lang="it-CH" sz="2400" dirty="0"/>
              <a:t> the system/</a:t>
            </a:r>
            <a:r>
              <a:rPr lang="it-CH" sz="2400" dirty="0" err="1"/>
              <a:t>process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Models are </a:t>
            </a:r>
            <a:r>
              <a:rPr lang="it-CH" sz="2400" dirty="0" err="1"/>
              <a:t>interpretable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 err="1"/>
              <a:t>Sometimes</a:t>
            </a:r>
            <a:r>
              <a:rPr lang="it-CH" sz="2400" dirty="0"/>
              <a:t>, </a:t>
            </a:r>
            <a:r>
              <a:rPr lang="it-CH" sz="2400" dirty="0" err="1"/>
              <a:t>physical</a:t>
            </a:r>
            <a:r>
              <a:rPr lang="it-CH" sz="2400" dirty="0"/>
              <a:t> </a:t>
            </a:r>
            <a:r>
              <a:rPr lang="it-CH" sz="2400" dirty="0" err="1"/>
              <a:t>modelling</a:t>
            </a:r>
            <a:r>
              <a:rPr lang="it-CH" sz="2400" dirty="0"/>
              <a:t> can be </a:t>
            </a:r>
            <a:r>
              <a:rPr lang="it-CH" sz="2400" dirty="0" err="1"/>
              <a:t>complex</a:t>
            </a:r>
            <a:r>
              <a:rPr lang="it-CH" sz="2400" dirty="0"/>
              <a:t> or </a:t>
            </a:r>
            <a:r>
              <a:rPr lang="it-CH" sz="2400" dirty="0" err="1"/>
              <a:t>even</a:t>
            </a:r>
            <a:r>
              <a:rPr lang="it-CH" sz="2400" dirty="0"/>
              <a:t> </a:t>
            </a:r>
            <a:r>
              <a:rPr lang="it-CH" sz="2400" dirty="0" err="1"/>
              <a:t>impossible</a:t>
            </a:r>
            <a:endParaRPr lang="it-CH" sz="2400" dirty="0"/>
          </a:p>
          <a:p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Data-</a:t>
            </a:r>
            <a:r>
              <a:rPr lang="it-CH" sz="2400" dirty="0" err="1">
                <a:solidFill>
                  <a:srgbClr val="0070C0"/>
                </a:solidFill>
              </a:rPr>
              <a:t>driven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 err="1">
                <a:solidFill>
                  <a:srgbClr val="0070C0"/>
                </a:solidFill>
              </a:rPr>
              <a:t>modelling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/>
              <a:t>(from </a:t>
            </a:r>
            <a:r>
              <a:rPr lang="it-CH" sz="2400" dirty="0" err="1">
                <a:solidFill>
                  <a:srgbClr val="FF0000"/>
                </a:solidFill>
              </a:rPr>
              <a:t>measurements</a:t>
            </a:r>
            <a:r>
              <a:rPr lang="it-CH" sz="2400" dirty="0">
                <a:solidFill>
                  <a:srgbClr val="FF0000"/>
                </a:solidFill>
              </a:rPr>
              <a:t> of </a:t>
            </a:r>
            <a:r>
              <a:rPr lang="it-CH" sz="2400" dirty="0" err="1">
                <a:solidFill>
                  <a:srgbClr val="FF0000"/>
                </a:solidFill>
              </a:rPr>
              <a:t>variables</a:t>
            </a:r>
            <a:r>
              <a:rPr lang="it-CH" sz="2400" dirty="0">
                <a:solidFill>
                  <a:srgbClr val="FF0000"/>
                </a:solidFill>
              </a:rPr>
              <a:t> </a:t>
            </a:r>
            <a:r>
              <a:rPr lang="it-CH" sz="2400" dirty="0" err="1"/>
              <a:t>gathered</a:t>
            </a:r>
            <a:r>
              <a:rPr lang="it-CH" sz="2400" dirty="0"/>
              <a:t> from </a:t>
            </a:r>
            <a:r>
              <a:rPr lang="it-CH" sz="2400" dirty="0" err="1"/>
              <a:t>experiments</a:t>
            </a:r>
            <a:r>
              <a:rPr lang="it-CH" sz="2400" dirty="0"/>
              <a:t>)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Pure data-</a:t>
            </a:r>
            <a:r>
              <a:rPr lang="it-CH" sz="2400" dirty="0" err="1"/>
              <a:t>driven</a:t>
            </a:r>
            <a:r>
              <a:rPr lang="it-CH" sz="2400" dirty="0"/>
              <a:t> </a:t>
            </a:r>
            <a:r>
              <a:rPr lang="it-CH" sz="2400" dirty="0" err="1"/>
              <a:t>modelling</a:t>
            </a:r>
            <a:r>
              <a:rPr lang="it-CH" sz="2400" dirty="0"/>
              <a:t>: </a:t>
            </a:r>
            <a:r>
              <a:rPr lang="it-CH" sz="2400" b="1" dirty="0"/>
              <a:t>black-box </a:t>
            </a:r>
            <a:r>
              <a:rPr lang="it-CH" sz="2400" b="1" dirty="0" err="1"/>
              <a:t>approach</a:t>
            </a:r>
            <a:r>
              <a:rPr lang="it-CH" sz="2400" b="1" dirty="0"/>
              <a:t>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Limited knowledge of the system/</a:t>
            </a:r>
            <a:r>
              <a:rPr lang="it-CH" sz="2400" dirty="0" err="1"/>
              <a:t>process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Models are </a:t>
            </a:r>
            <a:r>
              <a:rPr lang="it-CH" sz="2400" dirty="0" err="1"/>
              <a:t>usually</a:t>
            </a:r>
            <a:r>
              <a:rPr lang="it-CH" sz="2400" dirty="0"/>
              <a:t> </a:t>
            </a:r>
            <a:r>
              <a:rPr lang="it-CH" sz="2400" dirty="0" err="1"/>
              <a:t>not</a:t>
            </a:r>
            <a:r>
              <a:rPr lang="it-CH" sz="2400" dirty="0"/>
              <a:t> </a:t>
            </a:r>
            <a:r>
              <a:rPr lang="it-CH" sz="2400" dirty="0" err="1"/>
              <a:t>explainable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Need for (informative) data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 err="1"/>
              <a:t>Generalization</a:t>
            </a:r>
            <a:r>
              <a:rPr lang="it-CH" sz="2400" dirty="0"/>
              <a:t> </a:t>
            </a:r>
            <a:r>
              <a:rPr lang="it-CH" sz="2400" dirty="0" err="1"/>
              <a:t>properties</a:t>
            </a:r>
            <a:r>
              <a:rPr lang="it-CH" sz="2400" dirty="0"/>
              <a:t> </a:t>
            </a:r>
            <a:r>
              <a:rPr lang="it-CH" sz="2400" dirty="0" err="1"/>
              <a:t>might</a:t>
            </a:r>
            <a:r>
              <a:rPr lang="it-CH" sz="2400" dirty="0"/>
              <a:t> be limited</a:t>
            </a:r>
          </a:p>
          <a:p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Combination</a:t>
            </a:r>
            <a:r>
              <a:rPr lang="it-CH" sz="2400" dirty="0"/>
              <a:t> of first </a:t>
            </a:r>
            <a:r>
              <a:rPr lang="it-CH" sz="2400" dirty="0" err="1"/>
              <a:t>principles</a:t>
            </a:r>
            <a:r>
              <a:rPr lang="it-CH" sz="2400" dirty="0"/>
              <a:t> and data-</a:t>
            </a:r>
            <a:r>
              <a:rPr lang="it-CH" sz="2400" dirty="0" err="1"/>
              <a:t>driven</a:t>
            </a:r>
            <a:r>
              <a:rPr lang="it-CH" sz="2400" dirty="0"/>
              <a:t> </a:t>
            </a:r>
            <a:r>
              <a:rPr lang="it-CH" sz="2400" dirty="0" err="1"/>
              <a:t>modelling</a:t>
            </a:r>
            <a:r>
              <a:rPr lang="it-CH" sz="2400" dirty="0"/>
              <a:t> </a:t>
            </a:r>
            <a:r>
              <a:rPr lang="it-CH" sz="2400" dirty="0" err="1"/>
              <a:t>is</a:t>
            </a:r>
            <a:r>
              <a:rPr lang="it-CH" sz="2400" dirty="0"/>
              <a:t> </a:t>
            </a:r>
            <a:r>
              <a:rPr lang="it-CH" sz="2400" dirty="0" err="1"/>
              <a:t>also</a:t>
            </a:r>
            <a:r>
              <a:rPr lang="it-CH" sz="2400" dirty="0"/>
              <a:t> </a:t>
            </a:r>
            <a:r>
              <a:rPr lang="it-CH" sz="2400" dirty="0" err="1"/>
              <a:t>possible</a:t>
            </a:r>
            <a:r>
              <a:rPr lang="it-CH" sz="2400" dirty="0"/>
              <a:t>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E.g., model </a:t>
            </a:r>
            <a:r>
              <a:rPr lang="it-CH" sz="2400" dirty="0" err="1"/>
              <a:t>structure</a:t>
            </a:r>
            <a:r>
              <a:rPr lang="it-CH" sz="2400" dirty="0"/>
              <a:t> </a:t>
            </a:r>
            <a:r>
              <a:rPr lang="it-CH" sz="2400" dirty="0" err="1"/>
              <a:t>derived</a:t>
            </a:r>
            <a:r>
              <a:rPr lang="it-CH" sz="2400" dirty="0"/>
              <a:t> from </a:t>
            </a:r>
            <a:r>
              <a:rPr lang="it-CH" sz="2400" dirty="0" err="1"/>
              <a:t>physics</a:t>
            </a:r>
            <a:r>
              <a:rPr lang="it-CH" sz="2400" dirty="0"/>
              <a:t>, and some </a:t>
            </a:r>
            <a:r>
              <a:rPr lang="it-CH" sz="2400" dirty="0" err="1"/>
              <a:t>parameters</a:t>
            </a:r>
            <a:r>
              <a:rPr lang="it-CH" sz="2400" dirty="0"/>
              <a:t> </a:t>
            </a:r>
            <a:r>
              <a:rPr lang="it-CH" sz="2400" dirty="0" err="1"/>
              <a:t>estimated</a:t>
            </a:r>
            <a:r>
              <a:rPr lang="it-CH" sz="2400" dirty="0"/>
              <a:t> from data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In </a:t>
            </a:r>
            <a:r>
              <a:rPr lang="it-CH" sz="2400" dirty="0" err="1"/>
              <a:t>any</a:t>
            </a:r>
            <a:r>
              <a:rPr lang="it-CH" sz="2400" dirty="0"/>
              <a:t> case, </a:t>
            </a:r>
            <a:r>
              <a:rPr lang="it-CH" sz="2400" dirty="0" err="1">
                <a:solidFill>
                  <a:srgbClr val="FF0000"/>
                </a:solidFill>
              </a:rPr>
              <a:t>even</a:t>
            </a:r>
            <a:r>
              <a:rPr lang="it-CH" sz="2400" dirty="0">
                <a:solidFill>
                  <a:srgbClr val="FF0000"/>
                </a:solidFill>
              </a:rPr>
              <a:t> pure </a:t>
            </a:r>
            <a:r>
              <a:rPr lang="it-CH" sz="2400" dirty="0" err="1">
                <a:solidFill>
                  <a:srgbClr val="FF0000"/>
                </a:solidFill>
              </a:rPr>
              <a:t>physical</a:t>
            </a:r>
            <a:r>
              <a:rPr lang="it-CH" sz="2400" dirty="0">
                <a:solidFill>
                  <a:srgbClr val="FF0000"/>
                </a:solidFill>
              </a:rPr>
              <a:t> models </a:t>
            </a:r>
            <a:r>
              <a:rPr lang="it-CH" sz="2400" dirty="0" err="1">
                <a:solidFill>
                  <a:srgbClr val="FF0000"/>
                </a:solidFill>
              </a:rPr>
              <a:t>needs</a:t>
            </a:r>
            <a:r>
              <a:rPr lang="it-CH" sz="2400" dirty="0">
                <a:solidFill>
                  <a:srgbClr val="FF0000"/>
                </a:solidFill>
              </a:rPr>
              <a:t> </a:t>
            </a:r>
            <a:r>
              <a:rPr lang="it-CH" sz="2400" dirty="0" err="1">
                <a:solidFill>
                  <a:srgbClr val="FF0000"/>
                </a:solidFill>
              </a:rPr>
              <a:t>often</a:t>
            </a:r>
            <a:r>
              <a:rPr lang="it-CH" sz="2400" dirty="0">
                <a:solidFill>
                  <a:srgbClr val="FF0000"/>
                </a:solidFill>
              </a:rPr>
              <a:t> to be </a:t>
            </a:r>
            <a:r>
              <a:rPr lang="it-CH" sz="2400" dirty="0" err="1">
                <a:solidFill>
                  <a:srgbClr val="FF0000"/>
                </a:solidFill>
              </a:rPr>
              <a:t>validated</a:t>
            </a:r>
            <a:r>
              <a:rPr lang="it-CH" sz="2400" dirty="0">
                <a:solidFill>
                  <a:srgbClr val="FF0000"/>
                </a:solidFill>
              </a:rPr>
              <a:t> with </a:t>
            </a:r>
            <a:r>
              <a:rPr lang="it-CH" sz="2400" dirty="0" err="1">
                <a:solidFill>
                  <a:srgbClr val="FF0000"/>
                </a:solidFill>
              </a:rPr>
              <a:t>experiments</a:t>
            </a:r>
            <a:endParaRPr lang="it-CH" sz="2400" dirty="0">
              <a:solidFill>
                <a:srgbClr val="FF0000"/>
              </a:solidFill>
            </a:endParaRP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6D9786F0-F082-3441-BE46-888D96CE7D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77" t="26289" r="22362" b="27510"/>
          <a:stretch/>
        </p:blipFill>
        <p:spPr>
          <a:xfrm>
            <a:off x="9247097" y="3509660"/>
            <a:ext cx="1989846" cy="1675751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C9E47F36-F237-C3B8-E347-58E783C08A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1" r="12647"/>
          <a:stretch/>
        </p:blipFill>
        <p:spPr>
          <a:xfrm>
            <a:off x="10370164" y="1036697"/>
            <a:ext cx="1619780" cy="18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3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Dynamical systems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magine 27" descr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\left\{ \begin{array}{l}&#10;\dot{x}(t) = f(x(t),u(t);\red{\theta})\\&#10;y(t) = g(x(t);\red{\theta})&#10;\end{array} \right.&#10;\end{align*}&#10;&#10;\end{document}&#10;&#10;&#10;&#10;&#10;&#10;\end{document}" title="IguanaTex Bitmap Display">
            <a:extLst>
              <a:ext uri="{FF2B5EF4-FFF2-40B4-BE49-F238E27FC236}">
                <a16:creationId xmlns:a16="http://schemas.microsoft.com/office/drawing/2014/main" id="{49389B76-DCDF-5B65-DE8D-2534809A09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23" y="4497889"/>
            <a:ext cx="3111497" cy="727405"/>
          </a:xfrm>
          <a:prstGeom prst="rect">
            <a:avLst/>
          </a:prstGeom>
        </p:spPr>
      </p:pic>
      <p:grpSp>
        <p:nvGrpSpPr>
          <p:cNvPr id="46" name="Gruppo 45">
            <a:extLst>
              <a:ext uri="{FF2B5EF4-FFF2-40B4-BE49-F238E27FC236}">
                <a16:creationId xmlns:a16="http://schemas.microsoft.com/office/drawing/2014/main" id="{B04E067D-1F67-13E5-6AB6-6482DA0E84FA}"/>
              </a:ext>
            </a:extLst>
          </p:cNvPr>
          <p:cNvGrpSpPr/>
          <p:nvPr/>
        </p:nvGrpSpPr>
        <p:grpSpPr>
          <a:xfrm>
            <a:off x="113664" y="724604"/>
            <a:ext cx="12192000" cy="2031224"/>
            <a:chOff x="113664" y="633164"/>
            <a:chExt cx="12192000" cy="2031224"/>
          </a:xfrm>
        </p:grpSpPr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A2DE14E0-CC7B-02C4-B850-8C14C7345D75}"/>
                </a:ext>
              </a:extLst>
            </p:cNvPr>
            <p:cNvSpPr txBox="1"/>
            <p:nvPr/>
          </p:nvSpPr>
          <p:spPr>
            <a:xfrm>
              <a:off x="113664" y="633164"/>
              <a:ext cx="12192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CH" sz="2400" dirty="0">
                  <a:solidFill>
                    <a:srgbClr val="0070C0"/>
                  </a:solidFill>
                </a:rPr>
                <a:t>Systems with </a:t>
              </a:r>
              <a:r>
                <a:rPr lang="it-CH" sz="2400" dirty="0" err="1">
                  <a:solidFill>
                    <a:srgbClr val="0070C0"/>
                  </a:solidFill>
                </a:rPr>
                <a:t>memory</a:t>
              </a:r>
              <a:r>
                <a:rPr lang="it-CH" sz="2400" dirty="0"/>
                <a:t> (</a:t>
              </a:r>
              <a:r>
                <a:rPr lang="it-CH" sz="2400" dirty="0" err="1"/>
                <a:t>present</a:t>
              </a:r>
              <a:r>
                <a:rPr lang="it-CH" sz="2400" dirty="0"/>
                <a:t> </a:t>
              </a:r>
              <a:r>
                <a:rPr lang="it-CH" sz="2400" dirty="0" err="1"/>
                <a:t>also</a:t>
              </a:r>
              <a:r>
                <a:rPr lang="it-CH" sz="2400" dirty="0"/>
                <a:t> </a:t>
              </a:r>
              <a:r>
                <a:rPr lang="it-CH" sz="2400" dirty="0" err="1"/>
                <a:t>depends</a:t>
              </a:r>
              <a:r>
                <a:rPr lang="it-CH" sz="2400" dirty="0"/>
                <a:t> on the </a:t>
              </a:r>
              <a:r>
                <a:rPr lang="it-CH" sz="2400" dirty="0" err="1"/>
                <a:t>past</a:t>
              </a:r>
              <a:r>
                <a:rPr lang="it-CH" sz="2400" dirty="0"/>
                <a:t>)</a:t>
              </a:r>
              <a:r>
                <a:rPr lang="it-CH" sz="2400" b="1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it-CH" sz="24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it-CH" sz="2400" b="1" dirty="0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8A783A8D-9740-D39F-EBAA-EB7977E80913}"/>
                </a:ext>
              </a:extLst>
            </p:cNvPr>
            <p:cNvSpPr/>
            <p:nvPr/>
          </p:nvSpPr>
          <p:spPr>
            <a:xfrm>
              <a:off x="5478366" y="1479237"/>
              <a:ext cx="1469803" cy="778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800" i="1" dirty="0"/>
                <a:t>S</a:t>
              </a:r>
              <a:endParaRPr lang="en-GB" i="1" dirty="0"/>
            </a:p>
          </p:txBody>
        </p:sp>
        <p:pic>
          <p:nvPicPr>
            <p:cNvPr id="32" name="Immagine 31">
              <a:extLst>
                <a:ext uri="{FF2B5EF4-FFF2-40B4-BE49-F238E27FC236}">
                  <a16:creationId xmlns:a16="http://schemas.microsoft.com/office/drawing/2014/main" id="{7C3A540E-4AC2-C10C-DCA5-BB49DA5E2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48031" y="1204504"/>
              <a:ext cx="1845947" cy="1429120"/>
            </a:xfrm>
            <a:prstGeom prst="rect">
              <a:avLst/>
            </a:prstGeom>
          </p:spPr>
        </p:pic>
        <p:pic>
          <p:nvPicPr>
            <p:cNvPr id="36" name="Immagine 35">
              <a:extLst>
                <a:ext uri="{FF2B5EF4-FFF2-40B4-BE49-F238E27FC236}">
                  <a16:creationId xmlns:a16="http://schemas.microsoft.com/office/drawing/2014/main" id="{2A67E763-1C9F-6947-1397-80079CBD8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25117" y="1267803"/>
              <a:ext cx="1846800" cy="1396585"/>
            </a:xfrm>
            <a:prstGeom prst="rect">
              <a:avLst/>
            </a:prstGeom>
          </p:spPr>
        </p:pic>
        <p:cxnSp>
          <p:nvCxnSpPr>
            <p:cNvPr id="39" name="Connettore 2 38">
              <a:extLst>
                <a:ext uri="{FF2B5EF4-FFF2-40B4-BE49-F238E27FC236}">
                  <a16:creationId xmlns:a16="http://schemas.microsoft.com/office/drawing/2014/main" id="{16DB039A-C07E-E2CB-2DEF-3268E0350426}"/>
                </a:ext>
              </a:extLst>
            </p:cNvPr>
            <p:cNvCxnSpPr/>
            <p:nvPr/>
          </p:nvCxnSpPr>
          <p:spPr>
            <a:xfrm>
              <a:off x="6963730" y="1870603"/>
              <a:ext cx="10749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0F6196D1-79E8-D766-EC4A-2232BA4A10FA}"/>
                </a:ext>
              </a:extLst>
            </p:cNvPr>
            <p:cNvCxnSpPr/>
            <p:nvPr/>
          </p:nvCxnSpPr>
          <p:spPr>
            <a:xfrm>
              <a:off x="4383090" y="1850283"/>
              <a:ext cx="10749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E5D87C60-6CA2-B8C7-E2B1-50B0620D9B4F}"/>
                </a:ext>
              </a:extLst>
            </p:cNvPr>
            <p:cNvSpPr txBox="1"/>
            <p:nvPr/>
          </p:nvSpPr>
          <p:spPr>
            <a:xfrm>
              <a:off x="7233602" y="1503547"/>
              <a:ext cx="352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y</a:t>
              </a: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97CBAB91-F855-7DBE-A478-553A99AF9567}"/>
                </a:ext>
              </a:extLst>
            </p:cNvPr>
            <p:cNvSpPr txBox="1"/>
            <p:nvPr/>
          </p:nvSpPr>
          <p:spPr>
            <a:xfrm>
              <a:off x="4764722" y="1513707"/>
              <a:ext cx="352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</p:grpSp>
      <p:pic>
        <p:nvPicPr>
          <p:cNvPr id="11" name="Immagine 10" descr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\left\{ \begin{array}{rl}&#10;x(k+1) &amp;= f(x(k),u(k);\red{\theta})\\&#10;y(k) &amp; = g(x(k);\red{\theta})&#10;\end{array} \right.&#10;\end{align*}&#10;&#10;\end{document}&#10;&#10;&#10;&#10;&#10;&#10;\end{document}" title="IguanaTex Bitmap Display">
            <a:extLst>
              <a:ext uri="{FF2B5EF4-FFF2-40B4-BE49-F238E27FC236}">
                <a16:creationId xmlns:a16="http://schemas.microsoft.com/office/drawing/2014/main" id="{844C8306-51DA-B000-3F58-921B1E1582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020" y="4497889"/>
            <a:ext cx="4027611" cy="72740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FCEBC73-CFA1-8350-E8C7-B047AF6B8951}"/>
              </a:ext>
            </a:extLst>
          </p:cNvPr>
          <p:cNvSpPr txBox="1"/>
          <p:nvPr/>
        </p:nvSpPr>
        <p:spPr>
          <a:xfrm>
            <a:off x="113664" y="302012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/>
              <a:t>Described</a:t>
            </a:r>
            <a:r>
              <a:rPr lang="it-CH" sz="2400" dirty="0"/>
              <a:t> by </a:t>
            </a:r>
            <a:r>
              <a:rPr lang="it-CH" sz="2400" dirty="0" err="1">
                <a:solidFill>
                  <a:srgbClr val="0070C0"/>
                </a:solidFill>
              </a:rPr>
              <a:t>equations</a:t>
            </a:r>
            <a:r>
              <a:rPr lang="it-CH" sz="2400" dirty="0">
                <a:solidFill>
                  <a:srgbClr val="0070C0"/>
                </a:solidFill>
              </a:rPr>
              <a:t> in time</a:t>
            </a:r>
          </a:p>
        </p:txBody>
      </p:sp>
      <p:pic>
        <p:nvPicPr>
          <p:cNvPr id="65" name="Immagine 64" descr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y^{(n)}(t) = h\left(y^{(n-1)},\ldots,y, u^{(n)},\ldots,u \right) &#10;\end{align*}&#10;&#10;\end{document}&#10;&#10;&#10;&#10;&#10;&#10;\end{document}" title="IguanaTex Bitmap Display">
            <a:extLst>
              <a:ext uri="{FF2B5EF4-FFF2-40B4-BE49-F238E27FC236}">
                <a16:creationId xmlns:a16="http://schemas.microsoft.com/office/drawing/2014/main" id="{B00ADF24-CEE5-B87F-9FB8-68F71B203D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23" y="5891845"/>
            <a:ext cx="4135314" cy="454400"/>
          </a:xfrm>
          <a:prstGeom prst="rect">
            <a:avLst/>
          </a:prstGeom>
        </p:spPr>
      </p:pic>
      <p:pic>
        <p:nvPicPr>
          <p:cNvPr id="63" name="Immagine 62" descr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y(k) = h\left(y(k-1),\ldots,y(k-n_a), u(k),\ldots,u(k-n_b) \right) &#10;\end{align*}&#10;&#10;\end{document}&#10;&#10;&#10;&#10;&#10;&#10;\end{document}" title="IguanaTex Bitmap Display">
            <a:extLst>
              <a:ext uri="{FF2B5EF4-FFF2-40B4-BE49-F238E27FC236}">
                <a16:creationId xmlns:a16="http://schemas.microsoft.com/office/drawing/2014/main" id="{49DF1468-CAB0-9A45-A791-E900502A60E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614" y="5997738"/>
            <a:ext cx="5880686" cy="253257"/>
          </a:xfrm>
          <a:prstGeom prst="rect">
            <a:avLst/>
          </a:prstGeom>
        </p:spPr>
      </p:pic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5FCD431E-7A14-7D34-13F3-C031D1519AAA}"/>
              </a:ext>
            </a:extLst>
          </p:cNvPr>
          <p:cNvSpPr txBox="1"/>
          <p:nvPr/>
        </p:nvSpPr>
        <p:spPr>
          <a:xfrm>
            <a:off x="800100" y="3743325"/>
            <a:ext cx="402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</a:rPr>
              <a:t>Continuous time: ODE</a:t>
            </a:r>
            <a:endParaRPr lang="en-GB" sz="2000" dirty="0">
              <a:solidFill>
                <a:srgbClr val="00B050"/>
              </a:solidFill>
            </a:endParaRP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172992E5-4A46-6EBD-DD96-E7EC10C5FE0E}"/>
              </a:ext>
            </a:extLst>
          </p:cNvPr>
          <p:cNvSpPr txBox="1"/>
          <p:nvPr/>
        </p:nvSpPr>
        <p:spPr>
          <a:xfrm>
            <a:off x="6724648" y="3743325"/>
            <a:ext cx="6057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</a:rPr>
              <a:t>Discrete time: Recurrence equation </a:t>
            </a:r>
          </a:p>
        </p:txBody>
      </p:sp>
    </p:spTree>
    <p:extLst>
      <p:ext uri="{BB962C8B-B14F-4D97-AF65-F5344CB8AC3E}">
        <p14:creationId xmlns:p14="http://schemas.microsoft.com/office/powerpoint/2010/main" val="21515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Model structures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77C7F5-8F9F-B3FE-3339-97E12E54B1EA}"/>
              </a:ext>
            </a:extLst>
          </p:cNvPr>
          <p:cNvSpPr txBox="1"/>
          <p:nvPr/>
        </p:nvSpPr>
        <p:spPr>
          <a:xfrm>
            <a:off x="-13335" y="800735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Model: Given </a:t>
            </a:r>
            <a:r>
              <a:rPr lang="it-CH" sz="2400" dirty="0" err="1">
                <a:solidFill>
                  <a:srgbClr val="0070C0"/>
                </a:solidFill>
              </a:rPr>
              <a:t>past</a:t>
            </a:r>
            <a:r>
              <a:rPr lang="it-CH" sz="2400" dirty="0">
                <a:solidFill>
                  <a:srgbClr val="0070C0"/>
                </a:solidFill>
              </a:rPr>
              <a:t> inputs and outputs, </a:t>
            </a:r>
            <a:r>
              <a:rPr lang="it-CH" sz="2400" dirty="0" err="1">
                <a:solidFill>
                  <a:srgbClr val="0070C0"/>
                </a:solidFill>
              </a:rPr>
              <a:t>provides</a:t>
            </a:r>
            <a:r>
              <a:rPr lang="it-CH" sz="2400" dirty="0">
                <a:solidFill>
                  <a:srgbClr val="0070C0"/>
                </a:solidFill>
              </a:rPr>
              <a:t> an estimate of the </a:t>
            </a:r>
            <a:r>
              <a:rPr lang="it-CH" sz="2400" dirty="0" err="1">
                <a:solidFill>
                  <a:srgbClr val="0070C0"/>
                </a:solidFill>
              </a:rPr>
              <a:t>current</a:t>
            </a:r>
            <a:r>
              <a:rPr lang="it-CH" sz="2400" dirty="0">
                <a:solidFill>
                  <a:srgbClr val="0070C0"/>
                </a:solidFill>
              </a:rPr>
              <a:t> output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 err="1"/>
              <a:t>Example</a:t>
            </a:r>
            <a:r>
              <a:rPr lang="it-CH" sz="2400" dirty="0"/>
              <a:t>: ARX model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31" name="Immagine 3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y(k-1) + \ldots + \red{a_{na}}y(k-na) + \red{b_0}u(k) + \ldots + \red{b_{nb}}u(k-nb) \\&#10;= &amp;  \underset{x'(k)}{\underbrace{   \left[y(k-1) \ \ldots y(k-na) \ u(k) \ u(k-1) \ \ldots \ u(k-nb) \right] }}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5EBEA5E-076B-B4FE-16BF-1EF6AF4212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090" y="1933134"/>
            <a:ext cx="9999356" cy="124196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23F5E3-881F-1517-2266-FE495C463F95}"/>
              </a:ext>
            </a:extLst>
          </p:cNvPr>
          <p:cNvSpPr txBox="1"/>
          <p:nvPr/>
        </p:nvSpPr>
        <p:spPr>
          <a:xfrm>
            <a:off x="77056" y="333047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>
                <a:solidFill>
                  <a:srgbClr val="0070C0"/>
                </a:solidFill>
              </a:rPr>
              <a:t>Residual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 err="1">
                <a:solidFill>
                  <a:srgbClr val="0070C0"/>
                </a:solidFill>
              </a:rPr>
              <a:t>signal</a:t>
            </a:r>
            <a:r>
              <a:rPr lang="it-CH" sz="2400" dirty="0">
                <a:solidFill>
                  <a:srgbClr val="0070C0"/>
                </a:solidFill>
              </a:rPr>
              <a:t>: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 err="1"/>
              <a:t>Example</a:t>
            </a:r>
            <a:r>
              <a:rPr lang="it-CH" sz="2400" dirty="0"/>
              <a:t>:</a:t>
            </a:r>
          </a:p>
        </p:txBody>
      </p:sp>
      <p:pic>
        <p:nvPicPr>
          <p:cNvPr id="34" name="Immagine 3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68B05EF-F39D-CD58-29DE-5D86BAC2B12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91" y="3410337"/>
            <a:ext cx="2672639" cy="303908"/>
          </a:xfrm>
          <a:prstGeom prst="rect">
            <a:avLst/>
          </a:prstGeom>
        </p:spPr>
      </p:pic>
      <p:pic>
        <p:nvPicPr>
          <p:cNvPr id="36" name="Immagine 3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x'(k)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019B223-189F-615A-DEF2-48B85453EB7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91" y="3778118"/>
            <a:ext cx="2940342" cy="319268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AA75BB4-03E8-9AA5-7C83-E0FC10FF88F0}"/>
              </a:ext>
            </a:extLst>
          </p:cNvPr>
          <p:cNvSpPr txBox="1"/>
          <p:nvPr/>
        </p:nvSpPr>
        <p:spPr>
          <a:xfrm>
            <a:off x="77056" y="4609115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Loss: 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 err="1"/>
              <a:t>Example</a:t>
            </a:r>
            <a:r>
              <a:rPr lang="it-CH" sz="2400" dirty="0"/>
              <a:t>: </a:t>
            </a:r>
            <a:r>
              <a:rPr lang="it-CH" sz="2400" dirty="0" err="1"/>
              <a:t>least-squares</a:t>
            </a:r>
            <a:r>
              <a:rPr lang="it-CH" sz="2400" dirty="0"/>
              <a:t> </a:t>
            </a:r>
            <a:r>
              <a:rPr lang="it-CH" sz="2400" dirty="0" err="1"/>
              <a:t>loss</a:t>
            </a:r>
            <a:r>
              <a:rPr lang="it-CH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4" name="Immagine 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ell(y(k), \hat{y}(k,\red{\theta})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17D3292-C209-02A6-1709-C6C7F407F4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142" y="4410976"/>
            <a:ext cx="3996887" cy="891976"/>
          </a:xfrm>
          <a:prstGeom prst="rect">
            <a:avLst/>
          </a:prstGeom>
        </p:spPr>
      </p:pic>
      <p:pic>
        <p:nvPicPr>
          <p:cNvPr id="6" name="Immagine 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left\| \epsilon(k, \red{\theta}) 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0F0F0F8-C1E4-E515-670F-2775A287F5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969" y="5686621"/>
            <a:ext cx="3339697" cy="89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Least squares estimate: ARX model structure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magine 3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y(k-1) + \ldots + \red{a_{na}}y(k-na) + \red{b_0}u(k) + \ldots + \red{b_{nb}}u(k-nb) \\&#10;= &amp;  \underset{x'(k)}{\underbrace{   \left[y(k-1) \ \ldots y(k-na) \ u(k) \ u(k-1) \ \ldots \ u(k-nb) \right] }}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5EBEA5E-076B-B4FE-16BF-1EF6AF4212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584" y="1140415"/>
            <a:ext cx="9999356" cy="1241964"/>
          </a:xfrm>
          <a:prstGeom prst="rect">
            <a:avLst/>
          </a:prstGeom>
        </p:spPr>
      </p:pic>
      <p:pic>
        <p:nvPicPr>
          <p:cNvPr id="3" name="Immagine 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left\| \epsilon(k, \red{\theta}) \right\|^2 = \frac{1}{N}\sum_{k=1}^N \left( x'(k)\red{\theta} - y(k) \right)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3B2CB72-DB1F-5959-DF98-85179EA9016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072" y="2581685"/>
            <a:ext cx="6758390" cy="891976"/>
          </a:xfrm>
          <a:prstGeom prst="rect">
            <a:avLst/>
          </a:prstGeom>
        </p:spPr>
      </p:pic>
      <p:pic>
        <p:nvPicPr>
          <p:cNvPr id="5" name="Immagine 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 = \arg\min_{\red{\theta}} \mathcal{L}_N(\red{\theta}) \rightarrow \red{\theta^{*}}: \frac{\partial L_N(\red{\theta})}{\partial \red{\theta}} = 0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4FA4F6E-1FB5-5029-9FDD-B32FEEC396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26" y="3919027"/>
            <a:ext cx="5180700" cy="648410"/>
          </a:xfrm>
          <a:prstGeom prst="rect">
            <a:avLst/>
          </a:prstGeom>
        </p:spPr>
      </p:pic>
      <p:pic>
        <p:nvPicPr>
          <p:cNvPr id="28" name="Immagine 27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:  \frac{1}{N}\sum_{k=1}^N x(k) \left(x'(k)\red{\theta}-y(k) \right) = 0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3981F7A-AC5C-BB61-1080-37E5A9585F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279" y="3778659"/>
            <a:ext cx="4581661" cy="891975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A70BB699-6C27-131E-8835-A731FB1AA8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4052" y="1768968"/>
            <a:ext cx="2267776" cy="2079666"/>
          </a:xfrm>
          <a:prstGeom prst="rect">
            <a:avLst/>
          </a:prstGeom>
        </p:spPr>
      </p:pic>
      <p:pic>
        <p:nvPicPr>
          <p:cNvPr id="39" name="Immagine 38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 =   \left( \frac{1}{N}\sum_{k=1}^N x(k)x'(k)     \right)^{-1} \frac{1}{N}\sum_{k=1}^Nx(k)y(k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59878FE2-41FF-71E2-F1D6-6B01794B93A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26" y="5140745"/>
            <a:ext cx="5676611" cy="99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8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Example: Cascaded Tanks System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CascadedTanksOverflow">
            <a:hlinkClick r:id="" action="ppaction://media"/>
            <a:extLst>
              <a:ext uri="{FF2B5EF4-FFF2-40B4-BE49-F238E27FC236}">
                <a16:creationId xmlns:a16="http://schemas.microsoft.com/office/drawing/2014/main" id="{97F21257-3B8B-57BA-81D1-9DACDC6477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7556" y="868357"/>
            <a:ext cx="2218968" cy="393866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C9DEE5D-B22F-6ACC-6822-2B0774018752}"/>
              </a:ext>
            </a:extLst>
          </p:cNvPr>
          <p:cNvSpPr txBox="1"/>
          <p:nvPr/>
        </p:nvSpPr>
        <p:spPr>
          <a:xfrm>
            <a:off x="77056" y="608713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Schoukens</a:t>
            </a:r>
            <a:r>
              <a:rPr lang="en-GB" sz="1400" dirty="0"/>
              <a:t>, M. et al. "Cascaded tanks benchmark combining soft and hard nonlinearities." Workshop on nonlinear system identification benchmarks, 2016.</a:t>
            </a:r>
          </a:p>
          <a:p>
            <a:r>
              <a:rPr lang="en-GB" sz="1400" dirty="0">
                <a:hlinkClick r:id="rId8"/>
              </a:rPr>
              <a:t>https://</a:t>
            </a:r>
            <a:r>
              <a:rPr lang="en-GB" sz="1400" dirty="0" err="1">
                <a:hlinkClick r:id="rId8"/>
              </a:rPr>
              <a:t>www.nonlinearbenchmark.org</a:t>
            </a:r>
            <a:r>
              <a:rPr lang="en-GB" sz="1400" dirty="0">
                <a:hlinkClick r:id="rId8"/>
              </a:rPr>
              <a:t>/</a:t>
            </a:r>
            <a:endParaRPr lang="en-GB" sz="14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2CEADA4-9B36-C5BD-B9E1-FB194AE6162C}"/>
              </a:ext>
            </a:extLst>
          </p:cNvPr>
          <p:cNvSpPr txBox="1"/>
          <p:nvPr/>
        </p:nvSpPr>
        <p:spPr>
          <a:xfrm>
            <a:off x="3091815" y="868357"/>
            <a:ext cx="8853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Fluid level control system with </a:t>
            </a:r>
            <a:r>
              <a:rPr lang="en-US" noProof="0" dirty="0">
                <a:solidFill>
                  <a:srgbClr val="0070C0"/>
                </a:solidFill>
              </a:rPr>
              <a:t>two tanks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Upper tank fed by a pump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Water flows </a:t>
            </a:r>
            <a:r>
              <a:rPr lang="en-US" noProof="0" dirty="0">
                <a:solidFill>
                  <a:srgbClr val="0070C0"/>
                </a:solidFill>
              </a:rPr>
              <a:t>from upper tank to lower tank </a:t>
            </a:r>
            <a:r>
              <a:rPr lang="en-US" noProof="0" dirty="0"/>
              <a:t>through a small 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Water flows </a:t>
            </a:r>
            <a:r>
              <a:rPr lang="en-US" noProof="0" dirty="0">
                <a:solidFill>
                  <a:srgbClr val="0070C0"/>
                </a:solidFill>
              </a:rPr>
              <a:t>from lower tank to reservoir </a:t>
            </a:r>
            <a:r>
              <a:rPr lang="en-US" noProof="0" dirty="0"/>
              <a:t>through a small 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70C0"/>
                </a:solidFill>
              </a:rPr>
              <a:t>Overflow</a:t>
            </a:r>
            <a:r>
              <a:rPr lang="en-US" noProof="0" dirty="0"/>
              <a:t> in the upper tank may happen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Input: pump voltage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Output: water level of lower tank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Length of training set: 1024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Length of test set: 1024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Sampling time: 4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noProof="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0070C0"/>
                </a:solidFill>
              </a:rPr>
              <a:t>Metrics (over test data) both for 1-step and open-loop simulation: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noProof="0" dirty="0">
              <a:solidFill>
                <a:srgbClr val="FF0000"/>
              </a:solidFill>
            </a:endParaRPr>
          </a:p>
        </p:txBody>
      </p:sp>
      <p:pic>
        <p:nvPicPr>
          <p:cNvPr id="11" name="Immagine 1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textrm{MSE} = \frac{1}{N} \sum_{k=1}^N \left\| y(k) -\hat{y}(k) 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7A8B4AA-30F8-9669-F4D2-A2EE8F61A7A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665" y="4997541"/>
            <a:ext cx="3194685" cy="74017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3EB7753-9025-52BB-7D30-35DEDC614114}"/>
              </a:ext>
            </a:extLst>
          </p:cNvPr>
          <p:cNvSpPr txBox="1"/>
          <p:nvPr/>
        </p:nvSpPr>
        <p:spPr>
          <a:xfrm>
            <a:off x="7901940" y="3982823"/>
            <a:ext cx="4088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hlinkClick r:id="rId10"/>
              </a:rPr>
              <a:t>Jupyter Notebook: cascaded_tanks (Part 1)</a:t>
            </a:r>
            <a:endParaRPr lang="en-GB" sz="1400" dirty="0">
              <a:solidFill>
                <a:srgbClr val="FF0000"/>
              </a:solidFill>
            </a:endParaRPr>
          </a:p>
        </p:txBody>
      </p:sp>
      <p:pic>
        <p:nvPicPr>
          <p:cNvPr id="22" name="Immagine 2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R^2 = 1- \frac{ \sum_{k=1}^N \left\| y(k) -\hat{y}(k) \right\|^2}{\sum_{k=1}^N \left\| y(k) -\bar{y}\right\|^2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8DD4F45-A38A-E855-5142-FA41BD6AB94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940" y="4984023"/>
            <a:ext cx="3392248" cy="71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7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59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Including nonlinearities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77C7F5-8F9F-B3FE-3339-97E12E54B1EA}"/>
              </a:ext>
            </a:extLst>
          </p:cNvPr>
          <p:cNvSpPr txBox="1"/>
          <p:nvPr/>
        </p:nvSpPr>
        <p:spPr>
          <a:xfrm>
            <a:off x="-13335" y="8007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>
                <a:solidFill>
                  <a:srgbClr val="FF0000"/>
                </a:solidFill>
              </a:rPr>
              <a:t>Linear-in-the-</a:t>
            </a:r>
            <a:r>
              <a:rPr lang="it-CH" sz="2400" dirty="0" err="1">
                <a:solidFill>
                  <a:srgbClr val="FF0000"/>
                </a:solidFill>
              </a:rPr>
              <a:t>parameter</a:t>
            </a:r>
            <a:r>
              <a:rPr lang="it-CH" sz="2400" dirty="0"/>
              <a:t> NARX model: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6" name="Immagine 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F\big(y(k-1),  \ldots, y(k-na), u(k),  u(k-1), \ldots,  u(k-nb) \big)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103D285-5874-979B-E141-534EE4E9FE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5" y="1563943"/>
            <a:ext cx="9416774" cy="36315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F670BD-BC1A-C47D-75C7-76FD3BF0A624}"/>
              </a:ext>
            </a:extLst>
          </p:cNvPr>
          <p:cNvSpPr txBox="1"/>
          <p:nvPr/>
        </p:nvSpPr>
        <p:spPr>
          <a:xfrm>
            <a:off x="-13335" y="239807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i="1" dirty="0"/>
              <a:t>F</a:t>
            </a:r>
            <a:r>
              <a:rPr lang="it-CH" sz="2400" dirty="0"/>
              <a:t> </a:t>
            </a:r>
            <a:r>
              <a:rPr lang="it-CH" sz="2400" dirty="0" err="1"/>
              <a:t>is</a:t>
            </a:r>
            <a:r>
              <a:rPr lang="it-CH" sz="2400" dirty="0"/>
              <a:t> a </a:t>
            </a:r>
            <a:r>
              <a:rPr lang="it-CH" sz="2400" dirty="0" err="1"/>
              <a:t>vector</a:t>
            </a:r>
            <a:r>
              <a:rPr lang="it-CH" sz="2400" dirty="0"/>
              <a:t> </a:t>
            </a:r>
            <a:r>
              <a:rPr lang="it-CH" sz="2400" dirty="0" err="1"/>
              <a:t>containing</a:t>
            </a:r>
            <a:r>
              <a:rPr lang="it-CH" sz="2400" dirty="0"/>
              <a:t> (</a:t>
            </a:r>
            <a:r>
              <a:rPr lang="it-CH" sz="2400" dirty="0" err="1"/>
              <a:t>known</a:t>
            </a:r>
            <a:r>
              <a:rPr lang="it-CH" sz="2400" dirty="0"/>
              <a:t>) </a:t>
            </a:r>
            <a:r>
              <a:rPr lang="it-CH" sz="2400" dirty="0" err="1"/>
              <a:t>nonlinear</a:t>
            </a:r>
            <a:r>
              <a:rPr lang="it-CH" sz="2400" dirty="0"/>
              <a:t> </a:t>
            </a:r>
            <a:r>
              <a:rPr lang="it-CH" sz="2400" dirty="0" err="1"/>
              <a:t>elements</a:t>
            </a:r>
            <a:r>
              <a:rPr lang="it-CH" sz="2400" dirty="0"/>
              <a:t>, e.g., 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14" name="Immagine 1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F(\cdot) = &#10;\left[ \begin{array}{c}&#10;y(k-1) \\&#10;\vdots \\&#10;y^2(k-na) \\&#10;u^3(k-1) \\&#10;\vdots \\&#10;u(k-1)\sin(u(k-nb))&#10;\end{array} \right]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FB0063E-7473-30F6-9F5F-44FC47D9E9F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17" y="3149515"/>
            <a:ext cx="3445508" cy="191783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8168B91-7BAC-BCF6-4F18-7B6E1A9A06EC}"/>
              </a:ext>
            </a:extLst>
          </p:cNvPr>
          <p:cNvSpPr txBox="1"/>
          <p:nvPr/>
        </p:nvSpPr>
        <p:spPr>
          <a:xfrm>
            <a:off x="6191249" y="3926469"/>
            <a:ext cx="5114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B0F0"/>
                </a:solidFill>
              </a:rPr>
              <a:t>How to choose the non-linearities?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714E108-07E9-8EC2-4BD3-B907DC5D6FC2}"/>
              </a:ext>
            </a:extLst>
          </p:cNvPr>
          <p:cNvSpPr txBox="1"/>
          <p:nvPr/>
        </p:nvSpPr>
        <p:spPr>
          <a:xfrm>
            <a:off x="-80010" y="545710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General NARX model: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25" name="Immagine 2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y(k-1),  \ldots, y(k-na), u(k),  u(k-1), \ldots,  u(k-nb); \red{\theta}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6424628C-B132-0675-832A-0ACA996CFEE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6" y="6136784"/>
            <a:ext cx="9557209" cy="363154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FFFA7BC-A01D-440F-3AA7-661E7483CEB6}"/>
              </a:ext>
            </a:extLst>
          </p:cNvPr>
          <p:cNvSpPr txBox="1"/>
          <p:nvPr/>
        </p:nvSpPr>
        <p:spPr>
          <a:xfrm>
            <a:off x="5395761" y="5316184"/>
            <a:ext cx="671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 </a:t>
            </a:r>
            <a:r>
              <a:rPr lang="en-GB" i="1" dirty="0"/>
              <a:t>N</a:t>
            </a:r>
            <a:r>
              <a:rPr lang="en-GB" dirty="0"/>
              <a:t> is a nonlinear function (e.g., neural network) of past observations</a:t>
            </a:r>
          </a:p>
          <a:p>
            <a:r>
              <a:rPr lang="en-GB" dirty="0"/>
              <a:t>- Linearity in </a:t>
            </a:r>
            <a:r>
              <a:rPr lang="el-GR" dirty="0">
                <a:solidFill>
                  <a:srgbClr val="FF0000"/>
                </a:solidFill>
              </a:rPr>
              <a:t>θ</a:t>
            </a:r>
            <a:r>
              <a:rPr lang="it-CH" dirty="0"/>
              <a:t> </a:t>
            </a:r>
            <a:r>
              <a:rPr lang="it-CH" dirty="0" err="1"/>
              <a:t>is</a:t>
            </a:r>
            <a:r>
              <a:rPr lang="it-CH" dirty="0"/>
              <a:t> </a:t>
            </a:r>
            <a:r>
              <a:rPr lang="it-CH" dirty="0" err="1"/>
              <a:t>lost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74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Limitations of (N)ARX models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23F5E3-881F-1517-2266-FE495C463F95}"/>
              </a:ext>
            </a:extLst>
          </p:cNvPr>
          <p:cNvSpPr txBox="1"/>
          <p:nvPr/>
        </p:nvSpPr>
        <p:spPr>
          <a:xfrm>
            <a:off x="154112" y="224587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/>
              <a:t>Prediction</a:t>
            </a:r>
            <a:r>
              <a:rPr lang="it-CH" sz="2400" dirty="0"/>
              <a:t> </a:t>
            </a:r>
            <a:r>
              <a:rPr lang="it-CH" sz="2400" dirty="0" err="1"/>
              <a:t>error</a:t>
            </a:r>
            <a:r>
              <a:rPr lang="it-CH" sz="2400" dirty="0"/>
              <a:t> </a:t>
            </a:r>
            <a:r>
              <a:rPr lang="it-CH" sz="2400" dirty="0" err="1"/>
              <a:t>only</a:t>
            </a:r>
            <a:r>
              <a:rPr lang="it-CH" sz="2400" dirty="0"/>
              <a:t> ``looks’’ one-step </a:t>
            </a:r>
            <a:r>
              <a:rPr lang="it-CH" sz="2400" dirty="0" err="1"/>
              <a:t>ahead</a:t>
            </a: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/>
              <a:t>In case of data </a:t>
            </a:r>
            <a:r>
              <a:rPr lang="it-CH" sz="2400" dirty="0" err="1"/>
              <a:t>sampled</a:t>
            </a:r>
            <a:r>
              <a:rPr lang="it-CH" sz="2400" dirty="0"/>
              <a:t> </a:t>
            </a:r>
            <a:r>
              <a:rPr lang="it-CH" sz="2400" dirty="0" err="1"/>
              <a:t>at</a:t>
            </a:r>
            <a:r>
              <a:rPr lang="it-CH" sz="2400" dirty="0"/>
              <a:t> high-frequency, a good one-step </a:t>
            </a:r>
            <a:r>
              <a:rPr lang="it-CH" sz="2400" dirty="0" err="1"/>
              <a:t>ahead</a:t>
            </a:r>
            <a:r>
              <a:rPr lang="it-CH" sz="2400" dirty="0"/>
              <a:t> </a:t>
            </a:r>
            <a:r>
              <a:rPr lang="it-CH" sz="2400" dirty="0" err="1"/>
              <a:t>predictor</a:t>
            </a:r>
            <a:r>
              <a:rPr lang="it-CH" sz="2400" dirty="0"/>
              <a:t> </a:t>
            </a:r>
            <a:r>
              <a:rPr lang="it-CH" sz="2400" dirty="0" err="1"/>
              <a:t>could</a:t>
            </a:r>
            <a:r>
              <a:rPr lang="it-CH" sz="2400" dirty="0"/>
              <a:t>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/>
              <a:t>We</a:t>
            </a:r>
            <a:r>
              <a:rPr lang="it-CH" sz="2400" dirty="0"/>
              <a:t> </a:t>
            </a:r>
            <a:r>
              <a:rPr lang="it-CH" sz="2400" dirty="0" err="1"/>
              <a:t>would</a:t>
            </a:r>
            <a:r>
              <a:rPr lang="it-CH" sz="2400" dirty="0"/>
              <a:t> like to </a:t>
            </a:r>
            <a:r>
              <a:rPr lang="it-CH" sz="2400" dirty="0" err="1"/>
              <a:t>have</a:t>
            </a:r>
            <a:r>
              <a:rPr lang="it-CH" sz="2400" dirty="0"/>
              <a:t> </a:t>
            </a:r>
            <a:r>
              <a:rPr lang="it-CH" sz="2400" dirty="0" err="1"/>
              <a:t>predictive</a:t>
            </a:r>
            <a:r>
              <a:rPr lang="it-CH" sz="2400" dirty="0"/>
              <a:t> models </a:t>
            </a:r>
            <a:r>
              <a:rPr lang="it-CH" sz="2400" dirty="0" err="1"/>
              <a:t>that</a:t>
            </a:r>
            <a:r>
              <a:rPr lang="it-CH" sz="2400" dirty="0"/>
              <a:t> </a:t>
            </a:r>
            <a:r>
              <a:rPr lang="it-CH" sz="2400" dirty="0" err="1"/>
              <a:t>provide</a:t>
            </a:r>
            <a:r>
              <a:rPr lang="it-CH" sz="2400" dirty="0"/>
              <a:t> good </a:t>
            </a:r>
            <a:r>
              <a:rPr lang="it-CH" sz="2400" dirty="0" err="1"/>
              <a:t>prediction</a:t>
            </a:r>
            <a:r>
              <a:rPr lang="it-CH" sz="2400" dirty="0"/>
              <a:t> in a long-</a:t>
            </a:r>
            <a:r>
              <a:rPr lang="it-CH" sz="2400" dirty="0" err="1"/>
              <a:t>horizon</a:t>
            </a:r>
            <a:endParaRPr lang="it-CH" sz="2400" dirty="0"/>
          </a:p>
        </p:txBody>
      </p:sp>
      <p:pic>
        <p:nvPicPr>
          <p:cNvPr id="34" name="Immagine 3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68B05EF-F39D-CD58-29DE-5D86BAC2B1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22" y="1710252"/>
            <a:ext cx="2672639" cy="303908"/>
          </a:xfrm>
          <a:prstGeom prst="rect">
            <a:avLst/>
          </a:prstGeom>
        </p:spPr>
      </p:pic>
      <p:pic>
        <p:nvPicPr>
          <p:cNvPr id="3" name="Immagine 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y(k-1),  \ldots, y(k-na), u(k),  u(k-1), \ldots,  u(k-nb); \red{\theta}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280AC4D-15EA-6194-2354-D17B5D2DCB1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51" y="1101393"/>
            <a:ext cx="9557209" cy="363154"/>
          </a:xfrm>
          <a:prstGeom prst="rect">
            <a:avLst/>
          </a:prstGeom>
        </p:spPr>
      </p:pic>
      <p:pic>
        <p:nvPicPr>
          <p:cNvPr id="8" name="Immagine 7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 M(\red{\theta}): \hat{y}(k) = y(k-1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E5B7216-8ABB-E5CA-B410-FB2D8F24D4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023" y="3789084"/>
            <a:ext cx="2980935" cy="303908"/>
          </a:xfrm>
          <a:prstGeom prst="rect">
            <a:avLst/>
          </a:prstGeom>
        </p:spPr>
      </p:pic>
      <p:pic>
        <p:nvPicPr>
          <p:cNvPr id="12" name="Immagine 1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\hat{y}(k-1),  \ldots, \hat{y}(k-na), u(k),  u(k-1), \ldots,  u(k-nb); \red{\theta}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1D3744C-BA35-6CE8-985E-E4F553F6633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45" y="5155254"/>
            <a:ext cx="9557208" cy="363154"/>
          </a:xfrm>
          <a:prstGeom prst="rect">
            <a:avLst/>
          </a:prstGeom>
        </p:spPr>
      </p:pic>
      <p:pic>
        <p:nvPicPr>
          <p:cNvPr id="18" name="Immagine 17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 k=1,2,\ldots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E7BB8F0-3450-950E-DD06-D55F40DEAB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890" y="5795579"/>
            <a:ext cx="1459199" cy="2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8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Simulation error minimization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77C7F5-8F9F-B3FE-3339-97E12E54B1EA}"/>
              </a:ext>
            </a:extLst>
          </p:cNvPr>
          <p:cNvSpPr txBox="1"/>
          <p:nvPr/>
        </p:nvSpPr>
        <p:spPr>
          <a:xfrm>
            <a:off x="-13335" y="800735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Linear models</a:t>
            </a:r>
            <a:endParaRPr lang="it-CH" sz="2400" dirty="0"/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/>
              <a:t>OE model: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4" name="Immagine 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\hat{y}(k-1) + \ldots + \red{a_{na}}\hat{y}(k-na) + \red{b_0}u(k) + \ldots + \red{b_{nb}}u(k-nb) \\&#10;= &amp;  \underset{x'(k;\red{\theta})}{\underbrace{   \left[\hat{y}(k-1;\red{\theta}) \ \ldots \hat{y}(k-na;\red{\theta}) \ u(k) \ u(k-1) \ \ldots \ u(k-nb) \right] }}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14ECFB0-CF77-538A-8B48-7912E348D5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" y="1781163"/>
            <a:ext cx="9999356" cy="124196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23F5E3-881F-1517-2266-FE495C463F95}"/>
              </a:ext>
            </a:extLst>
          </p:cNvPr>
          <p:cNvSpPr txBox="1"/>
          <p:nvPr/>
        </p:nvSpPr>
        <p:spPr>
          <a:xfrm>
            <a:off x="77056" y="333047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 err="1">
                <a:solidFill>
                  <a:srgbClr val="0070C0"/>
                </a:solidFill>
              </a:rPr>
              <a:t>Residual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 err="1">
                <a:solidFill>
                  <a:srgbClr val="0070C0"/>
                </a:solidFill>
              </a:rPr>
              <a:t>signal</a:t>
            </a:r>
            <a:r>
              <a:rPr lang="it-CH" sz="2400" dirty="0">
                <a:solidFill>
                  <a:srgbClr val="0070C0"/>
                </a:solidFill>
              </a:rPr>
              <a:t>:</a:t>
            </a:r>
            <a:endParaRPr lang="it-CH" sz="2400" dirty="0"/>
          </a:p>
        </p:txBody>
      </p:sp>
      <p:pic>
        <p:nvPicPr>
          <p:cNvPr id="11" name="Immagine 1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 = y(k) - x'(k;\red{\theta})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645B9CDF-812A-1E8C-0075-CEC6D3FA37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91" y="3410337"/>
            <a:ext cx="5129140" cy="319268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AA75BB4-03E8-9AA5-7C83-E0FC10FF88F0}"/>
              </a:ext>
            </a:extLst>
          </p:cNvPr>
          <p:cNvSpPr txBox="1"/>
          <p:nvPr/>
        </p:nvSpPr>
        <p:spPr>
          <a:xfrm>
            <a:off x="77056" y="412070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CH" sz="2400" dirty="0">
                <a:solidFill>
                  <a:srgbClr val="0070C0"/>
                </a:solidFill>
              </a:rPr>
              <a:t>Loss:  </a:t>
            </a:r>
            <a:r>
              <a:rPr lang="it-CH" sz="2400" dirty="0"/>
              <a:t>sum of </a:t>
            </a:r>
            <a:r>
              <a:rPr lang="it-CH" sz="2400" dirty="0" err="1"/>
              <a:t>squared</a:t>
            </a:r>
            <a:r>
              <a:rPr lang="it-CH" sz="2400" dirty="0"/>
              <a:t> </a:t>
            </a:r>
            <a:r>
              <a:rPr lang="it-CH" sz="2400" dirty="0" err="1"/>
              <a:t>residuals</a:t>
            </a:r>
            <a:r>
              <a:rPr lang="it-CH" sz="2400" dirty="0"/>
              <a:t> </a:t>
            </a:r>
            <a:r>
              <a:rPr lang="it-CH" sz="2400" dirty="0" err="1"/>
              <a:t>is</a:t>
            </a:r>
            <a:r>
              <a:rPr lang="it-CH" sz="2400" dirty="0"/>
              <a:t> </a:t>
            </a:r>
            <a:r>
              <a:rPr lang="it-CH" sz="2400" dirty="0" err="1"/>
              <a:t>not</a:t>
            </a:r>
            <a:r>
              <a:rPr lang="it-CH" sz="2400" dirty="0"/>
              <a:t> </a:t>
            </a:r>
            <a:r>
              <a:rPr lang="it-CH" sz="2400" dirty="0" err="1"/>
              <a:t>convex</a:t>
            </a:r>
            <a:r>
              <a:rPr lang="it-CH" sz="2400" dirty="0"/>
              <a:t> </a:t>
            </a:r>
            <a:r>
              <a:rPr lang="it-CH" sz="2400" dirty="0" err="1"/>
              <a:t>anymore</a:t>
            </a:r>
            <a:r>
              <a:rPr lang="it-CH" sz="2400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CH" sz="2400" dirty="0">
              <a:solidFill>
                <a:srgbClr val="0070C0"/>
              </a:solidFill>
            </a:endParaRP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57" name="Immagine 56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L_N(\red{\theta}) = \frac{1}{N}\sum_{k=1}^N \left\| \epsilon(k, \red{\theta}) 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F55D8C5-0D46-7359-B3D4-9D72E6E471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010" y="4613511"/>
            <a:ext cx="3335309" cy="89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2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First-order methods for non-convex optimization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&#10;\begin{enumerate}&#10;    \item \textbf{Initialize Parameters}: $\theta^{(0)}$&#10;    &#10;    \item \textbf{for $k=0,1,\ldots$}: \textbf{until} maximum number of iterations or   convergence \textbf{do}:&#10;    \begin{enumerate}&#10;        \item \textbf{Compute Gradient}: $\nabla_\theta \mathcal{L}(\theta^{(k)})$ &#10;        &#10;        \item \textbf{Update Parameters}: &#10;        \[ \theta^{(k+1)} = \theta^{(k)} - \gamma \cdot \nabla_\theta \mathcal{L}(\theta^{(k)}) \]&#10;    \end{enumerate}&#10;\end{enumerate}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A76234F9-9AA4-317D-19C0-A318B61B6C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8" y="1609846"/>
            <a:ext cx="8372475" cy="2261028"/>
          </a:xfrm>
          <a:prstGeom prst="rect">
            <a:avLst/>
          </a:prstGeom>
        </p:spPr>
      </p:pic>
      <p:pic>
        <p:nvPicPr>
          <p:cNvPr id="35" name="Immagine 34" descr="Immagine che contiene diagramma, disegno, design&#10;&#10;Descrizione generata automaticamente">
            <a:extLst>
              <a:ext uri="{FF2B5EF4-FFF2-40B4-BE49-F238E27FC236}">
                <a16:creationId xmlns:a16="http://schemas.microsoft.com/office/drawing/2014/main" id="{BF879A4C-F0A2-D191-3FCF-9A3530490AE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0" r="10297"/>
          <a:stretch/>
        </p:blipFill>
        <p:spPr>
          <a:xfrm>
            <a:off x="8867775" y="1849266"/>
            <a:ext cx="2817368" cy="2955989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329B668-6F78-767F-CB01-50D053A511DB}"/>
              </a:ext>
            </a:extLst>
          </p:cNvPr>
          <p:cNvSpPr txBox="1"/>
          <p:nvPr/>
        </p:nvSpPr>
        <p:spPr>
          <a:xfrm>
            <a:off x="314325" y="4943476"/>
            <a:ext cx="666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Other updates are possible, e.g., gradient-descent with momentum:</a:t>
            </a:r>
          </a:p>
        </p:txBody>
      </p:sp>
      <p:pic>
        <p:nvPicPr>
          <p:cNvPr id="8" name="Immagine 7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\begin{align*}&#10;v^{(k+1)} = &amp; \mu v^{(k)} + (1-\tau) \cdot \nabla_\theta \mathcal{L}(\theta^{(k)}) \\&#10;\theta^{(k+1)} = &amp; \theta^{(k)} - \gamma v^{(k+1)}&#10;\end{align*}&#10;&#10; 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977A89B5-EAA5-FDE7-A7B7-FF43EA5B614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06" y="5500250"/>
            <a:ext cx="3833960" cy="721372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6D26804-32AB-4F12-7B51-2323A92CC4BD}"/>
              </a:ext>
            </a:extLst>
          </p:cNvPr>
          <p:cNvSpPr txBox="1"/>
          <p:nvPr/>
        </p:nvSpPr>
        <p:spPr>
          <a:xfrm>
            <a:off x="314325" y="931672"/>
            <a:ext cx="406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Vanilla Gradient Descent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B809A7-8EDC-B0F0-8E9C-A0C772738D63}"/>
              </a:ext>
            </a:extLst>
          </p:cNvPr>
          <p:cNvSpPr txBox="1"/>
          <p:nvPr/>
        </p:nvSpPr>
        <p:spPr>
          <a:xfrm>
            <a:off x="7901940" y="4879144"/>
            <a:ext cx="4088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rgbClr val="FF0000"/>
                </a:solidFill>
              </a:rPr>
              <a:t>Jupyter</a:t>
            </a:r>
            <a:r>
              <a:rPr lang="en-GB" sz="1400" dirty="0">
                <a:solidFill>
                  <a:srgbClr val="FF0000"/>
                </a:solidFill>
              </a:rPr>
              <a:t> Notebook: </a:t>
            </a:r>
            <a:r>
              <a:rPr lang="en-GB" sz="1400" dirty="0" err="1">
                <a:solidFill>
                  <a:srgbClr val="FF0000"/>
                </a:solidFill>
              </a:rPr>
              <a:t>CascadedTanksLS.ipynb</a:t>
            </a:r>
            <a:r>
              <a:rPr lang="en-GB" sz="1400" dirty="0">
                <a:solidFill>
                  <a:srgbClr val="FF0000"/>
                </a:solidFill>
              </a:rPr>
              <a:t> (Part II)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B734B5C-BC15-6AF6-1A15-438036B7F7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7891" t="67041" r="27891" b="21207"/>
          <a:stretch/>
        </p:blipFill>
        <p:spPr>
          <a:xfrm>
            <a:off x="5553074" y="5594729"/>
            <a:ext cx="5391151" cy="6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A106-83AB-B07D-EE39-DE345F84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C33D9D71-AF1E-847D-23BF-01728ACC400F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3EEA828-C7CF-6BE7-2018-B14BF7566521}"/>
              </a:ext>
            </a:extLst>
          </p:cNvPr>
          <p:cNvSpPr txBox="1"/>
          <p:nvPr/>
        </p:nvSpPr>
        <p:spPr>
          <a:xfrm>
            <a:off x="246581" y="-8806"/>
            <a:ext cx="1174336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Convergence of gradient-descent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7FA621D-E8BA-2015-67C2-FEF65BD72DCC}"/>
              </a:ext>
            </a:extLst>
          </p:cNvPr>
          <p:cNvSpPr txBox="1"/>
          <p:nvPr/>
        </p:nvSpPr>
        <p:spPr>
          <a:xfrm>
            <a:off x="314325" y="741172"/>
            <a:ext cx="406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Assumptions:</a:t>
            </a:r>
          </a:p>
        </p:txBody>
      </p:sp>
      <p:pic>
        <p:nvPicPr>
          <p:cNvPr id="48" name="Immagine 47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\begin{itemize}&#10;\item $L(\theta^*) = 0$ (just to keep notation simple)&#10;%\item $\left\| \nabla L(x) - \nabla L(y)  \right\|^2 \leq L  \left\| x - y \right\|^2  $ Lipschitz continuity of $\nabla L$&#10;\item  Lipschitz continuity of $\nabla L$: $ \nabla^2 L(\theta) \preceq \beta I  \ \  \forall   \theta \in B$ &#10;\item $\mu$-PL condition:  $\frac{1}{2}\left\| \nabla L(\theta)\right\|^2 \geq \mu  L(\theta) \ \  \forall   \theta \in B$&#10;\item  $\theta^{(k+1)} = \theta^{(k)} - \gamma \nabla L(\theta^{(k)})$ (gradient update)&#10;\end{itemize}&#10;&#10;&#10; 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3026E2F9-2917-B64D-D573-6B1B7A4D73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3" y="1232090"/>
            <a:ext cx="5594547" cy="1785622"/>
          </a:xfrm>
          <a:prstGeom prst="rect">
            <a:avLst/>
          </a:prstGeom>
        </p:spPr>
      </p:pic>
      <p:pic>
        <p:nvPicPr>
          <p:cNvPr id="65" name="Immagine 6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\begin{align*}&#10;L(\theta^{(k+1)}) = &amp;L(\theta^{(k)}) + \left(\theta^{(k+1)} - \theta^{(k)}\right)'\nabla L(\theta^{(k)})+ \frac{1}{2}\left(\theta^{(k+1)} - \theta^{(k)}\right)'\nabla^2 L(\tilde \theta) \left(\theta^{(k+1)} - \theta^{(k)}\right) \\&#10;\leq &amp; L(\theta^{(k)}) -\gamma \left\|\nabla L(\theta^{(k)}) \right\|^2+ \frac{1}{2} \gamma^2 \left\|\nabla L(\theta^{(k)}) \right\|^2 \beta = \\&#10;= &amp; L(\theta^{(k)}) - \gamma\left\|\nabla L(\theta^{(k)}) \right\|^2 \left( 1 - \frac{1}{2}\gamma\beta \right) \\&#10;= &amp; L(\theta^{(k)}) -\gamma \frac{1}{2} \left\|\nabla L(\theta^{(k)}) \right\|^2 \\&#10;\leq &amp;  L(\theta^{(k)}) (1 - \gamma \mu) 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7793A716-8C53-7D0F-7331-A14DCFDAC6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3520403"/>
            <a:ext cx="9982352" cy="2858062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B4CF817-E694-D73A-861A-456635217FBC}"/>
              </a:ext>
            </a:extLst>
          </p:cNvPr>
          <p:cNvSpPr txBox="1"/>
          <p:nvPr/>
        </p:nvSpPr>
        <p:spPr>
          <a:xfrm>
            <a:off x="314325" y="3076702"/>
            <a:ext cx="406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Convergence:</a:t>
            </a:r>
          </a:p>
        </p:txBody>
      </p:sp>
      <p:pic>
        <p:nvPicPr>
          <p:cNvPr id="53" name="Immagine 5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Take $\gamma=\frac{1}{\beta}$&#10;&#10;&#10; 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D317AEF2-8A16-8BDF-5401-34D84A5B6F0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925" y="4882509"/>
            <a:ext cx="1238439" cy="339200"/>
          </a:xfrm>
          <a:prstGeom prst="rect">
            <a:avLst/>
          </a:prstGeom>
        </p:spPr>
      </p:pic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BC423D08-207B-7291-8AD8-D3F733F0E201}"/>
              </a:ext>
            </a:extLst>
          </p:cNvPr>
          <p:cNvCxnSpPr>
            <a:cxnSpLocks/>
          </p:cNvCxnSpPr>
          <p:nvPr/>
        </p:nvCxnSpPr>
        <p:spPr>
          <a:xfrm flipH="1">
            <a:off x="5902960" y="5040161"/>
            <a:ext cx="2366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Immagine 5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\begin{align*}&#10;L(\theta^{(k)}) \leq  (1 - \gamma \mu)^{k} L(\theta^{(0)})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4CD54980-D527-9362-C088-90077C71A20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471" y="5791982"/>
            <a:ext cx="2896690" cy="299886"/>
          </a:xfrm>
          <a:prstGeom prst="rect">
            <a:avLst/>
          </a:prstGeom>
        </p:spPr>
      </p:pic>
      <p:sp>
        <p:nvSpPr>
          <p:cNvPr id="56" name="Rettangolo 55">
            <a:extLst>
              <a:ext uri="{FF2B5EF4-FFF2-40B4-BE49-F238E27FC236}">
                <a16:creationId xmlns:a16="http://schemas.microsoft.com/office/drawing/2014/main" id="{5BAA588A-39EA-6BA2-8D0B-03062A6FB7D6}"/>
              </a:ext>
            </a:extLst>
          </p:cNvPr>
          <p:cNvSpPr/>
          <p:nvPr/>
        </p:nvSpPr>
        <p:spPr>
          <a:xfrm>
            <a:off x="8534754" y="5710888"/>
            <a:ext cx="3286125" cy="506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2" name="Input penna 71">
                <a:extLst>
                  <a:ext uri="{FF2B5EF4-FFF2-40B4-BE49-F238E27FC236}">
                    <a16:creationId xmlns:a16="http://schemas.microsoft.com/office/drawing/2014/main" id="{1BD1901D-CCB5-4B18-4FF0-72F297142782}"/>
                  </a:ext>
                </a:extLst>
              </p14:cNvPr>
              <p14:cNvContentPartPr/>
              <p14:nvPr/>
            </p14:nvContentPartPr>
            <p14:xfrm>
              <a:off x="12839835" y="5457255"/>
              <a:ext cx="360" cy="360"/>
            </p14:xfrm>
          </p:contentPart>
        </mc:Choice>
        <mc:Fallback xmlns="">
          <p:pic>
            <p:nvPicPr>
              <p:cNvPr id="72" name="Input penna 71">
                <a:extLst>
                  <a:ext uri="{FF2B5EF4-FFF2-40B4-BE49-F238E27FC236}">
                    <a16:creationId xmlns:a16="http://schemas.microsoft.com/office/drawing/2014/main" id="{1BD1901D-CCB5-4B18-4FF0-72F29714278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30835" y="544825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7A7C271-9944-BCCE-29A1-1758F1326E2E}"/>
              </a:ext>
            </a:extLst>
          </p:cNvPr>
          <p:cNvSpPr txBox="1"/>
          <p:nvPr/>
        </p:nvSpPr>
        <p:spPr>
          <a:xfrm>
            <a:off x="154112" y="6437122"/>
            <a:ext cx="10070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Karimi, H., Nutini, J., &amp; Schmidt, M. (2016, September). Linear convergence of gradient and proximal-gradient methods under the Polyak-</a:t>
            </a:r>
            <a:r>
              <a:rPr lang="en-GB" sz="1200" dirty="0" err="1"/>
              <a:t>Lojasiewicz</a:t>
            </a:r>
            <a:r>
              <a:rPr lang="en-GB" sz="1200" dirty="0"/>
              <a:t> condition.</a:t>
            </a:r>
            <a:br>
              <a:rPr lang="en-GB" sz="1200" dirty="0"/>
            </a:br>
            <a:r>
              <a:rPr lang="en-GB" sz="1200" dirty="0"/>
              <a:t>In </a:t>
            </a:r>
            <a:r>
              <a:rPr lang="en-GB" sz="1200" i="1" dirty="0"/>
              <a:t>Joint European conference on machine learning and knowledge discovery in databases</a:t>
            </a:r>
            <a:r>
              <a:rPr lang="en-GB" sz="1200" dirty="0"/>
              <a:t> (pp. 795-811). Cham: Springer International Publishing.</a:t>
            </a:r>
            <a:endParaRPr lang="en-CH" sz="1200" dirty="0"/>
          </a:p>
        </p:txBody>
      </p:sp>
    </p:spTree>
    <p:extLst>
      <p:ext uri="{BB962C8B-B14F-4D97-AF65-F5344CB8AC3E}">
        <p14:creationId xmlns:p14="http://schemas.microsoft.com/office/powerpoint/2010/main" val="190131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Stochastic Gradient Descent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magine 42" descr="\documentclass{article}&#10;\usepackage{amsmath}&#10;\pagestyle{empty}&#10;\usepackage{bm}&#10;\usepackage{color}&#10;\usepackage{amsfonts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L(\red{\theta}) =  \frac{1}{N}\sum_{i=1}^N \ell_i( \red{\theta}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BF9327F-A30C-20C0-BD90-6B371C6017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536" y="904293"/>
            <a:ext cx="2461984" cy="885394"/>
          </a:xfrm>
          <a:prstGeom prst="rect">
            <a:avLst/>
          </a:prstGeom>
        </p:spPr>
      </p:pic>
      <p:pic>
        <p:nvPicPr>
          <p:cNvPr id="5" name="Immagine 4" descr="\documentclass{article}&#10;\usepackage{amsmath}&#10;\pagestyle{empty}&#10;\usepackage{bm}&#10;\usepackage{color}&#10;\usepackage{amsfonts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bb{E}[\nabla \ell_{i_t}(\theta^{(k)})] = \sum_{i=1}^N \nabla \ell_{i}(\theta^{(k)})P(i_k=i) = \frac{1}{N}\sum_{i=1}^N \nabla \ell_{i}(\theta^{(k)}) = \nabla L(\theta^{(k)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927A1F0-7400-4EA6-F440-00CCDDDC26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18" y="2362738"/>
            <a:ext cx="9075550" cy="885393"/>
          </a:xfrm>
          <a:prstGeom prst="rect">
            <a:avLst/>
          </a:prstGeom>
        </p:spPr>
      </p:pic>
      <p:pic>
        <p:nvPicPr>
          <p:cNvPr id="3" name="Immagine 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  $\theta^{(k+1)} = \theta^{(k)} - \gamma \nabla \ell_{i_k}(\theta^{(k)})$ &#10;&#10;&#10; 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9C63B09A-2E7B-0C8D-84DC-ACBB98EEDA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0" y="1048611"/>
            <a:ext cx="4494098" cy="444356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3A5D598-8B12-B1BF-0549-ADCBE8D38CEC}"/>
              </a:ext>
            </a:extLst>
          </p:cNvPr>
          <p:cNvSpPr txBox="1"/>
          <p:nvPr/>
        </p:nvSpPr>
        <p:spPr>
          <a:xfrm>
            <a:off x="4014618" y="1776020"/>
            <a:ext cx="453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Uniformly randomly sampled from {1,2,…N}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C7AFB1B0-D1E9-58F0-9F80-DC32AA90A34C}"/>
              </a:ext>
            </a:extLst>
          </p:cNvPr>
          <p:cNvCxnSpPr/>
          <p:nvPr/>
        </p:nvCxnSpPr>
        <p:spPr>
          <a:xfrm flipH="1" flipV="1">
            <a:off x="4185526" y="1549069"/>
            <a:ext cx="424574" cy="200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  $\displaystyle \theta^{(k+1)} = \theta^{(k)} - \gamma \frac{1}{B}\sum_{i_k=1}^{B} \nabla \ell_{i_t}(\theta^{(k)})$ &#10;&#10;&#10; 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38ACB224-C828-303E-D6DE-A029968FC78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18" y="4162595"/>
            <a:ext cx="5070569" cy="1047271"/>
          </a:xfrm>
          <a:prstGeom prst="rect">
            <a:avLst/>
          </a:prstGeom>
        </p:spPr>
      </p:pic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F4CF053-AABE-4B9D-2029-EB3D06EC47C1}"/>
              </a:ext>
            </a:extLst>
          </p:cNvPr>
          <p:cNvSpPr txBox="1"/>
          <p:nvPr/>
        </p:nvSpPr>
        <p:spPr>
          <a:xfrm>
            <a:off x="438150" y="3474847"/>
            <a:ext cx="580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Mini-batch gradient descent (B&lt;&lt;N):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07050686-A159-9329-E170-2CCDE2B8DB3E}"/>
              </a:ext>
            </a:extLst>
          </p:cNvPr>
          <p:cNvSpPr/>
          <p:nvPr/>
        </p:nvSpPr>
        <p:spPr>
          <a:xfrm>
            <a:off x="376067" y="5440896"/>
            <a:ext cx="8172451" cy="644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Do not process the whole dataset to update the model parameters, just process a smaller batch of samples and then make the update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3A051265-E9F7-6EBF-EA79-368A4B8E6E05}"/>
              </a:ext>
            </a:extLst>
          </p:cNvPr>
          <p:cNvSpPr/>
          <p:nvPr/>
        </p:nvSpPr>
        <p:spPr>
          <a:xfrm>
            <a:off x="8177897" y="4457873"/>
            <a:ext cx="3762375" cy="5232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epoch = many parameter updates</a:t>
            </a:r>
          </a:p>
        </p:txBody>
      </p:sp>
    </p:spTree>
    <p:extLst>
      <p:ext uri="{BB962C8B-B14F-4D97-AF65-F5344CB8AC3E}">
        <p14:creationId xmlns:p14="http://schemas.microsoft.com/office/powerpoint/2010/main" val="44218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EC53-2B25-F833-174F-1325516A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CF2FCF5-7BEE-68D1-A327-03A99123AFAF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3753EEA-579E-1E8D-C434-847469DE75EA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Enforcing sparsity: L1-regularization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E34B120-597E-7B8A-3135-BAC08FA6600A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63EE9B5-FEE5-5C57-08B8-65E7CCEFBDD4}"/>
              </a:ext>
            </a:extLst>
          </p:cNvPr>
          <p:cNvSpPr txBox="1"/>
          <p:nvPr/>
        </p:nvSpPr>
        <p:spPr>
          <a:xfrm>
            <a:off x="179705" y="25787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>
                <a:solidFill>
                  <a:srgbClr val="FF0000"/>
                </a:solidFill>
              </a:rPr>
              <a:t>Linear-in-the-</a:t>
            </a:r>
            <a:r>
              <a:rPr lang="it-CH" sz="2400" dirty="0" err="1">
                <a:solidFill>
                  <a:srgbClr val="FF0000"/>
                </a:solidFill>
              </a:rPr>
              <a:t>parameter</a:t>
            </a:r>
            <a:r>
              <a:rPr lang="it-CH" sz="2400" dirty="0"/>
              <a:t> NARX model: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6" name="Immagine 5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F\big(y(k-1),  \ldots, y(k-na), u(k),  u(k-1), \ldots,  u(k-nb) \big) \red{\theta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4CDE737-C377-04A7-F22E-A7C57BCA88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21" y="3254580"/>
            <a:ext cx="8362823" cy="322509"/>
          </a:xfrm>
          <a:prstGeom prst="rect">
            <a:avLst/>
          </a:prstGeom>
        </p:spPr>
      </p:pic>
      <p:pic>
        <p:nvPicPr>
          <p:cNvPr id="14" name="Immagine 1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F(\cdot) = &#10;\left[ \begin{array}{c}&#10;y(k-1) \\&#10;\vdots \\&#10;y^2(k-na) \\&#10;u^3(k-1) \\&#10;\vdots \\&#10;u(k-1)\sin(u(k-nb))&#10;\end{array} \right]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3D09670-2F7B-A207-9644-0C33410627F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2741158"/>
            <a:ext cx="2896743" cy="161238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121E13-8439-4852-166F-F117F3DA4E36}"/>
              </a:ext>
            </a:extLst>
          </p:cNvPr>
          <p:cNvSpPr txBox="1"/>
          <p:nvPr/>
        </p:nvSpPr>
        <p:spPr>
          <a:xfrm>
            <a:off x="202057" y="462783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q"/>
            </a:pPr>
            <a:r>
              <a:rPr lang="it-CH" sz="2400" dirty="0">
                <a:solidFill>
                  <a:srgbClr val="FF0000"/>
                </a:solidFill>
              </a:rPr>
              <a:t>L1 </a:t>
            </a:r>
            <a:r>
              <a:rPr lang="it-CH" sz="2400" dirty="0" err="1">
                <a:solidFill>
                  <a:srgbClr val="FF0000"/>
                </a:solidFill>
              </a:rPr>
              <a:t>regularization</a:t>
            </a:r>
            <a:r>
              <a:rPr lang="it-CH" sz="2400" dirty="0">
                <a:solidFill>
                  <a:srgbClr val="FF0000"/>
                </a:solidFill>
              </a:rPr>
              <a:t> </a:t>
            </a:r>
            <a:r>
              <a:rPr lang="it-CH" sz="2400" dirty="0"/>
              <a:t>(LASSO-like): </a:t>
            </a:r>
            <a:r>
              <a:rPr lang="it-CH" sz="2400" dirty="0" err="1"/>
              <a:t>penalize</a:t>
            </a:r>
            <a:r>
              <a:rPr lang="it-CH" sz="2400" dirty="0"/>
              <a:t> model </a:t>
            </a:r>
            <a:r>
              <a:rPr lang="it-CH" sz="2400" dirty="0" err="1"/>
              <a:t>complexity</a:t>
            </a:r>
            <a:r>
              <a:rPr lang="it-CH" sz="2400" dirty="0"/>
              <a:t> </a:t>
            </a:r>
            <a:r>
              <a:rPr lang="it-CH" sz="2400" dirty="0" err="1"/>
              <a:t>during</a:t>
            </a:r>
            <a:r>
              <a:rPr lang="it-CH" sz="2400" dirty="0"/>
              <a:t> training </a:t>
            </a:r>
          </a:p>
          <a:p>
            <a:pPr marL="800100" lvl="1" indent="-342900">
              <a:buSzPct val="50000"/>
              <a:buFont typeface="Wingdings" panose="05000000000000000000" pitchFamily="2" charset="2"/>
              <a:buChar char="q"/>
            </a:pPr>
            <a:endParaRPr lang="it-CH" sz="2400" dirty="0"/>
          </a:p>
          <a:p>
            <a:pPr lvl="1">
              <a:buSzPct val="50000"/>
            </a:pPr>
            <a:endParaRPr lang="it-CH" sz="2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7467255-3231-F4CA-526E-A02E425012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258" y="5219000"/>
            <a:ext cx="5068007" cy="95263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4357B64-BCB9-6913-9935-CD332FFFC3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1138" y="840779"/>
            <a:ext cx="512516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1019C-FDED-A46E-3EBF-140D8129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400450AC-C709-18E1-5FFA-14B4043F166E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8C2948C-AF51-806F-03CE-ADA6C2F5BCC2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Non smooth functions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726AC6C-04C8-159E-98AF-881C8028FB87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DC420B0D-5F83-9ADA-8529-AB816E66B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13" y="932005"/>
            <a:ext cx="2972215" cy="63826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BC2BF3C-3CD7-A2A5-D149-118CA93CF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239" y="944967"/>
            <a:ext cx="3867690" cy="657317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620D024-3CFE-57A8-192A-5D8073892AA8}"/>
              </a:ext>
            </a:extLst>
          </p:cNvPr>
          <p:cNvCxnSpPr/>
          <p:nvPr/>
        </p:nvCxnSpPr>
        <p:spPr>
          <a:xfrm>
            <a:off x="3712029" y="1251137"/>
            <a:ext cx="1915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BD0E4105-53D2-2B96-883F-DFF6EC4573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59"/>
          <a:stretch/>
        </p:blipFill>
        <p:spPr>
          <a:xfrm>
            <a:off x="2262389" y="2289492"/>
            <a:ext cx="7021699" cy="39697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990C11-ED8F-D94B-9026-F7127EBB4FB1}"/>
              </a:ext>
            </a:extLst>
          </p:cNvPr>
          <p:cNvSpPr txBox="1"/>
          <p:nvPr/>
        </p:nvSpPr>
        <p:spPr bwMode="auto">
          <a:xfrm>
            <a:off x="2693166" y="6116017"/>
            <a:ext cx="664573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Parikh, N., &amp; Boyd, S. (2014). Proximal algorithms. Foundations and Trends® in Optimization, 1(3), 127-239.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72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2D8C-D37D-988E-7986-1535E84D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FFBFFAEF-161A-6399-0AB7-9C9E6948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494" y="1094829"/>
            <a:ext cx="2743583" cy="628738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E46CCF56-0DFF-DFFF-4BB5-BBA0DAF6545D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D8449BC-FFF5-5FCD-7A57-337A32C3D11A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Proximal gradient methods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76849CC-5903-38AD-F756-643D99F99171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27C11B3E-E22F-4076-343E-AC1B2D146E92}"/>
              </a:ext>
            </a:extLst>
          </p:cNvPr>
          <p:cNvSpPr/>
          <p:nvPr/>
        </p:nvSpPr>
        <p:spPr>
          <a:xfrm>
            <a:off x="6393387" y="819328"/>
            <a:ext cx="954470" cy="99497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C3812B-91DB-3050-50D5-1787CE5CE460}"/>
              </a:ext>
            </a:extLst>
          </p:cNvPr>
          <p:cNvSpPr txBox="1"/>
          <p:nvPr/>
        </p:nvSpPr>
        <p:spPr>
          <a:xfrm>
            <a:off x="8098971" y="702906"/>
            <a:ext cx="355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>
                <a:solidFill>
                  <a:srgbClr val="00B050"/>
                </a:solidFill>
              </a:rPr>
              <a:t>non-</a:t>
            </a:r>
            <a:r>
              <a:rPr lang="it-CH" dirty="0" err="1">
                <a:solidFill>
                  <a:srgbClr val="00B050"/>
                </a:solidFill>
              </a:rPr>
              <a:t>differentiable</a:t>
            </a:r>
            <a:r>
              <a:rPr lang="it-CH" dirty="0"/>
              <a:t> </a:t>
            </a:r>
            <a:r>
              <a:rPr lang="it-CH" dirty="0" err="1"/>
              <a:t>convex</a:t>
            </a:r>
            <a:r>
              <a:rPr lang="it-CH" dirty="0"/>
              <a:t> </a:t>
            </a:r>
            <a:r>
              <a:rPr lang="it-CH" dirty="0" err="1"/>
              <a:t>funtion</a:t>
            </a:r>
            <a:endParaRPr lang="it-CH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3DDB562-E34F-20C5-3AE6-DDE752CBE0A4}"/>
              </a:ext>
            </a:extLst>
          </p:cNvPr>
          <p:cNvCxnSpPr/>
          <p:nvPr/>
        </p:nvCxnSpPr>
        <p:spPr>
          <a:xfrm flipH="1">
            <a:off x="7489371" y="925280"/>
            <a:ext cx="609600" cy="25037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29DCE438-5573-BD14-42CE-E1518E40B264}"/>
                  </a:ext>
                </a:extLst>
              </p:cNvPr>
              <p:cNvSpPr txBox="1"/>
              <p:nvPr/>
            </p:nvSpPr>
            <p:spPr>
              <a:xfrm>
                <a:off x="422405" y="1970789"/>
                <a:ext cx="92179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Proximal operator of function </a:t>
                </a:r>
                <a:r>
                  <a:rPr lang="en-GB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R(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GB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/>
                  <a:t>with parameter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2800" dirty="0"/>
                  <a:t> 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29DCE438-5573-BD14-42CE-E1518E40B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05" y="1970789"/>
                <a:ext cx="9217983" cy="523220"/>
              </a:xfrm>
              <a:prstGeom prst="rect">
                <a:avLst/>
              </a:prstGeom>
              <a:blipFill>
                <a:blip r:embed="rId4"/>
                <a:stretch>
                  <a:fillRect l="-1323" t="-12791" b="-32558"/>
                </a:stretch>
              </a:blipFill>
            </p:spPr>
            <p:txBody>
              <a:bodyPr/>
              <a:lstStyle/>
              <a:p>
                <a:r>
                  <a:rPr lang="it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7F6C0FC3-5C2B-03A9-E570-1BF84E2AFE62}"/>
              </a:ext>
            </a:extLst>
          </p:cNvPr>
          <p:cNvSpPr txBox="1"/>
          <p:nvPr/>
        </p:nvSpPr>
        <p:spPr>
          <a:xfrm>
            <a:off x="513845" y="3911349"/>
            <a:ext cx="9217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Optimality condition: fixed point equation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8696B1C-B5FD-D6EC-4D22-D8DA61C1C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54" y="4578761"/>
            <a:ext cx="2743583" cy="628738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113497B-2876-085F-6317-F1D811D4005D}"/>
              </a:ext>
            </a:extLst>
          </p:cNvPr>
          <p:cNvCxnSpPr>
            <a:cxnSpLocks/>
          </p:cNvCxnSpPr>
          <p:nvPr/>
        </p:nvCxnSpPr>
        <p:spPr>
          <a:xfrm>
            <a:off x="3193869" y="4796977"/>
            <a:ext cx="697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0AFE456C-72EC-8CA6-F5F3-B9AEC32C2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832" y="4533488"/>
            <a:ext cx="3343742" cy="552527"/>
          </a:xfrm>
          <a:prstGeom prst="rect">
            <a:avLst/>
          </a:prstGeom>
        </p:spPr>
      </p:pic>
      <p:sp>
        <p:nvSpPr>
          <p:cNvPr id="21" name="Freccia bidirezionale verticale 20">
            <a:extLst>
              <a:ext uri="{FF2B5EF4-FFF2-40B4-BE49-F238E27FC236}">
                <a16:creationId xmlns:a16="http://schemas.microsoft.com/office/drawing/2014/main" id="{57EAF0E8-D1A8-ACF7-233B-2A95B766277E}"/>
              </a:ext>
            </a:extLst>
          </p:cNvPr>
          <p:cNvSpPr/>
          <p:nvPr/>
        </p:nvSpPr>
        <p:spPr>
          <a:xfrm>
            <a:off x="4765040" y="5151120"/>
            <a:ext cx="284480" cy="62338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5A53DA47-CA9C-B74C-8BBB-0191A0E6C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475" y="5871170"/>
            <a:ext cx="4467849" cy="65731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8F5148B-9E45-06C8-A2DF-3A98442D5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204" y="5086014"/>
            <a:ext cx="4455285" cy="75140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5D66B34-DDE2-79C7-E8C7-F05106F41E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292" y="2558410"/>
            <a:ext cx="7017639" cy="11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5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1FFC-F20D-C491-F382-B7861EEA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517F4D9E-648E-161E-22F6-7D850B6FF0C7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A680233-4243-A4E9-D2DC-586F89CECABD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Fixed point equation: proof of stationarity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72F84B6-D49D-BA6A-EDBE-6A1CAE6472C3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A12A7280-C36C-2D5F-84D7-3DBD2F9C3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752" y="1405707"/>
            <a:ext cx="3343742" cy="552527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14C84173-4026-E748-7D3A-5603ADF90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96" y="1405707"/>
            <a:ext cx="4467849" cy="65731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EBDAC4C-87C0-F44C-140A-13882218D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9130" y="2441248"/>
            <a:ext cx="7849695" cy="118126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404832F-DDDA-CE71-79A6-9BFB28E42E0E}"/>
              </a:ext>
            </a:extLst>
          </p:cNvPr>
          <p:cNvSpPr txBox="1"/>
          <p:nvPr/>
        </p:nvSpPr>
        <p:spPr>
          <a:xfrm>
            <a:off x="287221" y="3754069"/>
            <a:ext cx="711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800" dirty="0" err="1"/>
              <a:t>Convex</a:t>
            </a:r>
            <a:r>
              <a:rPr lang="it-CH" sz="2800" dirty="0"/>
              <a:t> </a:t>
            </a:r>
            <a:r>
              <a:rPr lang="it-CH" sz="2800" dirty="0" err="1"/>
              <a:t>funtion</a:t>
            </a:r>
            <a:r>
              <a:rPr lang="it-CH" sz="2800" dirty="0"/>
              <a:t> in   . From </a:t>
            </a:r>
            <a:r>
              <a:rPr lang="it-CH" sz="2800" dirty="0" err="1"/>
              <a:t>optimality</a:t>
            </a:r>
            <a:r>
              <a:rPr lang="it-CH" sz="2800" dirty="0"/>
              <a:t> </a:t>
            </a:r>
            <a:r>
              <a:rPr lang="it-CH" sz="2800" dirty="0" err="1"/>
              <a:t>conditions</a:t>
            </a:r>
            <a:r>
              <a:rPr lang="it-CH" sz="2800" dirty="0"/>
              <a:t>: 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7DC742-F213-3010-3C95-6972010BA66E}"/>
              </a:ext>
            </a:extLst>
          </p:cNvPr>
          <p:cNvSpPr txBox="1"/>
          <p:nvPr/>
        </p:nvSpPr>
        <p:spPr>
          <a:xfrm>
            <a:off x="246581" y="855502"/>
            <a:ext cx="711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800" dirty="0" err="1"/>
              <a:t>We</a:t>
            </a:r>
            <a:r>
              <a:rPr lang="it-CH" sz="2800" dirty="0"/>
              <a:t> </a:t>
            </a:r>
            <a:r>
              <a:rPr lang="it-CH" sz="2800" dirty="0" err="1"/>
              <a:t>only</a:t>
            </a:r>
            <a:r>
              <a:rPr lang="it-CH" sz="2800" dirty="0"/>
              <a:t> prove in one </a:t>
            </a:r>
            <a:r>
              <a:rPr lang="it-CH" sz="2800" dirty="0" err="1"/>
              <a:t>direction</a:t>
            </a:r>
            <a:r>
              <a:rPr lang="it-CH" sz="2800" dirty="0"/>
              <a:t>:</a:t>
            </a:r>
          </a:p>
        </p:txBody>
      </p:sp>
      <p:sp>
        <p:nvSpPr>
          <p:cNvPr id="3" name="Freccia a sinistra 2">
            <a:extLst>
              <a:ext uri="{FF2B5EF4-FFF2-40B4-BE49-F238E27FC236}">
                <a16:creationId xmlns:a16="http://schemas.microsoft.com/office/drawing/2014/main" id="{EA401F79-FC59-3A5F-FC08-6BB5114CD989}"/>
              </a:ext>
            </a:extLst>
          </p:cNvPr>
          <p:cNvSpPr/>
          <p:nvPr/>
        </p:nvSpPr>
        <p:spPr>
          <a:xfrm>
            <a:off x="5547360" y="1666240"/>
            <a:ext cx="818736" cy="45719"/>
          </a:xfrm>
          <a:prstGeom prst="leftArrow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E9F59A-D695-E4CE-DEF6-93806C435C00}"/>
              </a:ext>
            </a:extLst>
          </p:cNvPr>
          <p:cNvSpPr txBox="1"/>
          <p:nvPr/>
        </p:nvSpPr>
        <p:spPr>
          <a:xfrm>
            <a:off x="287221" y="2034062"/>
            <a:ext cx="711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800" dirty="0"/>
              <a:t>By </a:t>
            </a:r>
            <a:r>
              <a:rPr lang="it-CH" sz="2800" dirty="0" err="1"/>
              <a:t>definition</a:t>
            </a:r>
            <a:r>
              <a:rPr lang="it-CH" sz="2800" dirty="0"/>
              <a:t> of </a:t>
            </a:r>
            <a:r>
              <a:rPr lang="it-CH" sz="2800" dirty="0" err="1"/>
              <a:t>proximal</a:t>
            </a:r>
            <a:r>
              <a:rPr lang="it-CH" sz="2800" dirty="0"/>
              <a:t> operator: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5E88F74-C210-F359-E820-F71FD3040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896" y="3833784"/>
            <a:ext cx="190527" cy="40963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797A6F9-BBFE-03C0-214D-0A3981F7FE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51" y="4396085"/>
            <a:ext cx="6290944" cy="95019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0E6D1FC-28F7-4A3F-2692-553E796641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8575" y="4645048"/>
            <a:ext cx="3404465" cy="5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5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0637-C3A5-6DD4-96B7-C831CCEF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3C81FD37-3C0E-4ACF-213C-054B0DFEE06D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BDB82C-AD97-333C-3CB7-444B2CE39514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Proximal gradient methods: constrained optimization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D2F1960-0DB7-280D-BEF9-55E94E93DAA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E27B41F-5727-FB93-0B3B-20026DB97A0E}"/>
              </a:ext>
            </a:extLst>
          </p:cNvPr>
          <p:cNvSpPr txBox="1"/>
          <p:nvPr/>
        </p:nvSpPr>
        <p:spPr>
          <a:xfrm>
            <a:off x="321800" y="2287042"/>
            <a:ext cx="9217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l-G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indicator function      of a convex set        </a:t>
            </a:r>
            <a:endParaRPr lang="en-GB" sz="2800" i="1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2D8BD9EB-3581-96E3-DB97-6E294351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944" y="810392"/>
            <a:ext cx="3379343" cy="955774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A4DE801C-C395-440F-EB5E-B6A2D881E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57" y="2348214"/>
            <a:ext cx="923306" cy="385557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E0DE2A37-4E7C-C82D-F6A2-5C81376A3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173" y="2921007"/>
            <a:ext cx="6172654" cy="1533734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02829F90-4AC7-AC3D-65B8-F797D30C5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641" y="4493685"/>
            <a:ext cx="1396845" cy="627939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D99173A-4AEC-FB6A-5F8E-44932DC7887F}"/>
              </a:ext>
            </a:extLst>
          </p:cNvPr>
          <p:cNvSpPr txBox="1"/>
          <p:nvPr/>
        </p:nvSpPr>
        <p:spPr>
          <a:xfrm>
            <a:off x="7010726" y="4936958"/>
            <a:ext cx="228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 err="1"/>
              <a:t>orthogonal</a:t>
            </a:r>
            <a:r>
              <a:rPr lang="it-CH" dirty="0"/>
              <a:t> </a:t>
            </a:r>
            <a:r>
              <a:rPr lang="it-CH" dirty="0" err="1"/>
              <a:t>projection</a:t>
            </a:r>
            <a:endParaRPr lang="it-CH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5E771F2D-E5A6-9F8A-1478-8CC63C451458}"/>
              </a:ext>
            </a:extLst>
          </p:cNvPr>
          <p:cNvCxnSpPr>
            <a:cxnSpLocks/>
          </p:cNvCxnSpPr>
          <p:nvPr/>
        </p:nvCxnSpPr>
        <p:spPr>
          <a:xfrm flipH="1" flipV="1">
            <a:off x="5397577" y="4907428"/>
            <a:ext cx="1487936" cy="2343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1E60A2D5-5987-A936-97AF-CE2BD5648B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09" y="1137623"/>
            <a:ext cx="2200582" cy="53347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9327AE7-1DEB-2B86-4DC4-8C68790600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9894" y="1032276"/>
            <a:ext cx="2857899" cy="704948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6A78423-801D-935D-ABC9-52351582A39E}"/>
              </a:ext>
            </a:extLst>
          </p:cNvPr>
          <p:cNvCxnSpPr/>
          <p:nvPr/>
        </p:nvCxnSpPr>
        <p:spPr>
          <a:xfrm>
            <a:off x="2786743" y="1327560"/>
            <a:ext cx="983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3B3F54-BEEF-8A53-2C4E-03A753414999}"/>
              </a:ext>
            </a:extLst>
          </p:cNvPr>
          <p:cNvSpPr txBox="1"/>
          <p:nvPr/>
        </p:nvSpPr>
        <p:spPr>
          <a:xfrm>
            <a:off x="321800" y="5458767"/>
            <a:ext cx="8160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800" dirty="0"/>
              <a:t>This leads to the </a:t>
            </a:r>
            <a:r>
              <a:rPr lang="en-CH" sz="2800" i="1" dirty="0"/>
              <a:t>projected</a:t>
            </a:r>
            <a:r>
              <a:rPr lang="en-CH" sz="2800" dirty="0"/>
              <a:t> gradient descent algorithm: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6BF6FBC-59A6-0A6B-8C73-2ED5825B8B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3842" y="2310232"/>
            <a:ext cx="463518" cy="49078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55868F9-8462-7A3A-B532-DCEE4B26B5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2496" y="5958797"/>
            <a:ext cx="4887007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BA8FE-A0DB-7148-6B5A-AFB6974C6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79540D5-86C9-3B9C-319E-7EEB68E3C032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418B07E-109F-7EB2-9F8D-C9266C9C7606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Proximal gradient methods: L1 regularization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B7A859F-ECA3-087A-913C-8286AD4FD8CF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D54E24F4-8846-8331-2FAC-DE281430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13" y="932005"/>
            <a:ext cx="2972215" cy="638264"/>
          </a:xfrm>
          <a:prstGeom prst="rect">
            <a:avLst/>
          </a:prstGeom>
        </p:spPr>
      </p:pic>
      <p:pic>
        <p:nvPicPr>
          <p:cNvPr id="1026" name="Picture 2" descr="Immagine output">
            <a:extLst>
              <a:ext uri="{FF2B5EF4-FFF2-40B4-BE49-F238E27FC236}">
                <a16:creationId xmlns:a16="http://schemas.microsoft.com/office/drawing/2014/main" id="{5792865E-D857-1F35-1161-A2A791BC8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81" y="3144692"/>
            <a:ext cx="4918870" cy="30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923A9FE-4C24-DD7B-B524-6D1F19F3A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641" y="804638"/>
            <a:ext cx="7890524" cy="204225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1B8CBD9-67CC-94EE-0D43-ED9ADF7E6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494" y="3948444"/>
            <a:ext cx="6315007" cy="83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2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716C-BD39-78D7-4C86-863406E5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A90B3B91-A6A9-2E3A-29BE-1BB7FC071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4" y="2970150"/>
            <a:ext cx="10310037" cy="3580206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7390A1F8-DCFB-E841-9AFB-2E1E684FEB75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E0923E0-A3FE-ED03-C3B7-0047DCFC1D7E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Proximal gradient methods: algorithm L1-regularization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29DC7C9-2EC1-3F86-BAB8-54570DA02A4C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25E76D52-D698-7C22-1BE1-884FC1FC7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917" y="881055"/>
            <a:ext cx="2972215" cy="63826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2FCE7B-97FF-847C-6AFC-002EA698E259}"/>
              </a:ext>
            </a:extLst>
          </p:cNvPr>
          <p:cNvSpPr txBox="1"/>
          <p:nvPr/>
        </p:nvSpPr>
        <p:spPr>
          <a:xfrm>
            <a:off x="7749540" y="5971956"/>
            <a:ext cx="4088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rgbClr val="FF0000"/>
                </a:solidFill>
              </a:rPr>
              <a:t>Jupyter</a:t>
            </a:r>
            <a:r>
              <a:rPr lang="en-GB" sz="1400" dirty="0">
                <a:solidFill>
                  <a:srgbClr val="FF0000"/>
                </a:solidFill>
              </a:rPr>
              <a:t> Notebook: </a:t>
            </a:r>
            <a:r>
              <a:rPr lang="en-GB" sz="1400" dirty="0" err="1">
                <a:solidFill>
                  <a:srgbClr val="FF0000"/>
                </a:solidFill>
              </a:rPr>
              <a:t>CascadedTanksLS.ipynb</a:t>
            </a:r>
            <a:r>
              <a:rPr lang="en-GB" sz="1400" dirty="0">
                <a:solidFill>
                  <a:srgbClr val="FF0000"/>
                </a:solidFill>
              </a:rPr>
              <a:t> (Part III)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4BF5980-A836-488A-A0FE-8BF966E7E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230" y="1751999"/>
            <a:ext cx="6315007" cy="83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0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01.53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dot{\bf{x}}(t) &amp;= f(x(t),u(t))&#10; \end{align*}&#10;&#10;&#10;&#10;&#10;\end{document}"/>
  <p:tag name="IGUANATEXSIZE" val="24"/>
  <p:tag name="IGUANATEXCURSOR" val="36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9.6925"/>
  <p:tag name="ORIGINALWIDTH" val="1034.87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&#10;  \begin{equation*}&#10;    \frac{\partial u}{\partial t} = \alpha \frac{\partial^2 u}{\partial x^2}&#10;\end{equation*}&#10;&#10;&#10;&#10;&#10;&#10;\end{document}"/>
  <p:tag name="IGUANATEXSIZE" val="24"/>
  <p:tag name="IGUANATEXCURSOR" val="42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1879"/>
  <p:tag name="ORIGINALWIDTH" val="2126.734"/>
  <p:tag name="LATEXADDIN" val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\left\{ \begin{array}{l}&#10;\dot{x}(t) = f(x(t),u(t);\red{\theta})\\&#10;y(t) = g(x(t);\red{\theta})&#10;\end{array} \right.&#10;\end{align*}&#10;&#10;\end{document}&#10;&#10;&#10;&#10;&#10;&#10;\end{document}"/>
  <p:tag name="IGUANATEXSIZE" val="24"/>
  <p:tag name="IGUANATEXCURSOR" val="43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1879"/>
  <p:tag name="ORIGINALWIDTH" val="2752.906"/>
  <p:tag name="LATEXADDIN" val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\left\{ \begin{array}{rl}&#10;x(k+1) &amp;= f(x(k),u(k);\red{\theta})\\&#10;y(k) &amp; = g(x(k);\red{\theta})&#10;\end{array} \right.&#10;\end{align*}&#10;&#10;\end{document}&#10;&#10;&#10;&#10;&#10;&#10;\end{document}"/>
  <p:tag name="IGUANATEXSIZE" val="24"/>
  <p:tag name="IGUANATEXCURSOR" val="43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2.7034"/>
  <p:tag name="ORIGINALWIDTH" val="3391.826"/>
  <p:tag name="LATEXADDIN" val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y^{(n)}(t) = h\left(y^{(n-1)},\ldots,y, u^{(n)},\ldots,u \right) &#10;\end{align*}&#10;&#10;\end{document}&#10;&#10;&#10;&#10;&#10;&#10;\end{document}"/>
  <p:tag name="IGUANATEXSIZE" val="20"/>
  <p:tag name="IGUANATEXCURSOR" val="43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4823.397"/>
  <p:tag name="LATEXADDIN" val="\documentclass{article}&#10;\usepackage{amsmath}&#10;\usepackage{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\begin{document}&#10;&#10;\begin{align*}&#10;y(k) = h\left(y(k-1),\ldots,y(k-n_a), u(k),\ldots,u(k-n_b) \right) &#10;\end{align*}&#10;&#10;\end{document}&#10;&#10;&#10;&#10;&#10;&#10;\end{document}"/>
  <p:tag name="IGUANATEXSIZE" val="20"/>
  <p:tag name="IGUANATEXCURSOR" val="38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848.8939"/>
  <p:tag name="ORIGINALWIDTH" val="6834.64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y(k-1) + \ldots + \red{a_{na}}y(k-na) + \red{b_0}u(k) + \ldots + \red{b_{nb}}u(k-nb) \\&#10;= &amp;  \underset{x'(k)}{\underbrace{   \left[y(k-1) \ \ldots y(k-na) \ u(k) \ u(k-1) \ \ldots \ u(k-nb) \right] }} \red{\theta}&#10; \end{align*}&#10;&#10;&#10;&#10;&#10;\end{document}"/>
  <p:tag name="IGUANATEXSIZE" val="24"/>
  <p:tag name="IGUANATEXCURSOR" val="53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826.77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&#10; \end{align*}&#10;&#10;&#10;&#10;&#10;\end{document}"/>
  <p:tag name="IGUANATEXSIZE" val="24"/>
  <p:tag name="IGUANATEXCURSOR" val="4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8.2228"/>
  <p:tag name="ORIGINALWIDTH" val="2009.749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x'(k) \red{\theta}&#10; \end{align*}&#10;&#10;&#10;&#10;&#10;\end{document}"/>
  <p:tag name="IGUANATEXSIZE" val="24"/>
  <p:tag name="IGUANATEXCURSOR" val="44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2731.909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ell(y(k), \hat{y}(k,\red{\theta}))&#10; \end{align*}&#10;&#10;&#10;&#10;&#10;\end{document}"/>
  <p:tag name="IGUANATEXSIZE" val="24"/>
  <p:tag name="IGUANATEXCURSOR" val="38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2282.71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left\| \epsilon(k, \red{\theta}) \right\|^2&#10; \end{align*}&#10;&#10;&#10;&#10;&#10;\end{document}"/>
  <p:tag name="IGUANATEXSIZE" val="24"/>
  <p:tag name="IGUANATEXCURSOR" val="39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848.8939"/>
  <p:tag name="ORIGINALWIDTH" val="6834.64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y(k-1) + \ldots + \red{a_{na}}y(k-na) + \red{b_0}u(k) + \ldots + \red{b_{nb}}u(k-nb) \\&#10;= &amp;  \underset{x'(k)}{\underbrace{   \left[y(k-1) \ \ldots y(k-na) \ u(k) \ u(k-1) \ \ldots \ u(k-nb) \right] }} \red{\theta}&#10; \end{align*}&#10;&#10;&#10;&#10;&#10;\end{document}"/>
  <p:tag name="IGUANATEXSIZE" val="24"/>
  <p:tag name="IGUANATEXCURSOR" val="53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4619.42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cal{L}_N(\red{\theta}) = \frac{1}{N}\sum_{k=1}^N \left\| \epsilon(k, \red{\theta}) \right\|^2 = \frac{1}{N}\sum_{k=1}^N \left( x'(k)\red{\theta} - y(k) \right)^2&#10; \end{align*}&#10;&#10;&#10;&#10;&#10;\end{document}"/>
  <p:tag name="IGUANATEXSIZE" val="24"/>
  <p:tag name="IGUANATEXCURSOR" val="39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3.1946"/>
  <p:tag name="ORIGINALWIDTH" val="3541.057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 = \arg\min_{\red{\theta}} \mathcal{L}_N(\red{\theta}) \rightarrow \red{\theta^{*}}: \frac{\partial L_N(\red{\theta})}{\partial \red{\theta}} = 0 &#10; \end{align*}&#10;&#10;&#10;&#10;&#10;\end{document}"/>
  <p:tag name="IGUANATEXSIZE" val="24"/>
  <p:tag name="IGUANATEXCURSOR" val="44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3131.608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:  \frac{1}{N}\sum_{k=1}^N x(k) \left(x'(k)\red{\theta}-y(k) \right) = 0&#10; \end{align*}&#10;&#10;&#10;&#10;&#10;\end{document}"/>
  <p:tag name="IGUANATEXSIZE" val="24"/>
  <p:tag name="IGUANATEXCURSOR" val="40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83.1646"/>
  <p:tag name="ORIGINALWIDTH" val="3880.01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red{\theta^{*}} =   \left( \frac{1}{N}\sum_{k=1}^N x(k)x'(k)     \right)^{-1} \frac{1}{N}\sum_{k=1}^Nx(k)y(k) &#10; \end{align*}&#10;&#10;&#10;&#10;&#10;\end{document}"/>
  <p:tag name="IGUANATEXSIZE" val="24"/>
  <p:tag name="IGUANATEXCURSOR" val="49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2631.421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textrm{MSE} = \frac{1}{N} \sum_{k=1}^N \left\| y(k) -\hat{y}(k) \right\|^2&#10; \end{align*}&#10;&#10;&#10;&#10;&#10;\end{document}"/>
  <p:tag name="IGUANATEXSIZE" val="24"/>
  <p:tag name="IGUANATEXCURSOR" val="45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1.6761"/>
  <p:tag name="ORIGINALWIDTH" val="2794.151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R^2 = 1- \frac{ \sum_{k=1}^N \left\| y(k) -\hat{y}(k) \right\|^2}{\sum_{k=1}^N \left\| y(k) -\bar{y}\right\|^2}&#10; \end{align*}&#10;&#10;&#10;&#10;&#10;\end{document}"/>
  <p:tag name="IGUANATEXSIZE" val="24"/>
  <p:tag name="IGUANATEXCURSOR" val="48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219"/>
  <p:tag name="ORIGINALWIDTH" val="6436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F\big(y(k-1),  \ldots, y(k-na), u(k),  u(k-1), \ldots,  u(k-nb) \big) \red{\theta}&#10; \end{align*}&#10;&#10;&#10;&#10;&#10;\end{document}"/>
  <p:tag name="IGUANATEXSIZE" val="24"/>
  <p:tag name="IGUANATEXCURSOR" val="4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43.532"/>
  <p:tag name="ORIGINALWIDTH" val="3132.358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F(\cdot) = &#10;\left[ \begin{array}{c}&#10;y(k-1) \\&#10;\vdots \\&#10;y^2(k-na) \\&#10;u^3(k-1) \\&#10;\vdots \\&#10;u(k-1)\sin(u(k-nb))&#10;\end{array} \right]&#10; \end{align*}&#10;&#10;&#10;&#10;&#10;\end{document}"/>
  <p:tag name="IGUANATEXSIZE" val="24"/>
  <p:tag name="IGUANATEXCURSOR" val="47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219"/>
  <p:tag name="ORIGINALWIDTH" val="6532.43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y(k-1),  \ldots, y(k-na), u(k),  u(k-1), \ldots,  u(k-nb); \red{\theta} \big) &#10; \end{align*}&#10;&#10;&#10;&#10;&#10;\end{document}"/>
  <p:tag name="IGUANATEXSIZE" val="24"/>
  <p:tag name="IGUANATEXCURSOR" val="42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826.77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&#10; \end{align*}&#10;&#10;&#10;&#10;&#10;\end{document}"/>
  <p:tag name="IGUANATEXSIZE" val="24"/>
  <p:tag name="IGUANATEXCURSOR" val="4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219"/>
  <p:tag name="ORIGINALWIDTH" val="6532.43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y(k-1),  \ldots, y(k-na), u(k),  u(k-1), \ldots,  u(k-nb); \red{\theta} \big) &#10; \end{align*}&#10;&#10;&#10;&#10;&#10;\end{document}"/>
  <p:tag name="IGUANATEXSIZE" val="24"/>
  <p:tag name="IGUANATEXCURSOR" val="42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2037.49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 M(\red{\theta}): \hat{y}(k) = y(k-1)&#10; \end{align*}&#10;&#10;&#10;&#10;&#10;\end{document}"/>
  <p:tag name="IGUANATEXSIZE" val="24"/>
  <p:tag name="IGUANATEXCURSOR" val="40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219"/>
  <p:tag name="ORIGINALWIDTH" val="6532.43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N\big(\hat{y}(k-1),  \ldots, \hat{y}(k-na), u(k),  u(k-1), \ldots,  u(k-nb); \red{\theta} \big) &#10; \end{align*}&#10;&#10;&#10;&#10;&#10;\end{document}"/>
  <p:tag name="IGUANATEXSIZE" val="24"/>
  <p:tag name="IGUANATEXCURSOR" val="4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3.727"/>
  <p:tag name="ORIGINALWIDTH" val="997.375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 k=1,2,\ldots&#10; \end{align*}&#10;&#10;&#10;&#10;&#10;\end{document}"/>
  <p:tag name="IGUANATEXSIZE" val="24"/>
  <p:tag name="IGUANATEXCURSOR" val="40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848.8939"/>
  <p:tag name="ORIGINALWIDTH" val="6834.64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\red{a_1}\hat{y}(k-1) + \ldots + \red{a_{na}}\hat{y}(k-na) + \red{b_0}u(k) + \ldots + \red{b_{nb}}u(k-nb) \\&#10;= &amp;  \underset{x'(k;\red{\theta})}{\underbrace{   \left[\hat{y}(k-1;\red{\theta}) \ \ldots \hat{y}(k-na;\red{\theta}) \ u(k) \ u(k-1) \ \ldots \ u(k-nb) \right] }} \red{\theta}&#10; \end{align*}&#10;&#10;&#10;&#10;&#10;\end{document}"/>
  <p:tag name="IGUANATEXSIZE" val="24"/>
  <p:tag name="IGUANATEXCURSOR" val="64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8.2228"/>
  <p:tag name="ORIGINALWIDTH" val="3505.81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\epsilon(k,\red{\theta}) = y(k) - \hat{y}(k) = y(k) - x'(k;\red{\theta})\red{\theta}&#10; \end{align*}&#10;&#10;&#10;&#10;&#10;\end{document}"/>
  <p:tag name="IGUANATEXSIZE" val="24"/>
  <p:tag name="IGUANATEXCURSOR" val="4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9.6738"/>
  <p:tag name="ORIGINALWIDTH" val="2279.71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L_N(\red{\theta}) = \frac{1}{N}\sum_{k=1}^N \left\| \epsilon(k, \red{\theta}) \right\|^2&#10; \end{align*}&#10;&#10;&#10;&#10;&#10;\end{document}"/>
  <p:tag name="IGUANATEXSIZE" val="24"/>
  <p:tag name="IGUANATEXCURSOR" val="44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4.518"/>
  <p:tag name="ORIGINALWIDTH" val="6879.6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&#10;\begin{enumerate}&#10;    \item \textbf{Initialize Parameters}: $\theta^{(0)}$&#10;    &#10;    \item \textbf{for $k=0,1,\ldots$}: \textbf{until} maximum number of iterations or   convergence \textbf{do}:&#10;    \begin{enumerate}&#10;        \item \textbf{Compute Gradient}: $\nabla_\theta \mathcal{L}(\theta^{(k)})$ &#10;        &#10;        \item \textbf{Update Parameters}: &#10;        \[ \theta^{(k+1)} = \theta^{(k)} - \gamma \cdot \nabla_\theta \mathcal{L}(\theta^{(k)}) \]&#10;    \end{enumerate}&#10;\end{enumerate}&#10;&#10;\end{document}&#10;&#10;&#10;&#10;&#10;\end{document}"/>
  <p:tag name="IGUANATEXSIZE" val="20"/>
  <p:tag name="IGUANATEXCURSOR" val="65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1.6761"/>
  <p:tag name="ORIGINALWIDTH" val="3150.35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\begin{align*}&#10;v^{(k+1)} = &amp; \mu v^{(k)} + (1-\tau) \cdot \nabla_\theta \mathcal{L}(\theta^{(k)}) \\&#10;\theta^{(k+1)} = &amp; \theta^{(k)} - \gamma v^{(k+1)}&#10;\end{align*}&#10;&#10; &#10;&#10;\end{document}&#10;&#10;&#10;&#10;&#10;\end{document}"/>
  <p:tag name="IGUANATEXSIZE" val="20"/>
  <p:tag name="IGUANATEXCURSOR" val="45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02.062"/>
  <p:tag name="ORIGINALWIDTH" val="4714.661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\begin{itemize}&#10;\item $L(\theta^*) = 0$ (just to keep notation simple)&#10;%\item $\left\| \nabla L(x) - \nabla L(y)  \right\|^2 \leq L  \left\| x - y \right\|^2  $ Lipschitz continuity of $\nabla L$&#10;\item  Lipschitz continuity of $\nabla L$: $ \nabla^2 L(\theta) \preceq \beta I  \ \  \forall   \theta \in B$ &#10;\item $\mu$-PL condition:  $\frac{1}{2}\left\| \nabla L(\theta)\right\|^2 \geq \mu  L(\theta) \ \  \forall   \theta \in B$&#10;\item  $\theta^{(k+1)} = \theta^{(k)} - \gamma \nabla L(\theta^{(k)})$ (gradient update)&#10;\end{itemize}&#10;&#10;&#10; &#10;&#10;\end{document}&#10;&#10;&#10;&#10;&#10;\end{document}"/>
  <p:tag name="IGUANATEXSIZE" val="20"/>
  <p:tag name="IGUANATEXCURSOR" val="61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44.207"/>
  <p:tag name="ORIGINALWIDTH" val="8202.47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\begin{align*}&#10;L(\theta^{(k+1)}) = &amp;L(\theta^{(k)}) + \left(\theta^{(k+1)} - \theta^{(k)}\right)'\nabla L(\theta^{(k)})+ \frac{1}{2}\left(\theta^{(k+1)} - \theta^{(k)}\right)'\nabla^2 L(\tilde \theta) \left(\theta^{(k+1)} - \theta^{(k)}\right) \\&#10;\leq &amp; L(\theta^{(k)}) -\gamma \left\|\nabla L(\theta^{(k)}) \right\|^2+ \frac{1}{2} \gamma^2 \left\|\nabla L(\theta^{(k)}) \right\|^2 \beta = \\&#10;= &amp; L(\theta^{(k)}) - \gamma\left\|\nabla L(\theta^{(k)}) \right\|^2 \left( 1 - \frac{1}{2}\gamma\beta \right) \\&#10;= &amp; L(\theta^{(k)}) -\gamma \frac{1}{2} \left\|\nabla L(\theta^{(k)}) \right\|^2 \\&#10;\leq &amp;  L(\theta^{(k)}) (1 - \gamma \mu) &#10;\end{align*}&#10;&#10;&#10;&#10;\end{document}"/>
  <p:tag name="IGUANATEXSIZE" val="20"/>
  <p:tag name="IGUANATEXCURSOR" val="47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78.2152"/>
  <p:tag name="ORIGINALWIDTH" val="1017.623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Take $\gamma=\frac{1}{\beta}$&#10;&#10;&#10; &#10;&#10;\end{document}&#10;&#10;&#10;&#10;&#10;\end{document}"/>
  <p:tag name="IGUANATEXSIZE" val="20"/>
  <p:tag name="IGUANATEXCURSOR" val="40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5.9692"/>
  <p:tag name="ORIGINALWIDTH" val="2380.203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\begin{align*}&#10;L(\theta^{(k)}) \leq  (1 - \gamma \mu)^{k} L(\theta^{(0)})&#10;\end{align*}&#10;&#10;&#10;&#10;\end{document}"/>
  <p:tag name="IGUANATEXSIZE" val="20"/>
  <p:tag name="IGUANATEXCURSOR" val="42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1743"/>
  <p:tag name="ORIGINALWIDTH" val="1682.79"/>
  <p:tag name="LATEXADDIN" val="\documentclass{article}&#10;\usepackage{amsmath}&#10;\pagestyle{empty}&#10;\usepackage{bm}&#10;\usepackage{color}&#10;\usepackage{amsfonts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L(\red{\theta}) =  \frac{1}{N}\sum_{i=1}^N \ell_i( \red{\theta}) &#10; \end{align*}&#10;&#10;&#10;&#10;&#10;\end{document}"/>
  <p:tag name="IGUANATEXSIZE" val="24"/>
  <p:tag name="IGUANATEXCURSOR" val="45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1743"/>
  <p:tag name="ORIGINALWIDTH" val="6203.225"/>
  <p:tag name="LATEXADDIN" val="\documentclass{article}&#10;\usepackage{amsmath}&#10;\pagestyle{empty}&#10;\usepackage{bm}&#10;\usepackage{color}&#10;\usepackage{amsfonts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mathbb{E}[\nabla \ell_{i_t}(\theta^{(k)})] = \sum_{i=1}^N \nabla \ell_{i}(\theta^{(k)})P(i_k=i) = \frac{1}{N}\sum_{i=1}^N \nabla \ell_{i}(\theta^{(k)}) = \nabla L(\theta^{(k)})&#10; \end{align*}&#10;&#10;&#10;&#10;&#10;\end{document}"/>
  <p:tag name="IGUANATEXSIZE" val="24"/>
  <p:tag name="IGUANATEXCURSOR" val="50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8.4702"/>
  <p:tag name="ORIGINALWIDTH" val="2416.198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  $\theta^{(k+1)} = \theta^{(k)} - \gamma \nabla \ell_{i_k}(\theta^{(k)})$ &#10;&#10;&#10; &#10;&#10;\end{document}&#10;&#10;&#10;&#10;&#10;\end{document}"/>
  <p:tag name="IGUANATEXSIZE" val="20"/>
  <p:tag name="IGUANATEXCURSOR" val="42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26.9216"/>
  <p:tag name="ORIGINALWIDTH" val="3040.87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  $\displaystyle \theta^{(k+1)} = \theta^{(k)} - \gamma \frac{1}{B}\sum_{i_k=1}^{B} \nabla \ell_{i_t}(\theta^{(k)})$ &#10;&#10;&#10; &#10;&#10;\end{document}&#10;&#10;&#10;&#10;&#10;\end{document}"/>
  <p:tag name="IGUANATEXSIZE" val="20"/>
  <p:tag name="IGUANATEXCURSOR" val="44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219"/>
  <p:tag name="ORIGINALWIDTH" val="6436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 M(\red{\theta}): \hat{y}(k) = &amp;  F\big(y(k-1),  \ldots, y(k-na), u(k),  u(k-1), \ldots,  u(k-nb) \big) \red{\theta}&#10; \end{align*}&#10;&#10;&#10;&#10;&#10;\end{document}"/>
  <p:tag name="IGUANATEXSIZE" val="24"/>
  <p:tag name="IGUANATEXCURSOR" val="4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43.532"/>
  <p:tag name="ORIGINALWIDTH" val="3132.358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F(\cdot) = &#10;\left[ \begin{array}{c}&#10;y(k-1) \\&#10;\vdots \\&#10;y^2(k-na) \\&#10;u^3(k-1) \\&#10;\vdots \\&#10;u(k-1)\sin(u(k-nb))&#10;\end{array} \right]&#10; \end{align*}&#10;&#10;&#10;&#10;&#10;\end{document}"/>
  <p:tag name="IGUANATEXSIZE" val="24"/>
  <p:tag name="IGUANATEXCURSOR" val="47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75AAA1-D2E2-453C-A388-58A9D8AFAE2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e09453d-55a5-4e93-b3d9-fab7daacc0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845</Words>
  <Application>Microsoft Office PowerPoint</Application>
  <PresentationFormat>Widescreen</PresentationFormat>
  <Paragraphs>147</Paragraphs>
  <Slides>21</Slides>
  <Notes>20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Trebuchet MS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Piga Dario</cp:lastModifiedBy>
  <cp:revision>822</cp:revision>
  <dcterms:created xsi:type="dcterms:W3CDTF">2023-03-08T09:24:31Z</dcterms:created>
  <dcterms:modified xsi:type="dcterms:W3CDTF">2026-06-04T12:28:03Z</dcterms:modified>
</cp:coreProperties>
</file>
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4"/>
  </p:sldMasterIdLst>
  <p:notesMasterIdLst>
    <p:notesMasterId r:id="rId15"/>
  </p:notesMasterIdLst>
  <p:handoutMasterIdLst>
    <p:handoutMasterId r:id="rId16"/>
  </p:handoutMasterIdLst>
  <p:sldIdLst>
    <p:sldId id="293" r:id="rId5"/>
    <p:sldId id="292" r:id="rId6"/>
    <p:sldId id="268" r:id="rId7"/>
    <p:sldId id="262" r:id="rId8"/>
    <p:sldId id="265" r:id="rId9"/>
    <p:sldId id="264" r:id="rId10"/>
    <p:sldId id="270" r:id="rId11"/>
    <p:sldId id="271" r:id="rId12"/>
    <p:sldId id="267" r:id="rId13"/>
    <p:sldId id="269" r:id="rId14"/>
  </p:sldIdLst>
  <p:sldSz cx="12192000" cy="6858000"/>
  <p:notesSz cx="6858000" cy="91440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2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37A4CD-4DF2-4947-AC80-123E7067DA84}" v="6" dt="2025-01-07T16:53:26.3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70"/>
  </p:normalViewPr>
  <p:slideViewPr>
    <p:cSldViewPr>
      <p:cViewPr varScale="1">
        <p:scale>
          <a:sx n="199" d="100"/>
          <a:sy n="199" d="100"/>
        </p:scale>
        <p:origin x="2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zzimonti Laura" userId="S::laura.azzimonti@supsi.ch::b4b2acc1-6682-4632-8cb9-1858c2421f2c" providerId="AD" clId="Web-{DE92A7D3-08E8-4A9D-B56A-2A89BD0D3034}"/>
    <pc:docChg chg="modSld">
      <pc:chgData name="Azzimonti Laura" userId="S::laura.azzimonti@supsi.ch::b4b2acc1-6682-4632-8cb9-1858c2421f2c" providerId="AD" clId="Web-{DE92A7D3-08E8-4A9D-B56A-2A89BD0D3034}" dt="2024-12-18T09:38:30.818" v="3" actId="20577"/>
      <pc:docMkLst>
        <pc:docMk/>
      </pc:docMkLst>
      <pc:sldChg chg="modSp">
        <pc:chgData name="Azzimonti Laura" userId="S::laura.azzimonti@supsi.ch::b4b2acc1-6682-4632-8cb9-1858c2421f2c" providerId="AD" clId="Web-{DE92A7D3-08E8-4A9D-B56A-2A89BD0D3034}" dt="2024-12-18T09:38:30.818" v="3" actId="20577"/>
        <pc:sldMkLst>
          <pc:docMk/>
          <pc:sldMk cId="1430524483" sldId="259"/>
        </pc:sldMkLst>
        <pc:spChg chg="mod">
          <ac:chgData name="Azzimonti Laura" userId="S::laura.azzimonti@supsi.ch::b4b2acc1-6682-4632-8cb9-1858c2421f2c" providerId="AD" clId="Web-{DE92A7D3-08E8-4A9D-B56A-2A89BD0D3034}" dt="2024-12-18T09:38:30.818" v="3" actId="20577"/>
          <ac:spMkLst>
            <pc:docMk/>
            <pc:sldMk cId="1430524483" sldId="259"/>
            <ac:spMk id="2" creationId="{44E5F9FC-F866-BB65-58D8-D66B45F390B1}"/>
          </ac:spMkLst>
        </pc:spChg>
      </pc:sldChg>
    </pc:docChg>
  </pc:docChgLst>
  <pc:docChgLst>
    <pc:chgData name="Damato Stefano" userId="S::stefano.damato@supsi.ch::f5b3f942-0c39-4d67-8b5e-f42f5670fc74" providerId="AD" clId="Web-{D1932814-65AA-736B-869B-967A8EC7CD2B}"/>
    <pc:docChg chg="addSld">
      <pc:chgData name="Damato Stefano" userId="S::stefano.damato@supsi.ch::f5b3f942-0c39-4d67-8b5e-f42f5670fc74" providerId="AD" clId="Web-{D1932814-65AA-736B-869B-967A8EC7CD2B}" dt="2024-11-25T10:32:27.957" v="0"/>
      <pc:docMkLst>
        <pc:docMk/>
      </pc:docMkLst>
      <pc:sldChg chg="new">
        <pc:chgData name="Damato Stefano" userId="S::stefano.damato@supsi.ch::f5b3f942-0c39-4d67-8b5e-f42f5670fc74" providerId="AD" clId="Web-{D1932814-65AA-736B-869B-967A8EC7CD2B}" dt="2024-11-25T10:32:27.957" v="0"/>
        <pc:sldMkLst>
          <pc:docMk/>
          <pc:sldMk cId="1430524483" sldId="259"/>
        </pc:sldMkLst>
      </pc:sldChg>
    </pc:docChg>
  </pc:docChgLst>
  <pc:docChgLst>
    <pc:chgData name="Rizzoli Andrea Emilio" userId="523b90ee-9839-4c35-98ef-3e260edd4d9a" providerId="ADAL" clId="{3537A4CD-4DF2-4947-AC80-123E7067DA84}"/>
    <pc:docChg chg="addSld delSld modSld">
      <pc:chgData name="Rizzoli Andrea Emilio" userId="523b90ee-9839-4c35-98ef-3e260edd4d9a" providerId="ADAL" clId="{3537A4CD-4DF2-4947-AC80-123E7067DA84}" dt="2025-01-13T12:37:22.708" v="156" actId="20577"/>
      <pc:docMkLst>
        <pc:docMk/>
      </pc:docMkLst>
      <pc:sldChg chg="modSp mod">
        <pc:chgData name="Rizzoli Andrea Emilio" userId="523b90ee-9839-4c35-98ef-3e260edd4d9a" providerId="ADAL" clId="{3537A4CD-4DF2-4947-AC80-123E7067DA84}" dt="2025-01-13T12:37:06.156" v="135" actId="20577"/>
        <pc:sldMkLst>
          <pc:docMk/>
          <pc:sldMk cId="0" sldId="258"/>
        </pc:sldMkLst>
        <pc:spChg chg="mod">
          <ac:chgData name="Rizzoli Andrea Emilio" userId="523b90ee-9839-4c35-98ef-3e260edd4d9a" providerId="ADAL" clId="{3537A4CD-4DF2-4947-AC80-123E7067DA84}" dt="2025-01-13T12:37:06.156" v="135" actId="20577"/>
          <ac:spMkLst>
            <pc:docMk/>
            <pc:sldMk cId="0" sldId="258"/>
            <ac:spMk id="16386" creationId="{00000000-0000-0000-0000-000000000000}"/>
          </ac:spMkLst>
        </pc:spChg>
      </pc:sldChg>
      <pc:sldChg chg="modSp mod">
        <pc:chgData name="Rizzoli Andrea Emilio" userId="523b90ee-9839-4c35-98ef-3e260edd4d9a" providerId="ADAL" clId="{3537A4CD-4DF2-4947-AC80-123E7067DA84}" dt="2025-01-13T12:37:22.708" v="156" actId="20577"/>
        <pc:sldMkLst>
          <pc:docMk/>
          <pc:sldMk cId="1430524483" sldId="259"/>
        </pc:sldMkLst>
        <pc:spChg chg="mod">
          <ac:chgData name="Rizzoli Andrea Emilio" userId="523b90ee-9839-4c35-98ef-3e260edd4d9a" providerId="ADAL" clId="{3537A4CD-4DF2-4947-AC80-123E7067DA84}" dt="2025-01-13T12:37:14.413" v="147" actId="20577"/>
          <ac:spMkLst>
            <pc:docMk/>
            <pc:sldMk cId="1430524483" sldId="259"/>
            <ac:spMk id="2" creationId="{44E5F9FC-F866-BB65-58D8-D66B45F390B1}"/>
          </ac:spMkLst>
        </pc:spChg>
        <pc:spChg chg="mod">
          <ac:chgData name="Rizzoli Andrea Emilio" userId="523b90ee-9839-4c35-98ef-3e260edd4d9a" providerId="ADAL" clId="{3537A4CD-4DF2-4947-AC80-123E7067DA84}" dt="2025-01-13T12:37:22.708" v="156" actId="20577"/>
          <ac:spMkLst>
            <pc:docMk/>
            <pc:sldMk cId="1430524483" sldId="259"/>
            <ac:spMk id="3" creationId="{F2B05CF2-6073-6C99-1D2C-B5E2D56EC15F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65" v="148" actId="2696"/>
        <pc:sldMkLst>
          <pc:docMk/>
          <pc:sldMk cId="0" sldId="262"/>
        </pc:sldMkLst>
        <pc:spChg chg="add mod">
          <ac:chgData name="Rizzoli Andrea Emilio" userId="523b90ee-9839-4c35-98ef-3e260edd4d9a" providerId="ADAL" clId="{3537A4CD-4DF2-4947-AC80-123E7067DA84}" dt="2025-01-07T16:53:05.040" v="126" actId="478"/>
          <ac:spMkLst>
            <pc:docMk/>
            <pc:sldMk cId="0" sldId="262"/>
            <ac:spMk id="2" creationId="{3F560603-4DF4-561D-5B3E-8D1A58791F0B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0" v="149" actId="2696"/>
        <pc:sldMkLst>
          <pc:docMk/>
          <pc:sldMk cId="0" sldId="263"/>
        </pc:sldMkLst>
        <pc:spChg chg="add mod">
          <ac:chgData name="Rizzoli Andrea Emilio" userId="523b90ee-9839-4c35-98ef-3e260edd4d9a" providerId="ADAL" clId="{3537A4CD-4DF2-4947-AC80-123E7067DA84}" dt="2025-01-07T16:53:13.555" v="127" actId="478"/>
          <ac:spMkLst>
            <pc:docMk/>
            <pc:sldMk cId="0" sldId="263"/>
            <ac:spMk id="2" creationId="{B09081F8-37A3-6884-4805-116E7481E7DA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4" v="150" actId="2696"/>
        <pc:sldMkLst>
          <pc:docMk/>
          <pc:sldMk cId="0" sldId="264"/>
        </pc:sldMkLst>
        <pc:spChg chg="add mod">
          <ac:chgData name="Rizzoli Andrea Emilio" userId="523b90ee-9839-4c35-98ef-3e260edd4d9a" providerId="ADAL" clId="{3537A4CD-4DF2-4947-AC80-123E7067DA84}" dt="2025-01-07T16:53:20.596" v="128" actId="478"/>
          <ac:spMkLst>
            <pc:docMk/>
            <pc:sldMk cId="0" sldId="264"/>
            <ac:spMk id="2" creationId="{D7CB4B04-983F-4BBA-1AAF-EFAE9CB95FF8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6" v="151" actId="2696"/>
        <pc:sldMkLst>
          <pc:docMk/>
          <pc:sldMk cId="0" sldId="265"/>
        </pc:sldMkLst>
        <pc:spChg chg="add mod">
          <ac:chgData name="Rizzoli Andrea Emilio" userId="523b90ee-9839-4c35-98ef-3e260edd4d9a" providerId="ADAL" clId="{3537A4CD-4DF2-4947-AC80-123E7067DA84}" dt="2025-01-07T16:53:26.399" v="129" actId="478"/>
          <ac:spMkLst>
            <pc:docMk/>
            <pc:sldMk cId="0" sldId="265"/>
            <ac:spMk id="2" creationId="{FB12995D-6440-DB99-C8A6-69D398492C3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7AF82F7-3B33-6D48-9626-CABC5CBE1A55}" type="datetime1">
              <a:rPr lang="it-IT" altLang="x-none"/>
              <a:pPr/>
              <a:t>11/06/26</a:t>
            </a:fld>
            <a:endParaRPr lang="it-IT" altLang="x-non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183107-877A-3843-B981-15C7FF01828C}" type="slidenum">
              <a:rPr lang="it-IT" altLang="x-none"/>
              <a:pPr/>
              <a:t>‹#›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>Second level</a:t>
            </a:r>
          </a:p>
          <a:p>
            <a:pPr lvl="2"/>
            <a:r>
              <a:rPr lang="it-IT" noProof="0"/>
              <a:t>Third level</a:t>
            </a:r>
          </a:p>
          <a:p>
            <a:pPr lvl="3"/>
            <a:r>
              <a:rPr lang="it-IT" noProof="0"/>
              <a:t>Fourth level</a:t>
            </a:r>
          </a:p>
          <a:p>
            <a:pPr lvl="4"/>
            <a:r>
              <a:rPr lang="it-IT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DBE5DE3-AADE-E24A-8400-E9BC47681F7D}" type="slidenum">
              <a:rPr lang="it-IT" altLang="x-none"/>
              <a:pPr/>
              <a:t>‹#›</a:t>
            </a:fld>
            <a:endParaRPr lang="it-IT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1E5C4-9BBA-7AB2-55E9-FA8BD609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79C26-E557-0FD9-F5A8-F7E548E162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0752E-C147-96D3-3401-C19F585BE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7B164-516F-526E-06A4-2C3826F99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774615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31800" y="1773239"/>
            <a:ext cx="11328400" cy="1584325"/>
          </a:xfrm>
        </p:spPr>
        <p:txBody>
          <a:bodyPr/>
          <a:lstStyle>
            <a:lvl1pPr>
              <a:defRPr sz="48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1800" y="3357564"/>
            <a:ext cx="11328400" cy="19002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13"/>
          </p:nvPr>
        </p:nvSpPr>
        <p:spPr>
          <a:xfrm>
            <a:off x="435909" y="5371909"/>
            <a:ext cx="11329577" cy="952691"/>
          </a:xfrm>
        </p:spPr>
        <p:txBody>
          <a:bodyPr/>
          <a:lstStyle>
            <a:lvl1pPr algn="l">
              <a:buNone/>
              <a:defRPr sz="18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38749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8301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318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4793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1126800"/>
            <a:ext cx="11379200" cy="579438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06400" y="1752600"/>
            <a:ext cx="5590117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06400" y="2438400"/>
            <a:ext cx="5590117" cy="36877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93368" y="1752600"/>
            <a:ext cx="5592233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2438400"/>
            <a:ext cx="5592233" cy="3687763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buNone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722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7999" y="1125539"/>
            <a:ext cx="11355023" cy="719137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</p:spTree>
    <p:extLst>
      <p:ext uri="{BB962C8B-B14F-4D97-AF65-F5344CB8AC3E}">
        <p14:creationId xmlns:p14="http://schemas.microsoft.com/office/powerpoint/2010/main" val="206358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505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35114" y="1127797"/>
            <a:ext cx="4035287" cy="914400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6734" y="1126800"/>
            <a:ext cx="6993093" cy="499552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35115" y="2133601"/>
            <a:ext cx="4035285" cy="3992563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22361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4800600"/>
            <a:ext cx="11359085" cy="566738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it-IT" noProof="0"/>
              <a:t>Trascinare l'immagine su un segnaposto o fare clic sull'icona per aggiungerla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06400" y="5367338"/>
            <a:ext cx="11359085" cy="804862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0160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FCF993-D11C-B448-A99B-84A5F27957B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-6036" y="0"/>
            <a:ext cx="12192000" cy="6858000"/>
          </a:xfrm>
          <a:prstGeom prst="rect">
            <a:avLst/>
          </a:prstGeom>
        </p:spPr>
      </p:pic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0" y="1125539"/>
            <a:ext cx="11328400" cy="719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 dirty="0"/>
              <a:t>Fare clic per modificare stile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916114"/>
            <a:ext cx="11328400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/>
              <a:t>Fare clic per modificare gli stili del testo dello schema</a:t>
            </a:r>
          </a:p>
          <a:p>
            <a:pPr lvl="1"/>
            <a:r>
              <a:rPr lang="it-IT" altLang="x-none"/>
              <a:t>Secondo livello</a:t>
            </a:r>
          </a:p>
          <a:p>
            <a:pPr lvl="2"/>
            <a:r>
              <a:rPr lang="it-IT" altLang="x-none"/>
              <a:t>Terzo livello</a:t>
            </a:r>
          </a:p>
          <a:p>
            <a:pPr lvl="3"/>
            <a:r>
              <a:rPr lang="it-IT" altLang="x-none"/>
              <a:t>Quarto livello</a:t>
            </a:r>
          </a:p>
          <a:p>
            <a:pPr lvl="4"/>
            <a:r>
              <a:rPr lang="it-IT" altLang="x-none"/>
              <a:t>Quinto livello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7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>
          <a:solidFill>
            <a:srgbClr val="00B2BD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ＭＳ Ｐゴシック" pitchFamily="-112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mlr.press/v70/finn17a.html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3.emf"/><Relationship Id="rId5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tags" Target="../tags/tag4.xml"/><Relationship Id="rId7" Type="http://schemas.openxmlformats.org/officeDocument/2006/relationships/image" Target="../media/image5.emf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4.emf"/><Relationship Id="rId5" Type="http://schemas.openxmlformats.org/officeDocument/2006/relationships/image" Target="../media/image4.png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14.xml"/><Relationship Id="rId13" Type="http://schemas.openxmlformats.org/officeDocument/2006/relationships/tags" Target="../tags/tag19.xml"/><Relationship Id="rId18" Type="http://schemas.openxmlformats.org/officeDocument/2006/relationships/image" Target="../media/image12.emf"/><Relationship Id="rId26" Type="http://schemas.openxmlformats.org/officeDocument/2006/relationships/image" Target="../media/image20.emf"/><Relationship Id="rId3" Type="http://schemas.openxmlformats.org/officeDocument/2006/relationships/tags" Target="../tags/tag9.xml"/><Relationship Id="rId21" Type="http://schemas.openxmlformats.org/officeDocument/2006/relationships/image" Target="../media/image15.emf"/><Relationship Id="rId7" Type="http://schemas.openxmlformats.org/officeDocument/2006/relationships/tags" Target="../tags/tag13.xml"/><Relationship Id="rId12" Type="http://schemas.openxmlformats.org/officeDocument/2006/relationships/tags" Target="../tags/tag18.xml"/><Relationship Id="rId17" Type="http://schemas.openxmlformats.org/officeDocument/2006/relationships/image" Target="../media/image11.png"/><Relationship Id="rId25" Type="http://schemas.openxmlformats.org/officeDocument/2006/relationships/image" Target="../media/image19.emf"/><Relationship Id="rId2" Type="http://schemas.openxmlformats.org/officeDocument/2006/relationships/tags" Target="../tags/tag8.xml"/><Relationship Id="rId16" Type="http://schemas.openxmlformats.org/officeDocument/2006/relationships/image" Target="../media/image10.emf"/><Relationship Id="rId20" Type="http://schemas.openxmlformats.org/officeDocument/2006/relationships/image" Target="../media/image14.emf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11" Type="http://schemas.openxmlformats.org/officeDocument/2006/relationships/tags" Target="../tags/tag17.xml"/><Relationship Id="rId24" Type="http://schemas.openxmlformats.org/officeDocument/2006/relationships/image" Target="../media/image18.emf"/><Relationship Id="rId5" Type="http://schemas.openxmlformats.org/officeDocument/2006/relationships/tags" Target="../tags/tag11.xml"/><Relationship Id="rId15" Type="http://schemas.openxmlformats.org/officeDocument/2006/relationships/image" Target="../media/image9.png"/><Relationship Id="rId23" Type="http://schemas.openxmlformats.org/officeDocument/2006/relationships/image" Target="../media/image17.emf"/><Relationship Id="rId10" Type="http://schemas.openxmlformats.org/officeDocument/2006/relationships/tags" Target="../tags/tag16.xml"/><Relationship Id="rId19" Type="http://schemas.openxmlformats.org/officeDocument/2006/relationships/image" Target="../media/image13.emf"/><Relationship Id="rId4" Type="http://schemas.openxmlformats.org/officeDocument/2006/relationships/tags" Target="../tags/tag10.xml"/><Relationship Id="rId9" Type="http://schemas.openxmlformats.org/officeDocument/2006/relationships/tags" Target="../tags/tag15.xml"/><Relationship Id="rId14" Type="http://schemas.openxmlformats.org/officeDocument/2006/relationships/slideLayout" Target="../slideLayouts/slideLayout2.xml"/><Relationship Id="rId22" Type="http://schemas.openxmlformats.org/officeDocument/2006/relationships/image" Target="../media/image16.emf"/><Relationship Id="rId27" Type="http://schemas.openxmlformats.org/officeDocument/2006/relationships/image" Target="../media/image2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26.emf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13" Type="http://schemas.openxmlformats.org/officeDocument/2006/relationships/image" Target="../media/image28.png"/><Relationship Id="rId18" Type="http://schemas.openxmlformats.org/officeDocument/2006/relationships/image" Target="../media/image15.emf"/><Relationship Id="rId3" Type="http://schemas.openxmlformats.org/officeDocument/2006/relationships/tags" Target="../tags/tag23.xml"/><Relationship Id="rId21" Type="http://schemas.openxmlformats.org/officeDocument/2006/relationships/image" Target="../media/image18.emf"/><Relationship Id="rId7" Type="http://schemas.openxmlformats.org/officeDocument/2006/relationships/tags" Target="../tags/tag27.xml"/><Relationship Id="rId12" Type="http://schemas.openxmlformats.org/officeDocument/2006/relationships/slideLayout" Target="../slideLayouts/slideLayout2.xml"/><Relationship Id="rId17" Type="http://schemas.openxmlformats.org/officeDocument/2006/relationships/image" Target="../media/image14.emf"/><Relationship Id="rId2" Type="http://schemas.openxmlformats.org/officeDocument/2006/relationships/tags" Target="../tags/tag22.xml"/><Relationship Id="rId16" Type="http://schemas.openxmlformats.org/officeDocument/2006/relationships/image" Target="../media/image13.emf"/><Relationship Id="rId20" Type="http://schemas.openxmlformats.org/officeDocument/2006/relationships/image" Target="../media/image17.emf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tags" Target="../tags/tag31.xml"/><Relationship Id="rId24" Type="http://schemas.openxmlformats.org/officeDocument/2006/relationships/image" Target="../media/image21.emf"/><Relationship Id="rId5" Type="http://schemas.openxmlformats.org/officeDocument/2006/relationships/tags" Target="../tags/tag25.xml"/><Relationship Id="rId15" Type="http://schemas.openxmlformats.org/officeDocument/2006/relationships/image" Target="../media/image12.emf"/><Relationship Id="rId23" Type="http://schemas.openxmlformats.org/officeDocument/2006/relationships/image" Target="../media/image20.emf"/><Relationship Id="rId10" Type="http://schemas.openxmlformats.org/officeDocument/2006/relationships/tags" Target="../tags/tag30.xml"/><Relationship Id="rId19" Type="http://schemas.openxmlformats.org/officeDocument/2006/relationships/image" Target="../media/image16.emf"/><Relationship Id="rId4" Type="http://schemas.openxmlformats.org/officeDocument/2006/relationships/tags" Target="../tags/tag24.xml"/><Relationship Id="rId9" Type="http://schemas.openxmlformats.org/officeDocument/2006/relationships/tags" Target="../tags/tag29.xml"/><Relationship Id="rId14" Type="http://schemas.openxmlformats.org/officeDocument/2006/relationships/image" Target="../media/image27.png"/><Relationship Id="rId22" Type="http://schemas.openxmlformats.org/officeDocument/2006/relationships/image" Target="../media/image28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image" Target="../media/image30.emf"/><Relationship Id="rId5" Type="http://schemas.openxmlformats.org/officeDocument/2006/relationships/image" Target="../media/image29.emf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94D5F-7DB4-CF77-7BC4-9A1BB2233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olo 1">
            <a:extLst>
              <a:ext uri="{FF2B5EF4-FFF2-40B4-BE49-F238E27FC236}">
                <a16:creationId xmlns:a16="http://schemas.microsoft.com/office/drawing/2014/main" id="{56ADC6B9-BF07-DBDC-E109-E39EB14DAD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3600" noProof="1">
                <a:ea typeface="ＭＳ Ｐゴシック" charset="-128"/>
              </a:rPr>
              <a:t>Exercise:</a:t>
            </a:r>
            <a:br>
              <a:rPr lang="en-US" sz="3600" noProof="1">
                <a:ea typeface="ＭＳ Ｐゴシック" charset="-128"/>
              </a:rPr>
            </a:br>
            <a:r>
              <a:rPr lang="en-US" sz="3600" noProof="1">
                <a:ea typeface="ＭＳ Ｐゴシック" charset="-128"/>
              </a:rPr>
              <a:t>Meta Learning for Static Regression</a:t>
            </a:r>
            <a:endParaRPr lang="en-US" sz="3600" noProof="1">
              <a:solidFill>
                <a:srgbClr val="00B2BD"/>
              </a:solidFill>
              <a:ea typeface="ＭＳ Ｐゴシック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04710C-888E-4E2D-D8B2-31CF3702ECBF}"/>
              </a:ext>
            </a:extLst>
          </p:cNvPr>
          <p:cNvSpPr txBox="1"/>
          <p:nvPr/>
        </p:nvSpPr>
        <p:spPr bwMode="auto">
          <a:xfrm>
            <a:off x="8109098" y="4423144"/>
            <a:ext cx="6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1299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5F9FC-F866-BB65-58D8-D66B45F39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“sine” meta learning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Sines of varying phase and amplitude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Simple dependency, but just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points per dataset!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Taken from the famous </a:t>
                </a:r>
                <a:r>
                  <a:rPr lang="en-US" dirty="0">
                    <a:hlinkClick r:id="rId3"/>
                  </a:rPr>
                  <a:t>MAML paper</a:t>
                </a:r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“Hello World” Meta Learning problem!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2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0DCA926-D367-FD37-9FDB-28FB927FF2A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40016" y="2060848"/>
            <a:ext cx="4968214" cy="3902369"/>
          </a:xfrm>
          <a:prstGeom prst="rect">
            <a:avLst/>
          </a:prstGeom>
        </p:spPr>
      </p:pic>
      <p:pic>
        <p:nvPicPr>
          <p:cNvPr id="6" name="Picture 5" descr="\documentclass{article}&#10;\usepackage{amsmath}&#10;\usepackage{amsfonts}&#10;\usepackage{color}&#10;\newcommand{\red}[1]{{\color{red}#1}}&#10;&#10;\pagestyle{empty}&#10;&#10;\begin{document}&#10;&#10;$$&#10;y(x) = A \sin(x + \psi)&#10;$$&#10;&#10;\end{document}" title="IguanaTex Bitmap Display">
            <a:extLst>
              <a:ext uri="{FF2B5EF4-FFF2-40B4-BE49-F238E27FC236}">
                <a16:creationId xmlns:a16="http://schemas.microsoft.com/office/drawing/2014/main" id="{0EF58C27-4E46-562E-1AFA-3B5D7D6C091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559496" y="2780928"/>
            <a:ext cx="2212294" cy="26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740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AFD39-C0CE-A7C4-E6C3-4C99B2227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Meta Learning Setting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66340-564C-8A57-F064-9F4F413145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have access to a </a:t>
                </a:r>
                <a:r>
                  <a:rPr lang="en-GB" i="1" dirty="0"/>
                  <a:t>meta dataset</a:t>
                </a:r>
                <a:r>
                  <a:rPr lang="en-GB" dirty="0"/>
                  <a:t>, namely a collection (possibly unlimited) of datasets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In the case of static regression, each dataset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is an unordered collection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dirty="0"/>
                  <a:t> input-output pairs.</a:t>
                </a:r>
              </a:p>
              <a:p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The datasets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 are assumed to be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𝑠𝑖𝑚𝑖𝑙𝑎𝑟</m:t>
                    </m:r>
                  </m:oMath>
                </a14:m>
                <a:r>
                  <a:rPr lang="en-GB" dirty="0"/>
                  <a:t> to each other. They are thought as realizations from a probability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CH" dirty="0"/>
              </a:p>
              <a:p>
                <a:r>
                  <a:rPr lang="en-CH" dirty="0"/>
                  <a:t>Each dataset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H" dirty="0"/>
                  <a:t>is split in a train and a test portion:</a:t>
                </a:r>
              </a:p>
              <a:p>
                <a:endParaRPr lang="en-CH" dirty="0"/>
              </a:p>
              <a:p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F66340-564C-8A57-F064-9F4F413145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121" t="-175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\documentclass{article}&#10;\usepackage{amsmath}&#10;\usepackage{amsfonts}&#10;\usepackage{color}&#10;\newcommand{\red}[1]{{\color{red}#1}}&#10;&#10;\pagestyle{empty}&#10;&#10;\begin{document}&#10;&#10;$$\mathcal{D} = \{D_1, D_2, \dots, \}$$&#10;&#10;\end{document}" title="IguanaTex Bitmap Display">
            <a:extLst>
              <a:ext uri="{FF2B5EF4-FFF2-40B4-BE49-F238E27FC236}">
                <a16:creationId xmlns:a16="http://schemas.microsoft.com/office/drawing/2014/main" id="{D6C0F893-BD82-7D64-2CB7-5ABF8F6A8B2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439816" y="2420888"/>
            <a:ext cx="1897380" cy="228600"/>
          </a:xfrm>
          <a:prstGeom prst="rect">
            <a:avLst/>
          </a:prstGeom>
        </p:spPr>
      </p:pic>
      <p:pic>
        <p:nvPicPr>
          <p:cNvPr id="7" name="Picture 6" descr="\documentclass{article}&#10;\usepackage{amsmath}&#10;\usepackage{amsfonts}&#10;\usepackage{color}&#10;\newcommand{\red}[1]{{\color{red}#1}}&#10;&#10;\pagestyle{empty}&#10;&#10;\begin{document}&#10;&#10;$$D_i = \{(x_{i,1}, y_{i,1}), (x_{i,2}, y_{i,2}), \dots, (x_{i,K}, y_{i,K})\}, \qquad x_{i,j} \in \mathbb{R}^{n_x},\; y_{i,j} \in \mathbb{R}^{n_y}$$&#10;&#10;\end{document}" title="IguanaTex Bitmap Display">
            <a:extLst>
              <a:ext uri="{FF2B5EF4-FFF2-40B4-BE49-F238E27FC236}">
                <a16:creationId xmlns:a16="http://schemas.microsoft.com/office/drawing/2014/main" id="{D39061B6-C0AE-671B-357A-31D47447676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2639616" y="3434568"/>
            <a:ext cx="7132320" cy="251460"/>
          </a:xfrm>
          <a:prstGeom prst="rect">
            <a:avLst/>
          </a:prstGeom>
        </p:spPr>
      </p:pic>
      <p:pic>
        <p:nvPicPr>
          <p:cNvPr id="9" name="Picture 8" descr="\documentclass{article}&#10;\usepackage{amsmath}&#10;\usepackage{amsfonts}&#10;\usepackage{color}&#10;\newcommand{\red}[1]{{\color{red}#1}}&#10;&#10;\pagestyle{empty}&#10;&#10;\begin{document}&#10;&#10;$$\mathcal{D} = \{(D^{\rm tr}_1, D^{\rm te}_1), (D^{\rm tr}_2, D^{\rm te}_2), \dots \}$$&#10;&#10;\end{document}" title="IguanaTex Bitmap Display">
            <a:extLst>
              <a:ext uri="{FF2B5EF4-FFF2-40B4-BE49-F238E27FC236}">
                <a16:creationId xmlns:a16="http://schemas.microsoft.com/office/drawing/2014/main" id="{5CDB6F7F-91C1-7E8B-76C5-203CC1A540C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935760" y="5805264"/>
            <a:ext cx="3177540" cy="251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459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35CC09-E971-7098-3019-E6343047E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Meta Learning: In-context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3C9FDCCB-99FA-F8A4-7DFE-7DB0F8F4D6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H" dirty="0"/>
                  <a:t>We define an </a:t>
                </a:r>
                <a:r>
                  <a:rPr lang="en-CH" b="1" dirty="0"/>
                  <a:t>meta-model</a:t>
                </a:r>
                <a:r>
                  <a:rPr lang="en-CH" dirty="0"/>
                  <a:t>                         which takes as input:</a:t>
                </a:r>
              </a:p>
              <a:p>
                <a:pPr lvl="1"/>
                <a:r>
                  <a:rPr lang="en-CH" dirty="0"/>
                  <a:t>a test point </a:t>
                </a:r>
                <a14:m>
                  <m:oMath xmlns:m="http://schemas.openxmlformats.org/officeDocument/2006/math">
                    <m:r>
                      <a:rPr lang="en-CH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CH" dirty="0"/>
              </a:p>
              <a:p>
                <a:pPr lvl="1"/>
                <a:r>
                  <a:rPr lang="en-CH" dirty="0"/>
                  <a:t>a training dataset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CH" dirty="0"/>
                  <a:t> (i.e., </a:t>
                </a:r>
                <a14:m>
                  <m:oMath xmlns:m="http://schemas.openxmlformats.org/officeDocument/2006/math">
                    <m:r>
                      <a:rPr lang="en-CH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CH" dirty="0"/>
                  <a:t> input/output data points).</a:t>
                </a:r>
              </a:p>
              <a:p>
                <a:pPr marL="0" indent="0">
                  <a:buNone/>
                </a:pPr>
                <a:r>
                  <a:rPr lang="en-CH" dirty="0"/>
                  <a:t>      It produces as output the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CH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CH" dirty="0"/>
                  <a:t> corresponding to input </a:t>
                </a:r>
                <a14:m>
                  <m:oMath xmlns:m="http://schemas.openxmlformats.org/officeDocument/2006/math">
                    <m:r>
                      <a:rPr lang="en-CH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CH" dirty="0"/>
                  <a:t>, given </a:t>
                </a:r>
                <a:r>
                  <a:rPr lang="en-CH" i="1" dirty="0"/>
                  <a:t>as a context</a:t>
                </a:r>
                <a:r>
                  <a:rPr lang="en-CH" dirty="0"/>
                  <a:t> the dataset </a:t>
                </a:r>
                <a14:m>
                  <m:oMath xmlns:m="http://schemas.openxmlformats.org/officeDocument/2006/math">
                    <m:r>
                      <a:rPr lang="en-CH" i="1" dirty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CH" dirty="0"/>
                  <a:t>.</a:t>
                </a:r>
              </a:p>
              <a:p>
                <a:pPr marL="0" indent="0">
                  <a:buNone/>
                </a:pPr>
                <a:endParaRPr lang="en-CH" dirty="0"/>
              </a:p>
              <a:p>
                <a:r>
                  <a:rPr lang="en-CH" dirty="0"/>
                  <a:t>Implicitly, the meta-model estimates a </a:t>
                </a:r>
                <a:r>
                  <a:rPr lang="en-CH" i="1" dirty="0"/>
                  <a:t>system-specific</a:t>
                </a:r>
                <a:r>
                  <a:rPr lang="en-CH" dirty="0"/>
                  <a:t> model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CH" dirty="0"/>
                  <a:t> and applies it to </a:t>
                </a:r>
                <a14:m>
                  <m:oMath xmlns:m="http://schemas.openxmlformats.org/officeDocument/2006/math">
                    <m:r>
                      <a:rPr lang="en-CH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r>
                  <a:rPr lang="en-CH" dirty="0"/>
                  <a:t>We train the meta model by minimizing over the meta-dataset:</a:t>
                </a:r>
                <a:endParaRPr lang="en-CH" i="1" dirty="0"/>
              </a:p>
              <a:p>
                <a:endParaRPr lang="en-CH" i="1" dirty="0"/>
              </a:p>
              <a:p>
                <a:pPr marL="0" indent="0">
                  <a:buNone/>
                </a:pPr>
                <a:endParaRPr lang="en-CH" i="1" dirty="0"/>
              </a:p>
              <a:p>
                <a:pPr marL="0" indent="0">
                  <a:buNone/>
                </a:pPr>
                <a:endParaRPr lang="en-CH" i="1" dirty="0"/>
              </a:p>
              <a:p>
                <a:pPr marL="0" indent="0">
                  <a:buNone/>
                </a:pPr>
                <a:endParaRPr lang="en-CH" i="1" dirty="0"/>
              </a:p>
              <a:p>
                <a:r>
                  <a:rPr lang="en-CH" dirty="0"/>
                  <a:t>The meta model learns to predict the output with just </a:t>
                </a:r>
                <a14:m>
                  <m:oMath xmlns:m="http://schemas.openxmlformats.org/officeDocument/2006/math">
                    <m:r>
                      <a:rPr lang="en-CH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CH" dirty="0"/>
                  <a:t> input/output examples</a:t>
                </a:r>
              </a:p>
              <a:p>
                <a:pPr marL="0" indent="0">
                  <a:buNone/>
                </a:pPr>
                <a:endParaRPr lang="en-CH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3C9FDCCB-99FA-F8A4-7DFE-7DB0F8F4D6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21" t="-1754" b="-87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\documentclass{article}&#10;\usepackage{amsmath}&#10;\usepackage{amsfonts}&#10;\usepackage{color}&#10;\newcommand{\red}[1]{{\color{red}#1}}&#10;&#10;\pagestyle{empty}&#10;&#10;\begin{document}&#10;&#10;\begin{equation*}&#10;\hat y = \mathcal{M}_\phi(x, D)&#10;\end{equation*}&#10;&#10;\end{document}" title="IguanaTex Bitmap Display">
            <a:extLst>
              <a:ext uri="{FF2B5EF4-FFF2-40B4-BE49-F238E27FC236}">
                <a16:creationId xmlns:a16="http://schemas.microsoft.com/office/drawing/2014/main" id="{B9960EDE-D4DF-6339-463A-D43D223FA75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3575720" y="1936815"/>
            <a:ext cx="1394460" cy="251460"/>
          </a:xfrm>
          <a:prstGeom prst="rect">
            <a:avLst/>
          </a:prstGeom>
        </p:spPr>
      </p:pic>
      <p:pic>
        <p:nvPicPr>
          <p:cNvPr id="13" name="Picture 12" descr="\documentclass{article}&#10;\usepackage{amsmath}&#10;\usepackage{amsfonts}&#10;\usepackage{color}&#10;\newcommand{\red}[1]{{\color{red}#1}}&#10;&#10;\pagestyle{empty}&#10;&#10;\begin{document}&#10;&#10;$$J(\phi) = \sum_{i=1}^b \sum_{j=1}^K \mathcal{L}(y^{\rm te}_{i,j}, \mathcal{M}_\phi(D^{\rm tr}_i, x^{\rm te}_{i,j})).$$&#10;&#10;&#10;\end{document}" title="IguanaTex Bitmap Display">
            <a:extLst>
              <a:ext uri="{FF2B5EF4-FFF2-40B4-BE49-F238E27FC236}">
                <a16:creationId xmlns:a16="http://schemas.microsoft.com/office/drawing/2014/main" id="{4106785D-8E60-4FFE-91BF-C94562F139A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007768" y="4797152"/>
            <a:ext cx="3657600" cy="70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36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C85BC-AFBC-E6CF-E96D-1CEB80F0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053ACD-C7C8-E056-AD11-C4B682015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In-context learning architecture for static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262215-3B55-8CAD-3CAA-C151CD5AF2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916115"/>
                <a:ext cx="10920784" cy="1749694"/>
              </a:xfrm>
            </p:spPr>
            <p:txBody>
              <a:bodyPr/>
              <a:lstStyle/>
              <a:p>
                <a:r>
                  <a:rPr lang="en-CH" dirty="0"/>
                  <a:t>The meta-model                        has structure:</a:t>
                </a:r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pPr marL="0" indent="0">
                  <a:buNone/>
                </a:pPr>
                <a:r>
                  <a:rPr lang="en-CH" dirty="0"/>
                  <a:t>      DeepSets is </a:t>
                </a:r>
                <a:r>
                  <a:rPr lang="en-CH" i="1" dirty="0"/>
                  <a:t>invariant to permutations</a:t>
                </a:r>
                <a:r>
                  <a:rPr lang="en-CH" dirty="0"/>
                  <a:t> of the </a:t>
                </a:r>
                <a14:m>
                  <m:oMath xmlns:m="http://schemas.openxmlformats.org/officeDocument/2006/math">
                    <m:r>
                      <a:rPr lang="en-CH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CH" dirty="0"/>
                  <a:t> input/output examples in </a:t>
                </a:r>
                <a14:m>
                  <m:oMath xmlns:m="http://schemas.openxmlformats.org/officeDocument/2006/math">
                    <m:r>
                      <a:rPr lang="en-CH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262215-3B55-8CAD-3CAA-C151CD5AF2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916115"/>
                <a:ext cx="10920784" cy="1749694"/>
              </a:xfrm>
              <a:blipFill>
                <a:blip r:embed="rId15"/>
                <a:stretch>
                  <a:fillRect l="-1163" t="-431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\documentclass{article}&#10;\usepackage{amsmath}&#10;\usepackage{amsfonts}&#10;\usepackage{color}&#10;\newcommand{\red}[1]{{\color{red}#1}}&#10;&#10;\pagestyle{empty}&#10;&#10;\begin{document}&#10;&#10;\begin{equation*}&#10;\hat y = \mathcal{M}_\phi(D, x)&#10;\end{equation*}&#10;&#10;\end{document}" title="IguanaTex Bitmap Display">
            <a:extLst>
              <a:ext uri="{FF2B5EF4-FFF2-40B4-BE49-F238E27FC236}">
                <a16:creationId xmlns:a16="http://schemas.microsoft.com/office/drawing/2014/main" id="{9709CE00-D820-3E24-DA53-5D1E16DF807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2495600" y="1928047"/>
            <a:ext cx="1394460" cy="2514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2CF28D-EF3C-E6E5-9842-C3E420B7B57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839417" y="2420887"/>
            <a:ext cx="1885493" cy="607162"/>
          </a:xfrm>
          <a:prstGeom prst="rect">
            <a:avLst/>
          </a:prstGeom>
        </p:spPr>
      </p:pic>
      <p:pic>
        <p:nvPicPr>
          <p:cNvPr id="13" name="Picture 12" descr="\documentclass{article}&#10;\usepackage{amsmath}&#10;\usepackage{amsfonts}&#10;\usepackage{color}&#10;\newcommand{\red}[1]{{\color{red}#1}}&#10;&#10;\pagestyle{empty}&#10;&#10;\begin{document}&#10;&#10;$$&#10;(x_1, y_1)&#10;$$&#10;&#10;\end{document}" title="IguanaTex Bitmap Display">
            <a:extLst>
              <a:ext uri="{FF2B5EF4-FFF2-40B4-BE49-F238E27FC236}">
                <a16:creationId xmlns:a16="http://schemas.microsoft.com/office/drawing/2014/main" id="{CB2839CD-5709-C39E-4623-83850E8A027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2359639" y="3733589"/>
            <a:ext cx="685800" cy="228600"/>
          </a:xfrm>
          <a:prstGeom prst="rect">
            <a:avLst/>
          </a:prstGeom>
        </p:spPr>
      </p:pic>
      <p:pic>
        <p:nvPicPr>
          <p:cNvPr id="18" name="Picture 17" descr="\documentclass{article}&#10;\usepackage{amsmath}&#10;\usepackage{amsfonts}&#10;\usepackage{color}&#10;\newcommand{\red}[1]{{\color{red}#1}}&#10;&#10;\pagestyle{empty}&#10;&#10;\begin{document}&#10;&#10;$$&#10;(x_2, y_2)&#10;$$&#10;&#10;\end{document}" title="IguanaTex Bitmap Display">
            <a:extLst>
              <a:ext uri="{FF2B5EF4-FFF2-40B4-BE49-F238E27FC236}">
                <a16:creationId xmlns:a16="http://schemas.microsoft.com/office/drawing/2014/main" id="{AF424BE8-4E87-CAB3-A49A-DD1E384C92B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2349904" y="4539089"/>
            <a:ext cx="685800" cy="228600"/>
          </a:xfrm>
          <a:prstGeom prst="rect">
            <a:avLst/>
          </a:prstGeom>
        </p:spPr>
      </p:pic>
      <p:pic>
        <p:nvPicPr>
          <p:cNvPr id="20" name="Picture 19" descr="\documentclass{article}&#10;\usepackage{amsmath}&#10;\usepackage{amsfonts}&#10;\usepackage{color}&#10;\newcommand{\red}[1]{{\color{red}#1}}&#10;&#10;\pagestyle{empty}&#10;&#10;\begin{document}&#10;&#10;$$&#10;(x_K, y_K)&#10;$$&#10;&#10;\end{document}" title="IguanaTex Bitmap Display">
            <a:extLst>
              <a:ext uri="{FF2B5EF4-FFF2-40B4-BE49-F238E27FC236}">
                <a16:creationId xmlns:a16="http://schemas.microsoft.com/office/drawing/2014/main" id="{07244F60-3B0A-A9F1-2F54-651C17D0713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2316929" y="5604961"/>
            <a:ext cx="822960" cy="228600"/>
          </a:xfrm>
          <a:prstGeom prst="rect">
            <a:avLst/>
          </a:prstGeom>
        </p:spPr>
      </p:pic>
      <p:pic>
        <p:nvPicPr>
          <p:cNvPr id="44" name="Picture 43" descr="\documentclass{article}&#10;\usepackage{amsmath}&#10;\usepackage{amsfonts}&#10;\usepackage{color}&#10;\newcommand{\red}[1]{{\color{red}#1}}&#10;&#10;\pagestyle{empty}&#10;&#10;\begin{document}&#10;&#10;$$&#10;c_1&#10;$$&#10;&#10;\end{document}" title="IguanaTex Bitmap Display">
            <a:extLst>
              <a:ext uri="{FF2B5EF4-FFF2-40B4-BE49-F238E27FC236}">
                <a16:creationId xmlns:a16="http://schemas.microsoft.com/office/drawing/2014/main" id="{58F4D221-3770-B662-16F9-1F9A5E7D160C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4434304" y="3847889"/>
            <a:ext cx="182880" cy="137160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7458A88-7298-9851-4B95-9CF3AE0A4708}"/>
              </a:ext>
            </a:extLst>
          </p:cNvPr>
          <p:cNvCxnSpPr>
            <a:cxnSpLocks/>
          </p:cNvCxnSpPr>
          <p:nvPr/>
        </p:nvCxnSpPr>
        <p:spPr>
          <a:xfrm>
            <a:off x="3973098" y="4091736"/>
            <a:ext cx="2960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EB4FDC1-2498-0A1B-77FB-D99F233BFE5E}"/>
              </a:ext>
            </a:extLst>
          </p:cNvPr>
          <p:cNvSpPr/>
          <p:nvPr/>
        </p:nvSpPr>
        <p:spPr>
          <a:xfrm>
            <a:off x="3287309" y="3789177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800" dirty="0"/>
              <a:t>MLP_DS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71213C-7328-DDF7-C503-ACAF4547638D}"/>
              </a:ext>
            </a:extLst>
          </p:cNvPr>
          <p:cNvSpPr/>
          <p:nvPr/>
        </p:nvSpPr>
        <p:spPr>
          <a:xfrm>
            <a:off x="4269142" y="4024484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599C54D-C502-5CD9-2B81-3D1209DC9188}"/>
              </a:ext>
            </a:extLst>
          </p:cNvPr>
          <p:cNvCxnSpPr>
            <a:cxnSpLocks/>
            <a:stCxn id="59" idx="3"/>
            <a:endCxn id="26" idx="1"/>
          </p:cNvCxnSpPr>
          <p:nvPr/>
        </p:nvCxnSpPr>
        <p:spPr>
          <a:xfrm flipV="1">
            <a:off x="2860931" y="4081452"/>
            <a:ext cx="426378" cy="7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Picture 50" descr="\documentclass{article}&#10;\usepackage{amsmath}&#10;\usepackage{amsfonts}&#10;\usepackage{color}&#10;\newcommand{\red}[1]{{\color{red}#1}}&#10;&#10;\pagestyle{empty}&#10;&#10;\begin{document}&#10;&#10;$$&#10;c_2&#10;$$&#10;&#10;\end{document}" title="IguanaTex Bitmap Display">
            <a:extLst>
              <a:ext uri="{FF2B5EF4-FFF2-40B4-BE49-F238E27FC236}">
                <a16:creationId xmlns:a16="http://schemas.microsoft.com/office/drawing/2014/main" id="{9A99922C-A9A1-E8D9-5238-BFFBDB67F2BE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4410125" y="4709652"/>
            <a:ext cx="182880" cy="137160"/>
          </a:xfrm>
          <a:prstGeom prst="rect">
            <a:avLst/>
          </a:prstGeom>
        </p:spPr>
      </p:pic>
      <p:pic>
        <p:nvPicPr>
          <p:cNvPr id="53" name="Picture 52" descr="\documentclass{article}&#10;\usepackage{amsmath}&#10;\usepackage{amsfonts}&#10;\usepackage{color}&#10;\newcommand{\red}[1]{{\color{red}#1}}&#10;&#10;\pagestyle{empty}&#10;&#10;\begin{document}&#10;&#10;$$&#10;c_K&#10;$$&#10;&#10;\end{document}" title="IguanaTex Bitmap Display">
            <a:extLst>
              <a:ext uri="{FF2B5EF4-FFF2-40B4-BE49-F238E27FC236}">
                <a16:creationId xmlns:a16="http://schemas.microsoft.com/office/drawing/2014/main" id="{01C1194D-7C58-E0B4-E277-4C24C691B0FE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4375589" y="5707339"/>
            <a:ext cx="251460" cy="137160"/>
          </a:xfrm>
          <a:prstGeom prst="rect">
            <a:avLst/>
          </a:prstGeom>
        </p:spPr>
      </p:pic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F368371-B641-6E44-D7B3-AAA642D7513E}"/>
              </a:ext>
            </a:extLst>
          </p:cNvPr>
          <p:cNvSpPr/>
          <p:nvPr/>
        </p:nvSpPr>
        <p:spPr>
          <a:xfrm>
            <a:off x="5398371" y="4852512"/>
            <a:ext cx="784096" cy="217777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1600" dirty="0"/>
              <a:t>mean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7752AD16-41E7-20B5-B534-C19BA1C5605F}"/>
              </a:ext>
            </a:extLst>
          </p:cNvPr>
          <p:cNvSpPr/>
          <p:nvPr/>
        </p:nvSpPr>
        <p:spPr>
          <a:xfrm>
            <a:off x="3280233" y="5657706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800" dirty="0"/>
              <a:t>MLP_DS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F102B7-5A0D-4B6A-1A28-6F8D761F2332}"/>
              </a:ext>
            </a:extLst>
          </p:cNvPr>
          <p:cNvSpPr/>
          <p:nvPr/>
        </p:nvSpPr>
        <p:spPr>
          <a:xfrm>
            <a:off x="2599278" y="4033627"/>
            <a:ext cx="261653" cy="11033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B28E94-E641-E9C6-C0B8-F7D3CF04CEAE}"/>
              </a:ext>
            </a:extLst>
          </p:cNvPr>
          <p:cNvSpPr/>
          <p:nvPr/>
        </p:nvSpPr>
        <p:spPr>
          <a:xfrm>
            <a:off x="2599278" y="5900959"/>
            <a:ext cx="261653" cy="11033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383AEB6C-72DE-C997-813C-6A0C8E07F000}"/>
              </a:ext>
            </a:extLst>
          </p:cNvPr>
          <p:cNvSpPr/>
          <p:nvPr/>
        </p:nvSpPr>
        <p:spPr>
          <a:xfrm>
            <a:off x="3287309" y="4662264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800" dirty="0"/>
              <a:t>MLP_DS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BA23A0A-3720-774A-319A-D10DE421818D}"/>
              </a:ext>
            </a:extLst>
          </p:cNvPr>
          <p:cNvCxnSpPr>
            <a:cxnSpLocks/>
            <a:stCxn id="74" idx="3"/>
            <a:endCxn id="71" idx="1"/>
          </p:cNvCxnSpPr>
          <p:nvPr/>
        </p:nvCxnSpPr>
        <p:spPr>
          <a:xfrm flipV="1">
            <a:off x="2860931" y="4954539"/>
            <a:ext cx="426378" cy="7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67BCF52E-C0D4-D814-196F-B00A96D0F745}"/>
              </a:ext>
            </a:extLst>
          </p:cNvPr>
          <p:cNvSpPr/>
          <p:nvPr/>
        </p:nvSpPr>
        <p:spPr>
          <a:xfrm>
            <a:off x="2599278" y="4906714"/>
            <a:ext cx="261653" cy="11033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78" name="Picture 77" descr="\documentclass{article}&#10;\usepackage{amsmath}&#10;\usepackage{amsfonts}&#10;\usepackage{color}&#10;\newcommand{\red}[1]{{\color{red}#1}}&#10;&#10;\pagestyle{empty}&#10;&#10;\begin{document}&#10;&#10;$$&#10;\vdots&#10;$$&#10;&#10;\end{document}" title="IguanaTex Bitmap Display">
            <a:extLst>
              <a:ext uri="{FF2B5EF4-FFF2-40B4-BE49-F238E27FC236}">
                <a16:creationId xmlns:a16="http://schemas.microsoft.com/office/drawing/2014/main" id="{0CE1E17A-1259-902A-AD74-C048A0553651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2705549" y="5307445"/>
            <a:ext cx="22860" cy="205740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2652748-780F-F052-7C90-DC4A132F507A}"/>
              </a:ext>
            </a:extLst>
          </p:cNvPr>
          <p:cNvCxnSpPr>
            <a:cxnSpLocks/>
          </p:cNvCxnSpPr>
          <p:nvPr/>
        </p:nvCxnSpPr>
        <p:spPr>
          <a:xfrm flipV="1">
            <a:off x="2870666" y="5962516"/>
            <a:ext cx="426378" cy="7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88B87094-E6A3-9510-A27A-F03E159A0F34}"/>
              </a:ext>
            </a:extLst>
          </p:cNvPr>
          <p:cNvCxnSpPr>
            <a:cxnSpLocks/>
          </p:cNvCxnSpPr>
          <p:nvPr/>
        </p:nvCxnSpPr>
        <p:spPr>
          <a:xfrm>
            <a:off x="3968021" y="4949783"/>
            <a:ext cx="2960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964C6E54-2A2F-9F60-C011-935AA50E4F8B}"/>
              </a:ext>
            </a:extLst>
          </p:cNvPr>
          <p:cNvSpPr/>
          <p:nvPr/>
        </p:nvSpPr>
        <p:spPr>
          <a:xfrm>
            <a:off x="4264065" y="4886774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9703447-FC3E-F0C0-14E0-4B7B55A7284B}"/>
              </a:ext>
            </a:extLst>
          </p:cNvPr>
          <p:cNvCxnSpPr>
            <a:cxnSpLocks/>
          </p:cNvCxnSpPr>
          <p:nvPr/>
        </p:nvCxnSpPr>
        <p:spPr>
          <a:xfrm>
            <a:off x="3973098" y="5957760"/>
            <a:ext cx="2960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F85D83B2-621E-B5EF-E6F3-71096B987C33}"/>
              </a:ext>
            </a:extLst>
          </p:cNvPr>
          <p:cNvSpPr/>
          <p:nvPr/>
        </p:nvSpPr>
        <p:spPr>
          <a:xfrm>
            <a:off x="4269142" y="5890508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2E6805D-187A-9346-8E01-75C78F5D5704}"/>
              </a:ext>
            </a:extLst>
          </p:cNvPr>
          <p:cNvCxnSpPr>
            <a:cxnSpLocks/>
          </p:cNvCxnSpPr>
          <p:nvPr/>
        </p:nvCxnSpPr>
        <p:spPr>
          <a:xfrm flipV="1">
            <a:off x="4828066" y="5110251"/>
            <a:ext cx="670036" cy="843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A5DB525B-3E4B-CF7C-47DF-F02906A92CB4}"/>
              </a:ext>
            </a:extLst>
          </p:cNvPr>
          <p:cNvCxnSpPr>
            <a:cxnSpLocks/>
          </p:cNvCxnSpPr>
          <p:nvPr/>
        </p:nvCxnSpPr>
        <p:spPr>
          <a:xfrm>
            <a:off x="4828066" y="4122031"/>
            <a:ext cx="670036" cy="7279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7A8E2334-DB7D-57D4-C43D-07C07DBBCCCD}"/>
              </a:ext>
            </a:extLst>
          </p:cNvPr>
          <p:cNvCxnSpPr>
            <a:cxnSpLocks/>
            <a:stCxn id="83" idx="3"/>
            <a:endCxn id="47" idx="1"/>
          </p:cNvCxnSpPr>
          <p:nvPr/>
        </p:nvCxnSpPr>
        <p:spPr>
          <a:xfrm>
            <a:off x="4822989" y="4958782"/>
            <a:ext cx="575382" cy="2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D33780F5-2BAC-4E82-A547-BD32054ADD83}"/>
              </a:ext>
            </a:extLst>
          </p:cNvPr>
          <p:cNvSpPr/>
          <p:nvPr/>
        </p:nvSpPr>
        <p:spPr>
          <a:xfrm>
            <a:off x="6703551" y="4886774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F48EF25-DB31-1994-3DFC-D62CDCD6FD43}"/>
              </a:ext>
            </a:extLst>
          </p:cNvPr>
          <p:cNvCxnSpPr>
            <a:cxnSpLocks/>
            <a:endCxn id="96" idx="1"/>
          </p:cNvCxnSpPr>
          <p:nvPr/>
        </p:nvCxnSpPr>
        <p:spPr>
          <a:xfrm flipV="1">
            <a:off x="6193516" y="4958782"/>
            <a:ext cx="510035" cy="51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" name="Picture 101" descr="\documentclass{article}&#10;\usepackage{amsmath}&#10;\usepackage{amsfonts}&#10;\usepackage{color}&#10;\newcommand{\red}[1]{{\color{red}#1}}&#10;&#10;\pagestyle{empty}&#10;&#10;\begin{document}&#10;&#10;$$&#10;c&#10;$$&#10;\end{document}" title="IguanaTex Bitmap Display">
            <a:extLst>
              <a:ext uri="{FF2B5EF4-FFF2-40B4-BE49-F238E27FC236}">
                <a16:creationId xmlns:a16="http://schemas.microsoft.com/office/drawing/2014/main" id="{43ED16A5-B92F-61EC-ADA8-AD0D5E8248B3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6937293" y="4732512"/>
            <a:ext cx="91440" cy="114300"/>
          </a:xfrm>
          <a:prstGeom prst="rect">
            <a:avLst/>
          </a:prstGeom>
        </p:spPr>
      </p:pic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07208864-D190-50AA-3785-E185DD0030FB}"/>
              </a:ext>
            </a:extLst>
          </p:cNvPr>
          <p:cNvSpPr/>
          <p:nvPr/>
        </p:nvSpPr>
        <p:spPr>
          <a:xfrm>
            <a:off x="8290531" y="4183139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1050" dirty="0"/>
              <a:t>MLP</a:t>
            </a:r>
          </a:p>
        </p:txBody>
      </p: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AD3C8124-74B2-D82A-405F-EA081D4522E5}"/>
              </a:ext>
            </a:extLst>
          </p:cNvPr>
          <p:cNvCxnSpPr>
            <a:cxnSpLocks/>
          </p:cNvCxnSpPr>
          <p:nvPr/>
        </p:nvCxnSpPr>
        <p:spPr>
          <a:xfrm flipV="1">
            <a:off x="7286563" y="4778232"/>
            <a:ext cx="1175734" cy="171551"/>
          </a:xfrm>
          <a:prstGeom prst="bentConnector3">
            <a:avLst>
              <a:gd name="adj1" fmla="val 9929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B228816E-2395-6149-5648-981EB9883D05}"/>
              </a:ext>
            </a:extLst>
          </p:cNvPr>
          <p:cNvCxnSpPr>
            <a:cxnSpLocks/>
          </p:cNvCxnSpPr>
          <p:nvPr/>
        </p:nvCxnSpPr>
        <p:spPr>
          <a:xfrm flipV="1">
            <a:off x="8749988" y="4799249"/>
            <a:ext cx="0" cy="447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4C4B13F-BD0D-5B51-7047-6EC0B6930D20}"/>
              </a:ext>
            </a:extLst>
          </p:cNvPr>
          <p:cNvCxnSpPr>
            <a:cxnSpLocks/>
          </p:cNvCxnSpPr>
          <p:nvPr/>
        </p:nvCxnSpPr>
        <p:spPr>
          <a:xfrm flipV="1">
            <a:off x="8633425" y="3821254"/>
            <a:ext cx="0" cy="3618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7" name="Picture 116" descr="\documentclass{article}&#10;\usepackage{amsmath}&#10;\usepackage{amsfonts}&#10;\usepackage{color}&#10;\newcommand{\red}[1]{{\color{red}#1}}&#10;&#10;\pagestyle{empty}&#10;&#10;\begin{document}&#10;&#10;$$&#10;\hat y&#10;$$&#10;&#10;\end{document}" title="IguanaTex Bitmap Display">
            <a:extLst>
              <a:ext uri="{FF2B5EF4-FFF2-40B4-BE49-F238E27FC236}">
                <a16:creationId xmlns:a16="http://schemas.microsoft.com/office/drawing/2014/main" id="{984E9DA7-A1C7-C91E-A950-A872BA8140F9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8576275" y="3573016"/>
            <a:ext cx="114300" cy="205740"/>
          </a:xfrm>
          <a:prstGeom prst="rect">
            <a:avLst/>
          </a:prstGeom>
        </p:spPr>
      </p:pic>
      <p:pic>
        <p:nvPicPr>
          <p:cNvPr id="120" name="Picture 119" descr="\documentclass{article}&#10;\usepackage{amsmath}&#10;\usepackage{amsfonts}&#10;\usepackage{color}&#10;\newcommand{\red}[1]{{\color{red}#1}}&#10;&#10;\pagestyle{empty}&#10;&#10;\begin{document}&#10;&#10;$$&#10;x&#10;$$&#10;\end{document}" title="IguanaTex Bitmap Display">
            <a:extLst>
              <a:ext uri="{FF2B5EF4-FFF2-40B4-BE49-F238E27FC236}">
                <a16:creationId xmlns:a16="http://schemas.microsoft.com/office/drawing/2014/main" id="{1FE0EDD6-AF61-7EB0-936B-BA017329C8B0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8704268" y="5362714"/>
            <a:ext cx="114300" cy="114300"/>
          </a:xfrm>
          <a:prstGeom prst="rect">
            <a:avLst/>
          </a:prstGeom>
        </p:spPr>
      </p:pic>
      <p:pic>
        <p:nvPicPr>
          <p:cNvPr id="10" name="Picture 9" descr="\documentclass{article}&#10;\usepackage{amsmath}&#10;\usepackage{amsfonts}&#10;\usepackage{color}&#10;\newcommand{\red}[1]{{\color{red}#1}}&#10;&#10;\pagestyle{empty}&#10;&#10;\begin{document}&#10;&#10;$$&#10;\vdots&#10;$$&#10;&#10;\end{document}" title="IguanaTex Bitmap Display">
            <a:extLst>
              <a:ext uri="{FF2B5EF4-FFF2-40B4-BE49-F238E27FC236}">
                <a16:creationId xmlns:a16="http://schemas.microsoft.com/office/drawing/2014/main" id="{2E25A023-46A1-AB14-712F-0F19B1811395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4514314" y="5307445"/>
            <a:ext cx="22860" cy="20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6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61EE7-EB56-7888-8274-CDCB80DC6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9D34-CAD6-0315-C99C-AD440C723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Performance with meta learning (in-context learning)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9ED667-24A5-A56D-C904-7282F51C792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tretch/>
        </p:blipFill>
        <p:spPr bwMode="auto">
          <a:xfrm>
            <a:off x="2567608" y="1490675"/>
            <a:ext cx="5767748" cy="432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BB5991-2825-3A06-241F-34A010A837F9}"/>
                  </a:ext>
                </a:extLst>
              </p:cNvPr>
              <p:cNvSpPr txBox="1"/>
              <p:nvPr/>
            </p:nvSpPr>
            <p:spPr bwMode="auto">
              <a:xfrm>
                <a:off x="637504" y="5969358"/>
                <a:ext cx="7972311" cy="27699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eaLnBrk="0" hangingPunct="0">
                  <a:spcBef>
                    <a:spcPct val="20000"/>
                  </a:spcBef>
                </a:pPr>
                <a:r>
                  <a:rPr lang="en-CH" sz="1800" kern="0" dirty="0">
                    <a:latin typeface="+mn-lt"/>
                    <a:ea typeface="ＭＳ Ｐゴシック" pitchFamily="-112" charset="-128"/>
                    <a:cs typeface="ＭＳ Ｐゴシック" pitchFamily="-112" charset="-128"/>
                  </a:rPr>
                  <a:t>The meta model learns to make pretty good predictions with </a:t>
                </a:r>
                <a14:m>
                  <m:oMath xmlns:m="http://schemas.openxmlformats.org/officeDocument/2006/math">
                    <m:r>
                      <a:rPr lang="en-US" sz="1800" b="0" i="1" kern="0" smtClean="0">
                        <a:latin typeface="Cambria Math" panose="02040503050406030204" pitchFamily="18" charset="0"/>
                        <a:ea typeface="ＭＳ Ｐゴシック" pitchFamily="-112" charset="-128"/>
                        <a:cs typeface="ＭＳ Ｐゴシック" pitchFamily="-112" charset="-128"/>
                      </a:rPr>
                      <m:t>𝐾</m:t>
                    </m:r>
                    <m:r>
                      <a:rPr lang="en-US" sz="1800" b="0" i="1" kern="0" smtClean="0">
                        <a:latin typeface="Cambria Math" panose="02040503050406030204" pitchFamily="18" charset="0"/>
                        <a:ea typeface="ＭＳ Ｐゴシック" pitchFamily="-112" charset="-128"/>
                        <a:cs typeface="ＭＳ Ｐゴシック" pitchFamily="-112" charset="-128"/>
                      </a:rPr>
                      <m:t>=5</m:t>
                    </m:r>
                  </m:oMath>
                </a14:m>
                <a:r>
                  <a:rPr lang="en-CH" sz="1800" kern="0" dirty="0">
                    <a:latin typeface="+mn-lt"/>
                    <a:ea typeface="ＭＳ Ｐゴシック" pitchFamily="-112" charset="-128"/>
                    <a:cs typeface="ＭＳ Ｐゴシック" pitchFamily="-112" charset="-128"/>
                  </a:rPr>
                  <a:t> data points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BB5991-2825-3A06-241F-34A010A83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7504" y="5969358"/>
                <a:ext cx="7972311" cy="276999"/>
              </a:xfrm>
              <a:prstGeom prst="rect">
                <a:avLst/>
              </a:prstGeom>
              <a:blipFill>
                <a:blip r:embed="rId3"/>
                <a:stretch>
                  <a:fillRect l="-1911" t="-20833" r="-955" b="-458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0096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534D7-AF73-D3FB-19EA-2190451F6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In-context learning architecture for system identification</a:t>
            </a:r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250531AE-372F-4713-6CD3-4430DE41FF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H" dirty="0"/>
              <a:t>May be seen as a simplification of the encoder-decoder Transformer for system identification</a:t>
            </a:r>
          </a:p>
          <a:p>
            <a:endParaRPr lang="en-CH" dirty="0"/>
          </a:p>
          <a:p>
            <a:endParaRPr lang="en-CH" dirty="0"/>
          </a:p>
          <a:p>
            <a:endParaRPr lang="en-CH" dirty="0"/>
          </a:p>
          <a:p>
            <a:r>
              <a:rPr lang="en-CH" dirty="0"/>
              <a:t>The Transformer’s attention layers are ideal to deal with intricate temporal dependencies of SYSID.</a:t>
            </a:r>
          </a:p>
          <a:p>
            <a:endParaRPr lang="en-CH" dirty="0"/>
          </a:p>
          <a:p>
            <a:r>
              <a:rPr lang="en-CH" dirty="0"/>
              <a:t>For the sines example, the simple DeepSet+MLP architecture is more than enough…</a:t>
            </a:r>
          </a:p>
          <a:p>
            <a:endParaRPr lang="en-CH" dirty="0"/>
          </a:p>
          <a:p>
            <a:endParaRPr lang="en-CH" dirty="0"/>
          </a:p>
        </p:txBody>
      </p:sp>
      <p:pic>
        <p:nvPicPr>
          <p:cNvPr id="4" name="Immagine 13" descr="Immagine che contiene testo, schermata, software, design&#10;&#10;Descrizione generata automaticamente">
            <a:extLst>
              <a:ext uri="{FF2B5EF4-FFF2-40B4-BE49-F238E27FC236}">
                <a16:creationId xmlns:a16="http://schemas.microsoft.com/office/drawing/2014/main" id="{E2419D6C-BF6B-F7CD-27B7-BBCA197C2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3"/>
          <a:stretch/>
        </p:blipFill>
        <p:spPr>
          <a:xfrm>
            <a:off x="623392" y="1657915"/>
            <a:ext cx="4896544" cy="3081143"/>
          </a:xfrm>
          <a:prstGeom prst="rect">
            <a:avLst/>
          </a:prstGeom>
        </p:spPr>
      </p:pic>
      <p:pic>
        <p:nvPicPr>
          <p:cNvPr id="5" name="Picture 2" descr="Immagine output">
            <a:extLst>
              <a:ext uri="{FF2B5EF4-FFF2-40B4-BE49-F238E27FC236}">
                <a16:creationId xmlns:a16="http://schemas.microsoft.com/office/drawing/2014/main" id="{E8A22E20-97B9-F705-D0E9-5114818AAB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15" t="7273" b="13910"/>
          <a:stretch/>
        </p:blipFill>
        <p:spPr bwMode="auto">
          <a:xfrm>
            <a:off x="806523" y="5091402"/>
            <a:ext cx="1329025" cy="742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Connettore 2 18">
            <a:extLst>
              <a:ext uri="{FF2B5EF4-FFF2-40B4-BE49-F238E27FC236}">
                <a16:creationId xmlns:a16="http://schemas.microsoft.com/office/drawing/2014/main" id="{DE3F159C-78CD-2B8B-85A2-30A73D87C51E}"/>
              </a:ext>
            </a:extLst>
          </p:cNvPr>
          <p:cNvCxnSpPr>
            <a:cxnSpLocks/>
          </p:cNvCxnSpPr>
          <p:nvPr/>
        </p:nvCxnSpPr>
        <p:spPr>
          <a:xfrm flipV="1">
            <a:off x="1610555" y="4755201"/>
            <a:ext cx="308981" cy="2597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9" name="Immagine 17">
            <a:extLst>
              <a:ext uri="{FF2B5EF4-FFF2-40B4-BE49-F238E27FC236}">
                <a16:creationId xmlns:a16="http://schemas.microsoft.com/office/drawing/2014/main" id="{D75EEFBD-9952-BDAA-9F72-527E9A2A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918" t="7619" r="1850" b="16414"/>
          <a:stretch/>
        </p:blipFill>
        <p:spPr>
          <a:xfrm>
            <a:off x="4223792" y="5225086"/>
            <a:ext cx="1086414" cy="597011"/>
          </a:xfrm>
          <a:prstGeom prst="rect">
            <a:avLst/>
          </a:prstGeom>
        </p:spPr>
      </p:pic>
      <p:cxnSp>
        <p:nvCxnSpPr>
          <p:cNvPr id="11" name="Connettore 2 19">
            <a:extLst>
              <a:ext uri="{FF2B5EF4-FFF2-40B4-BE49-F238E27FC236}">
                <a16:creationId xmlns:a16="http://schemas.microsoft.com/office/drawing/2014/main" id="{2396B448-8287-53B9-9628-EA0779451CF4}"/>
              </a:ext>
            </a:extLst>
          </p:cNvPr>
          <p:cNvCxnSpPr>
            <a:cxnSpLocks/>
          </p:cNvCxnSpPr>
          <p:nvPr/>
        </p:nvCxnSpPr>
        <p:spPr>
          <a:xfrm flipV="1">
            <a:off x="4766999" y="4834380"/>
            <a:ext cx="0" cy="3557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7" name="Picture 6" descr="\documentclass{article}&#10;\usepackage{amsmath}&#10;\usepackage{amsfonts}&#10;\usepackage{color}&#10;\newcommand{\red}[1]{{\color{red}#1}}&#10;&#10;\pagestyle{empty}&#10;&#10;\begin{document}&#10;&#10;$$&#10;\hat y_{m+1:N} = \mathcal{M}_\phi(u_{m+1:N}, u_{1:m}, y_{1:m}) &#10;$$&#10;&#10;\end{document}" title="IguanaTex Bitmap Display">
            <a:extLst>
              <a:ext uri="{FF2B5EF4-FFF2-40B4-BE49-F238E27FC236}">
                <a16:creationId xmlns:a16="http://schemas.microsoft.com/office/drawing/2014/main" id="{CAF41B3F-A81B-1DB8-61EC-0EE50C046FF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104112" y="2780928"/>
            <a:ext cx="3406140" cy="251460"/>
          </a:xfrm>
          <a:prstGeom prst="rect">
            <a:avLst/>
          </a:prstGeom>
        </p:spPr>
      </p:pic>
      <p:sp>
        <p:nvSpPr>
          <p:cNvPr id="25" name="CasellaDiTesto 4">
            <a:extLst>
              <a:ext uri="{FF2B5EF4-FFF2-40B4-BE49-F238E27FC236}">
                <a16:creationId xmlns:a16="http://schemas.microsoft.com/office/drawing/2014/main" id="{25E43620-9E3B-C437-111C-02C4ADA2C34E}"/>
              </a:ext>
            </a:extLst>
          </p:cNvPr>
          <p:cNvSpPr txBox="1"/>
          <p:nvPr/>
        </p:nvSpPr>
        <p:spPr>
          <a:xfrm>
            <a:off x="331390" y="6088123"/>
            <a:ext cx="117324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CH" sz="1000" dirty="0"/>
              <a:t>M. Forgione, F. Pura, D. Piga, </a:t>
            </a:r>
            <a:r>
              <a:rPr lang="en-US" sz="1000" dirty="0"/>
              <a:t>In-context learning for model-free system identification, IEEE Control Systems Letters, September 2023</a:t>
            </a:r>
            <a:endParaRPr lang="it-CH" sz="1000" dirty="0"/>
          </a:p>
        </p:txBody>
      </p:sp>
    </p:spTree>
    <p:extLst>
      <p:ext uri="{BB962C8B-B14F-4D97-AF65-F5344CB8AC3E}">
        <p14:creationId xmlns:p14="http://schemas.microsoft.com/office/powerpoint/2010/main" val="4284358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5A6BF-45FB-E743-F3B1-87CEE1D33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B40AF-1E92-FD61-A75C-19073755E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 dirty="0"/>
          </a:p>
          <a:p>
            <a:r>
              <a:rPr lang="en-CH" dirty="0"/>
              <a:t>Implementation of the in-context learning architecture for static regression DeepSets + MLP is sketched in in_context_learning_sketch.ipynb</a:t>
            </a:r>
          </a:p>
          <a:p>
            <a:endParaRPr lang="en-CH" dirty="0"/>
          </a:p>
          <a:p>
            <a:r>
              <a:rPr lang="en-CH" dirty="0"/>
              <a:t>Use it to tackle the meta learning exercise (meta_learning_exercise.ipynb)</a:t>
            </a:r>
          </a:p>
          <a:p>
            <a:endParaRPr lang="en-CH" dirty="0"/>
          </a:p>
          <a:p>
            <a:r>
              <a:rPr lang="en-CH" dirty="0"/>
              <a:t>Optionally, apply hyper-networks and MAML (sketched in </a:t>
            </a:r>
            <a:r>
              <a:rPr lang="en-GB" dirty="0" err="1"/>
              <a:t>maml_hypernet_sketch.ipynb</a:t>
            </a:r>
            <a:r>
              <a:rPr lang="en-GB" dirty="0"/>
              <a:t>, described in the </a:t>
            </a:r>
            <a:r>
              <a:rPr lang="en-CH" dirty="0"/>
              <a:t>next slides…)</a:t>
            </a:r>
          </a:p>
          <a:p>
            <a:pPr marL="0" indent="0">
              <a:buNone/>
            </a:pPr>
            <a:endParaRPr lang="en-CH" dirty="0"/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31143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05A09-FD27-0DF0-AF83-FEBE5ED6C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11DD83E-AD29-2552-034A-2035198A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Meta Learning with Hyper-Nerworks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CBF541AB-D399-D98C-53D0-21FEFBCE71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916114"/>
                <a:ext cx="10920784" cy="4609229"/>
              </a:xfrm>
            </p:spPr>
            <p:txBody>
              <a:bodyPr/>
              <a:lstStyle/>
              <a:p>
                <a:r>
                  <a:rPr lang="en-CH" dirty="0"/>
                  <a:t>A hyper-network provides weight and biases of the model MLP describing the relation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r>
                  <a:rPr lang="en-CH" dirty="0"/>
                  <a:t>The hyper-network may be seen as a </a:t>
                </a:r>
                <a:r>
                  <a:rPr lang="en-CH" i="1" dirty="0"/>
                  <a:t>learned</a:t>
                </a:r>
                <a:r>
                  <a:rPr lang="en-CH" dirty="0"/>
                  <a:t> system identification algorithm</a:t>
                </a:r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pPr marL="0" indent="0">
                  <a:buNone/>
                </a:pPr>
                <a:r>
                  <a:rPr lang="en-CH" dirty="0"/>
                  <a:t> </a:t>
                </a:r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CBF541AB-D399-D98C-53D0-21FEFBCE71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916114"/>
                <a:ext cx="10920784" cy="4609229"/>
              </a:xfrm>
              <a:blipFill>
                <a:blip r:embed="rId13"/>
                <a:stretch>
                  <a:fillRect l="-1163" t="-164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8C49D1E-45C0-96D5-A5DC-3EBC9E54FE5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839416" y="2420888"/>
            <a:ext cx="1795882" cy="598018"/>
          </a:xfrm>
          <a:prstGeom prst="rect">
            <a:avLst/>
          </a:prstGeom>
        </p:spPr>
      </p:pic>
      <p:pic>
        <p:nvPicPr>
          <p:cNvPr id="13" name="Picture 12" descr="\documentclass{article}&#10;\usepackage{amsmath}&#10;\usepackage{amsfonts}&#10;\usepackage{color}&#10;\newcommand{\red}[1]{{\color{red}#1}}&#10;&#10;\pagestyle{empty}&#10;&#10;\begin{document}&#10;&#10;$$&#10;(x_1, y_1)&#10;$$&#10;&#10;\end{document}" title="IguanaTex Bitmap Display">
            <a:extLst>
              <a:ext uri="{FF2B5EF4-FFF2-40B4-BE49-F238E27FC236}">
                <a16:creationId xmlns:a16="http://schemas.microsoft.com/office/drawing/2014/main" id="{E4FD3B70-9C14-4695-77DE-AA901D02F85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845884" y="2548876"/>
            <a:ext cx="685800" cy="228600"/>
          </a:xfrm>
          <a:prstGeom prst="rect">
            <a:avLst/>
          </a:prstGeom>
        </p:spPr>
      </p:pic>
      <p:pic>
        <p:nvPicPr>
          <p:cNvPr id="18" name="Picture 17" descr="\documentclass{article}&#10;\usepackage{amsmath}&#10;\usepackage{amsfonts}&#10;\usepackage{color}&#10;\newcommand{\red}[1]{{\color{red}#1}}&#10;&#10;\pagestyle{empty}&#10;&#10;\begin{document}&#10;&#10;$$&#10;(x_2, y_2)&#10;$$&#10;&#10;\end{document}" title="IguanaTex Bitmap Display">
            <a:extLst>
              <a:ext uri="{FF2B5EF4-FFF2-40B4-BE49-F238E27FC236}">
                <a16:creationId xmlns:a16="http://schemas.microsoft.com/office/drawing/2014/main" id="{8181C8D9-209E-5F22-F467-C8F1288CBAD6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3836149" y="3354376"/>
            <a:ext cx="685800" cy="228600"/>
          </a:xfrm>
          <a:prstGeom prst="rect">
            <a:avLst/>
          </a:prstGeom>
        </p:spPr>
      </p:pic>
      <p:pic>
        <p:nvPicPr>
          <p:cNvPr id="20" name="Picture 19" descr="\documentclass{article}&#10;\usepackage{amsmath}&#10;\usepackage{amsfonts}&#10;\usepackage{color}&#10;\newcommand{\red}[1]{{\color{red}#1}}&#10;&#10;\pagestyle{empty}&#10;&#10;\begin{document}&#10;&#10;$$&#10;(x_K, y_K)&#10;$$&#10;&#10;\end{document}" title="IguanaTex Bitmap Display">
            <a:extLst>
              <a:ext uri="{FF2B5EF4-FFF2-40B4-BE49-F238E27FC236}">
                <a16:creationId xmlns:a16="http://schemas.microsoft.com/office/drawing/2014/main" id="{9263D550-5FA3-03F1-2963-07530C664742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791744" y="4856584"/>
            <a:ext cx="822960" cy="228600"/>
          </a:xfrm>
          <a:prstGeom prst="rect">
            <a:avLst/>
          </a:prstGeom>
        </p:spPr>
      </p:pic>
      <p:pic>
        <p:nvPicPr>
          <p:cNvPr id="44" name="Picture 43" descr="\documentclass{article}&#10;\usepackage{amsmath}&#10;\usepackage{amsfonts}&#10;\usepackage{color}&#10;\newcommand{\red}[1]{{\color{red}#1}}&#10;&#10;\pagestyle{empty}&#10;&#10;\begin{document}&#10;&#10;$$&#10;c_1&#10;$$&#10;&#10;\end{document}" title="IguanaTex Bitmap Display">
            <a:extLst>
              <a:ext uri="{FF2B5EF4-FFF2-40B4-BE49-F238E27FC236}">
                <a16:creationId xmlns:a16="http://schemas.microsoft.com/office/drawing/2014/main" id="{6CED0391-CF81-5C68-6729-663365D495CE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5955052" y="2663176"/>
            <a:ext cx="182880" cy="137160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C23B7DC-2DBA-528F-7A8A-D09ADD537380}"/>
              </a:ext>
            </a:extLst>
          </p:cNvPr>
          <p:cNvCxnSpPr>
            <a:cxnSpLocks/>
          </p:cNvCxnSpPr>
          <p:nvPr/>
        </p:nvCxnSpPr>
        <p:spPr>
          <a:xfrm>
            <a:off x="5459343" y="2907023"/>
            <a:ext cx="2960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9EDE8F-DBF8-9986-F7CF-D73A65926DD7}"/>
              </a:ext>
            </a:extLst>
          </p:cNvPr>
          <p:cNvSpPr/>
          <p:nvPr/>
        </p:nvSpPr>
        <p:spPr>
          <a:xfrm>
            <a:off x="4773554" y="2604464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800" dirty="0"/>
              <a:t>MLP_DS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29AF189-9EAC-B3AB-EEDE-92AFAA691E95}"/>
              </a:ext>
            </a:extLst>
          </p:cNvPr>
          <p:cNvSpPr/>
          <p:nvPr/>
        </p:nvSpPr>
        <p:spPr>
          <a:xfrm>
            <a:off x="5755387" y="2839771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9F56E83-7840-0D75-575E-60CD202EF147}"/>
              </a:ext>
            </a:extLst>
          </p:cNvPr>
          <p:cNvCxnSpPr>
            <a:cxnSpLocks/>
            <a:stCxn id="59" idx="3"/>
            <a:endCxn id="26" idx="1"/>
          </p:cNvCxnSpPr>
          <p:nvPr/>
        </p:nvCxnSpPr>
        <p:spPr>
          <a:xfrm flipV="1">
            <a:off x="4347176" y="2896739"/>
            <a:ext cx="426378" cy="7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Picture 50" descr="\documentclass{article}&#10;\usepackage{amsmath}&#10;\usepackage{amsfonts}&#10;\usepackage{color}&#10;\newcommand{\red}[1]{{\color{red}#1}}&#10;&#10;\pagestyle{empty}&#10;&#10;\begin{document}&#10;&#10;$$&#10;c_2&#10;$$&#10;&#10;\end{document}" title="IguanaTex Bitmap Display">
            <a:extLst>
              <a:ext uri="{FF2B5EF4-FFF2-40B4-BE49-F238E27FC236}">
                <a16:creationId xmlns:a16="http://schemas.microsoft.com/office/drawing/2014/main" id="{063CB9E3-7DC3-CDC7-48E4-F04E5128772F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896370" y="3524939"/>
            <a:ext cx="182880" cy="137160"/>
          </a:xfrm>
          <a:prstGeom prst="rect">
            <a:avLst/>
          </a:prstGeom>
        </p:spPr>
      </p:pic>
      <p:pic>
        <p:nvPicPr>
          <p:cNvPr id="53" name="Picture 52" descr="\documentclass{article}&#10;\usepackage{amsmath}&#10;\usepackage{amsfonts}&#10;\usepackage{color}&#10;\newcommand{\red}[1]{{\color{red}#1}}&#10;&#10;\pagestyle{empty}&#10;&#10;\begin{document}&#10;&#10;$$&#10;c_K&#10;$$&#10;&#10;\end{document}" title="IguanaTex Bitmap Display">
            <a:extLst>
              <a:ext uri="{FF2B5EF4-FFF2-40B4-BE49-F238E27FC236}">
                <a16:creationId xmlns:a16="http://schemas.microsoft.com/office/drawing/2014/main" id="{14722771-955B-0A71-5235-B09709F47C42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5906105" y="4477233"/>
            <a:ext cx="251460" cy="137160"/>
          </a:xfrm>
          <a:prstGeom prst="rect">
            <a:avLst/>
          </a:prstGeom>
        </p:spPr>
      </p:pic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BAC6971A-4EEB-FDFF-789E-FA932838FA77}"/>
              </a:ext>
            </a:extLst>
          </p:cNvPr>
          <p:cNvSpPr/>
          <p:nvPr/>
        </p:nvSpPr>
        <p:spPr>
          <a:xfrm>
            <a:off x="6884616" y="3667799"/>
            <a:ext cx="784096" cy="217777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1600" dirty="0"/>
              <a:t>mean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E9A2F97-7031-228E-E8C7-464CAB9D36F1}"/>
              </a:ext>
            </a:extLst>
          </p:cNvPr>
          <p:cNvSpPr/>
          <p:nvPr/>
        </p:nvSpPr>
        <p:spPr>
          <a:xfrm>
            <a:off x="4766478" y="4472993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800" dirty="0"/>
              <a:t>MLP_DS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FDDD563-94D0-12ED-A1BA-B6A2C5630FF3}"/>
              </a:ext>
            </a:extLst>
          </p:cNvPr>
          <p:cNvSpPr/>
          <p:nvPr/>
        </p:nvSpPr>
        <p:spPr>
          <a:xfrm>
            <a:off x="4085523" y="2848914"/>
            <a:ext cx="261653" cy="11033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ABC89DB-3B68-A5B5-C933-94BA590BFF7A}"/>
              </a:ext>
            </a:extLst>
          </p:cNvPr>
          <p:cNvSpPr/>
          <p:nvPr/>
        </p:nvSpPr>
        <p:spPr>
          <a:xfrm>
            <a:off x="4085523" y="4716246"/>
            <a:ext cx="261653" cy="11033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FE672686-38FA-23C7-0AA8-96AE8D99E9A6}"/>
              </a:ext>
            </a:extLst>
          </p:cNvPr>
          <p:cNvSpPr/>
          <p:nvPr/>
        </p:nvSpPr>
        <p:spPr>
          <a:xfrm>
            <a:off x="4773554" y="3477551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800" dirty="0"/>
              <a:t>MLP_DS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842B7F74-9649-6927-17D7-5D6CD256A81F}"/>
              </a:ext>
            </a:extLst>
          </p:cNvPr>
          <p:cNvCxnSpPr>
            <a:cxnSpLocks/>
            <a:stCxn id="74" idx="3"/>
            <a:endCxn id="71" idx="1"/>
          </p:cNvCxnSpPr>
          <p:nvPr/>
        </p:nvCxnSpPr>
        <p:spPr>
          <a:xfrm flipV="1">
            <a:off x="4347176" y="3769826"/>
            <a:ext cx="426378" cy="7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CE629680-53D6-9816-1479-76FB00D6C7EA}"/>
              </a:ext>
            </a:extLst>
          </p:cNvPr>
          <p:cNvSpPr/>
          <p:nvPr/>
        </p:nvSpPr>
        <p:spPr>
          <a:xfrm>
            <a:off x="4085523" y="3722001"/>
            <a:ext cx="261653" cy="11033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78" name="Picture 77" descr="\documentclass{article}&#10;\usepackage{amsmath}&#10;\usepackage{amsfonts}&#10;\usepackage{color}&#10;\newcommand{\red}[1]{{\color{red}#1}}&#10;&#10;\pagestyle{empty}&#10;&#10;\begin{document}&#10;&#10;$$&#10;\vdots&#10;$$&#10;&#10;\end{document}" title="IguanaTex Bitmap Display">
            <a:extLst>
              <a:ext uri="{FF2B5EF4-FFF2-40B4-BE49-F238E27FC236}">
                <a16:creationId xmlns:a16="http://schemas.microsoft.com/office/drawing/2014/main" id="{B0AC22BA-793E-6231-25EF-35192F6E937B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4191794" y="4221949"/>
            <a:ext cx="22860" cy="205740"/>
          </a:xfrm>
          <a:prstGeom prst="rect">
            <a:avLst/>
          </a:prstGeom>
        </p:spPr>
      </p:pic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87FE949-1145-F799-097F-6F616228DC27}"/>
              </a:ext>
            </a:extLst>
          </p:cNvPr>
          <p:cNvCxnSpPr>
            <a:cxnSpLocks/>
          </p:cNvCxnSpPr>
          <p:nvPr/>
        </p:nvCxnSpPr>
        <p:spPr>
          <a:xfrm flipV="1">
            <a:off x="4356911" y="4777803"/>
            <a:ext cx="426378" cy="7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632CB8B-0ECA-207D-8B20-9227544A4A4C}"/>
              </a:ext>
            </a:extLst>
          </p:cNvPr>
          <p:cNvCxnSpPr>
            <a:cxnSpLocks/>
          </p:cNvCxnSpPr>
          <p:nvPr/>
        </p:nvCxnSpPr>
        <p:spPr>
          <a:xfrm>
            <a:off x="5454266" y="3765070"/>
            <a:ext cx="2960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E82D98D4-5BFE-5CC1-BB46-8C7E821333AB}"/>
              </a:ext>
            </a:extLst>
          </p:cNvPr>
          <p:cNvSpPr/>
          <p:nvPr/>
        </p:nvSpPr>
        <p:spPr>
          <a:xfrm>
            <a:off x="5750310" y="3702061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158D2C8B-0354-8A63-E97D-8E8E1023DC63}"/>
              </a:ext>
            </a:extLst>
          </p:cNvPr>
          <p:cNvCxnSpPr>
            <a:cxnSpLocks/>
          </p:cNvCxnSpPr>
          <p:nvPr/>
        </p:nvCxnSpPr>
        <p:spPr>
          <a:xfrm>
            <a:off x="5459343" y="4773047"/>
            <a:ext cx="2960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47BDE829-A546-FC37-CFEE-835E797EC1F9}"/>
              </a:ext>
            </a:extLst>
          </p:cNvPr>
          <p:cNvSpPr/>
          <p:nvPr/>
        </p:nvSpPr>
        <p:spPr>
          <a:xfrm>
            <a:off x="5755387" y="4705795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2431992-1B66-F968-5B6F-C57D20DDC85A}"/>
              </a:ext>
            </a:extLst>
          </p:cNvPr>
          <p:cNvCxnSpPr>
            <a:cxnSpLocks/>
          </p:cNvCxnSpPr>
          <p:nvPr/>
        </p:nvCxnSpPr>
        <p:spPr>
          <a:xfrm flipV="1">
            <a:off x="6314311" y="3925538"/>
            <a:ext cx="670036" cy="843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4A3F517F-6F30-C42D-3DDB-A10CDE678631}"/>
              </a:ext>
            </a:extLst>
          </p:cNvPr>
          <p:cNvCxnSpPr>
            <a:cxnSpLocks/>
          </p:cNvCxnSpPr>
          <p:nvPr/>
        </p:nvCxnSpPr>
        <p:spPr>
          <a:xfrm>
            <a:off x="6314311" y="2937318"/>
            <a:ext cx="670036" cy="7279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286158F9-E61A-F313-4F9F-E35C8A7BE432}"/>
              </a:ext>
            </a:extLst>
          </p:cNvPr>
          <p:cNvCxnSpPr>
            <a:cxnSpLocks/>
            <a:stCxn id="83" idx="3"/>
            <a:endCxn id="47" idx="1"/>
          </p:cNvCxnSpPr>
          <p:nvPr/>
        </p:nvCxnSpPr>
        <p:spPr>
          <a:xfrm>
            <a:off x="6309234" y="3774069"/>
            <a:ext cx="575382" cy="2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AC877D8F-BF15-3AB0-459D-8DA55C8D0111}"/>
              </a:ext>
            </a:extLst>
          </p:cNvPr>
          <p:cNvSpPr/>
          <p:nvPr/>
        </p:nvSpPr>
        <p:spPr>
          <a:xfrm>
            <a:off x="8374333" y="3702061"/>
            <a:ext cx="558924" cy="1440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8DC8BB67-4EB1-82F2-45EA-BB4A90FEF8AF}"/>
              </a:ext>
            </a:extLst>
          </p:cNvPr>
          <p:cNvCxnSpPr>
            <a:cxnSpLocks/>
            <a:stCxn id="47" idx="3"/>
            <a:endCxn id="96" idx="1"/>
          </p:cNvCxnSpPr>
          <p:nvPr/>
        </p:nvCxnSpPr>
        <p:spPr>
          <a:xfrm flipV="1">
            <a:off x="7668712" y="3774069"/>
            <a:ext cx="705621" cy="26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\documentclass{article}&#10;\usepackage{amsmath}&#10;\usepackage{amsfonts}&#10;\usepackage{color}&#10;\newcommand{\red}[1]{{\color{red}#1}}&#10;&#10;\pagestyle{empty}&#10;&#10;\begin{document}&#10;&#10;$$&#10;\theta = \{W_1, b_1, \dots\}&#10;$$&#10;\end{document}" title="IguanaTex Bitmap Display">
            <a:extLst>
              <a:ext uri="{FF2B5EF4-FFF2-40B4-BE49-F238E27FC236}">
                <a16:creationId xmlns:a16="http://schemas.microsoft.com/office/drawing/2014/main" id="{3AE0552B-8EE6-0BE1-3449-FDE78713853C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7871612" y="3376455"/>
            <a:ext cx="1645920" cy="228600"/>
          </a:xfrm>
          <a:prstGeom prst="rect">
            <a:avLst/>
          </a:prstGeom>
        </p:spPr>
      </p:pic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D111C68D-5678-4165-033F-53B7033C638B}"/>
              </a:ext>
            </a:extLst>
          </p:cNvPr>
          <p:cNvSpPr/>
          <p:nvPr/>
        </p:nvSpPr>
        <p:spPr>
          <a:xfrm>
            <a:off x="9933749" y="3472795"/>
            <a:ext cx="685789" cy="58455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H" sz="1050" dirty="0"/>
              <a:t>MLP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E3EDDF11-F0A0-ABC6-64E1-1E8750AA8FDE}"/>
              </a:ext>
            </a:extLst>
          </p:cNvPr>
          <p:cNvCxnSpPr>
            <a:cxnSpLocks/>
          </p:cNvCxnSpPr>
          <p:nvPr/>
        </p:nvCxnSpPr>
        <p:spPr>
          <a:xfrm flipV="1">
            <a:off x="10276644" y="4042014"/>
            <a:ext cx="0" cy="447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C9D0B43-B59D-C6B6-D83F-42E7FFF0993D}"/>
              </a:ext>
            </a:extLst>
          </p:cNvPr>
          <p:cNvCxnSpPr>
            <a:cxnSpLocks/>
          </p:cNvCxnSpPr>
          <p:nvPr/>
        </p:nvCxnSpPr>
        <p:spPr>
          <a:xfrm flipV="1">
            <a:off x="10246929" y="3096327"/>
            <a:ext cx="0" cy="3618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7" name="Picture 116" descr="\documentclass{article}&#10;\usepackage{amsmath}&#10;\usepackage{amsfonts}&#10;\usepackage{color}&#10;\newcommand{\red}[1]{{\color{red}#1}}&#10;&#10;\pagestyle{empty}&#10;&#10;\begin{document}&#10;&#10;$$&#10;\hat y&#10;$$&#10;&#10;\end{document}" title="IguanaTex Bitmap Display">
            <a:extLst>
              <a:ext uri="{FF2B5EF4-FFF2-40B4-BE49-F238E27FC236}">
                <a16:creationId xmlns:a16="http://schemas.microsoft.com/office/drawing/2014/main" id="{5F7E9953-82B4-24B2-2C87-EC92A0759A2A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0189779" y="2848089"/>
            <a:ext cx="114300" cy="205740"/>
          </a:xfrm>
          <a:prstGeom prst="rect">
            <a:avLst/>
          </a:prstGeom>
        </p:spPr>
      </p:pic>
      <p:pic>
        <p:nvPicPr>
          <p:cNvPr id="120" name="Picture 119" descr="\documentclass{article}&#10;\usepackage{amsmath}&#10;\usepackage{amsfonts}&#10;\usepackage{color}&#10;\newcommand{\red}[1]{{\color{red}#1}}&#10;&#10;\pagestyle{empty}&#10;&#10;\begin{document}&#10;&#10;$$&#10;x&#10;$$&#10;\end{document}" title="IguanaTex Bitmap Display">
            <a:extLst>
              <a:ext uri="{FF2B5EF4-FFF2-40B4-BE49-F238E27FC236}">
                <a16:creationId xmlns:a16="http://schemas.microsoft.com/office/drawing/2014/main" id="{3213218B-AEFF-6BFF-B4DC-9820A4491535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0219494" y="4573551"/>
            <a:ext cx="114300" cy="1143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7ABCEE-08CF-32D1-EC2B-0177869C9E3F}"/>
              </a:ext>
            </a:extLst>
          </p:cNvPr>
          <p:cNvCxnSpPr>
            <a:cxnSpLocks/>
            <a:stCxn id="96" idx="3"/>
            <a:endCxn id="103" idx="1"/>
          </p:cNvCxnSpPr>
          <p:nvPr/>
        </p:nvCxnSpPr>
        <p:spPr>
          <a:xfrm flipV="1">
            <a:off x="8933257" y="3765070"/>
            <a:ext cx="1000492" cy="89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37D16B6-4698-EECB-094A-B5CA8BF1DBA7}"/>
              </a:ext>
            </a:extLst>
          </p:cNvPr>
          <p:cNvSpPr txBox="1"/>
          <p:nvPr/>
        </p:nvSpPr>
        <p:spPr bwMode="auto">
          <a:xfrm>
            <a:off x="5637727" y="2971800"/>
            <a:ext cx="6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4949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132A4-69F0-588D-D818-C9908662B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C266C2C-6273-82BA-46F9-727315B14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Gradient-Based Meta Learning (MAML)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16EADCA-8B81-A0A4-51CB-1208243512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916114"/>
                <a:ext cx="10920784" cy="4609229"/>
              </a:xfrm>
            </p:spPr>
            <p:txBody>
              <a:bodyPr/>
              <a:lstStyle/>
              <a:p>
                <a:r>
                  <a:rPr lang="en-CH" dirty="0"/>
                  <a:t>The learned algorithm has much more structure: it is one step of gradient descent!</a:t>
                </a:r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r>
                  <a:rPr lang="en-CH" dirty="0"/>
                  <a:t>We learn the best parameter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CH" dirty="0"/>
                  <a:t> such that, with one (or more) steps of gradient descent on the training dataset, performance measured on the test datasets is good. </a:t>
                </a:r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endParaRPr lang="en-CH" dirty="0"/>
              </a:p>
              <a:p>
                <a:pPr marL="0" indent="0">
                  <a:buNone/>
                </a:pPr>
                <a:r>
                  <a:rPr lang="en-CH" dirty="0"/>
                  <a:t> </a:t>
                </a:r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endParaRPr lang="en-CH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16EADCA-8B81-A0A4-51CB-1208243512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916114"/>
                <a:ext cx="10920784" cy="4609229"/>
              </a:xfrm>
              <a:blipFill>
                <a:blip r:embed="rId4"/>
                <a:stretch>
                  <a:fillRect l="-1163" t="-164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2CC36F6-189F-EB85-6108-DB6140DC4836}"/>
              </a:ext>
            </a:extLst>
          </p:cNvPr>
          <p:cNvSpPr txBox="1"/>
          <p:nvPr/>
        </p:nvSpPr>
        <p:spPr bwMode="auto">
          <a:xfrm>
            <a:off x="5637727" y="2971800"/>
            <a:ext cx="6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4" name="Picture 3" descr="\documentclass{article}&#10;\usepackage{amsmath}&#10;\usepackage{amsfonts}&#10;\usepackage{color}&#10;\newcommand{\red}[1]{{\color{red}#1}}&#10;&#10;\pagestyle{empty}&#10;&#10;\begin{document}&#10;&#10;\begin{align*}&#10;\theta &amp;= \mathrm{Alg}_\theta(D) = \phi - \alpha \nabla_\theta \mathcal{L}(\theta, D), \\&#10;\hat y &amp;= \mathrm{MLP}_\phi(x).&#10;\end{align*}&#10;&#10;\end{document}" title="IguanaTex Bitmap Display">
            <a:extLst>
              <a:ext uri="{FF2B5EF4-FFF2-40B4-BE49-F238E27FC236}">
                <a16:creationId xmlns:a16="http://schemas.microsoft.com/office/drawing/2014/main" id="{061ED360-403D-52F4-7B11-BEDDDF08398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151784" y="2584891"/>
            <a:ext cx="3200400" cy="594360"/>
          </a:xfrm>
          <a:prstGeom prst="rect">
            <a:avLst/>
          </a:prstGeom>
        </p:spPr>
      </p:pic>
      <p:pic>
        <p:nvPicPr>
          <p:cNvPr id="8" name="Picture 7" descr="\documentclass{article}&#10;\usepackage{amsmath}&#10;\usepackage{amsfonts}&#10;\usepackage{color}&#10;\newcommand{\red}[1]{{\color{red}#1}}&#10;&#10;\pagestyle{empty}&#10;&#10;\begin{document}&#10;&#10;$$J(\phi) = \sum_{i=1}^b \mathcal{L} (\mathrm{Alg}_\phi(D^{\rm tr}_i), D^{\rm te}_i)$$&#10;&#10;\end{document}" title="IguanaTex Bitmap Display">
            <a:extLst>
              <a:ext uri="{FF2B5EF4-FFF2-40B4-BE49-F238E27FC236}">
                <a16:creationId xmlns:a16="http://schemas.microsoft.com/office/drawing/2014/main" id="{BEA0FDBE-8972-C264-B660-22F798C2E18D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367808" y="4725144"/>
            <a:ext cx="2880360" cy="6629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FF0BA9F-14FD-197A-40CB-DBB50349BC42}"/>
              </a:ext>
            </a:extLst>
          </p:cNvPr>
          <p:cNvSpPr txBox="1"/>
          <p:nvPr/>
        </p:nvSpPr>
        <p:spPr bwMode="auto">
          <a:xfrm>
            <a:off x="623392" y="5836842"/>
            <a:ext cx="828092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Finn, Chelsea, Pieter </a:t>
            </a:r>
            <a:r>
              <a:rPr lang="en-GB" sz="1200" dirty="0" err="1"/>
              <a:t>Abbeel</a:t>
            </a:r>
            <a:r>
              <a:rPr lang="en-GB" sz="1200" dirty="0"/>
              <a:t>, and Sergey Levine. "Model-agnostic meta-learning for fast adaptation of deep networks.”</a:t>
            </a:r>
            <a:br>
              <a:rPr lang="en-GB" sz="1200" dirty="0"/>
            </a:br>
            <a:r>
              <a:rPr lang="en-GB" sz="1200" dirty="0"/>
              <a:t>International conference on machine learning. PMLR, 2017.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03690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8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(x) = A \sin(x + \psi)&#10;$$&#10;&#10;\end{document}"/>
  <p:tag name="IGUANATEXSIZE" val="18"/>
  <p:tag name="IGUANATEXCURSOR" val="18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83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\mathcal{D} = \{D_1, D_2, \dots, \}$$&#10;&#10;\end{document}"/>
  <p:tag name="IGUANATEXSIZE" val="18"/>
  <p:tag name="IGUANATEXCURSOR" val="20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312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D_i = \{(x_{i,1}, y_{i,1}), (x_{i,2}, y_{i,2}), \dots, (x_{i,K}, y_{i,K})\}, \qquad x_{i,j} \in \mathbb{R}^{n_x},\; y_{i,j} \in \mathbb{R}^{n_y}$$&#10;&#10;\end{document}"/>
  <p:tag name="IGUANATEXSIZE" val="18"/>
  <p:tag name="IGUANATEXCURSOR" val="31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13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\mathcal{D} = \{(D^{\rm tr}_1, D^{\rm te}_1), (D^{\rm tr}_2, D^{\rm te}_2), \dots \}$$&#10;&#10;\end{document}"/>
  <p:tag name="IGUANATEXSIZE" val="18"/>
  <p:tag name="IGUANATEXCURSOR" val="250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61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\begin{equation*}&#10;\hat y = \mathcal{M}_\phi(x, D)&#10;\end{equation*}&#10;&#10;\end{document}"/>
  <p:tag name="IGUANATEXSIZE" val="18"/>
  <p:tag name="IGUANATEXCURSOR" val="205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1"/>
  <p:tag name="ORIGINALWIDTH" val="160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J(\phi) = \sum_{i=1}^b \sum_{j=1}^K \mathcal{L}(y^{\rm te}_{i,j}, \mathcal{M}_\phi(D^{\rm tr}_i, x^{\rm te}_{i,j})).$$&#10;&#10;&#10;\end{document}"/>
  <p:tag name="IGUANATEXSIZE" val="18"/>
  <p:tag name="IGUANATEXCURSOR" val="21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61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\begin{equation*}&#10;\hat y = \mathcal{M}_\phi(D, x)&#10;\end{equation*}&#10;&#10;\end{document}"/>
  <p:tag name="IGUANATEXSIZE" val="18"/>
  <p:tag name="IGUANATEXCURSOR" val="205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32"/>
  <p:tag name="ORIGINALWIDTH" val=" 1031"/>
  <p:tag name="OUTPUTTYPE" val="PNG"/>
  <p:tag name="IGUANATEXVERSION" val="162"/>
  <p:tag name="LATEXADDIN" val="\documentclass{article}&#10;\usepackage{amsmath}&#10;\usepackage{amsfonts}&#10;\usepackage{color}&#10;\newcommand{\red}[1]{{\color{red}#1}}&#10;&#10;\pagestyle{empty}&#10;&#10;\begin{document}&#10;&#10;&#10;\begin{align*}&#10;c &amp;= \mathrm{DeepSets}_{\phi_1}(D) \\&#10;\hat y &amp;= \mathrm{MLP}_{\phi_2}(c, x).&#10;\end{align*}&#10;\end{document}"/>
  <p:tag name="IGUANATEXSIZE" val="18"/>
  <p:tag name="IGUANATEXCURSOR" val="199"/>
  <p:tag name="TRANSPARENCY" val="True"/>
  <p:tag name="CHOOSECOLOR" val="False"/>
  <p:tag name="COLORHEX" val="000000"/>
  <p:tag name="LATEXENGINEID" val="0"/>
  <p:tag name="TEMPFOLDER" val="/Users/marco.forgione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30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x_1, y_1)&#10;$$&#10;&#10;\end{document}"/>
  <p:tag name="IGUANATEXSIZE" val="18"/>
  <p:tag name="IGUANATEXCURSOR" val="175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30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x_2, y_2)&#10;$$&#10;&#10;\end{document}"/>
  <p:tag name="IGUANATEXSIZE" val="18"/>
  <p:tag name="IGUANATEXCURSOR" val="17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36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x_K, y_K)&#10;$$&#10;&#10;\end{document}"/>
  <p:tag name="IGUANATEXSIZE" val="18"/>
  <p:tag name="IGUANATEXCURSOR" val="17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"/>
  <p:tag name="ORIGINALWIDTH" val="8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c_1&#10;$$&#10;&#10;\end{document}"/>
  <p:tag name="IGUANATEXSIZE" val="18"/>
  <p:tag name="IGUANATEXCURSOR" val="168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"/>
  <p:tag name="ORIGINALWIDTH" val="8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c_2&#10;$$&#10;&#10;\end{document}"/>
  <p:tag name="IGUANATEXSIZE" val="18"/>
  <p:tag name="IGUANATEXCURSOR" val="168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"/>
  <p:tag name="ORIGINALWIDTH" val="11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c_K&#10;$$&#10;&#10;\end{document}"/>
  <p:tag name="IGUANATEXSIZE" val="18"/>
  <p:tag name="IGUANATEXCURSOR" val="168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1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vdots&#10;$$&#10;&#10;\end{document}"/>
  <p:tag name="IGUANATEXSIZE" val="18"/>
  <p:tag name="IGUANATEXCURSOR" val="1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"/>
  <p:tag name="ORIGINALWIDTH" val="4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c&#10;$$&#10;\end{document}"/>
  <p:tag name="IGUANATEXSIZE" val="18"/>
  <p:tag name="IGUANATEXCURSOR" val="169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hat y&#10;$$&#10;&#10;\end{document}"/>
  <p:tag name="IGUANATEXSIZE" val="18"/>
  <p:tag name="IGUANATEXCURSOR" val="1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x&#10;$$&#10;\end{document}"/>
  <p:tag name="IGUANATEXSIZE" val="18"/>
  <p:tag name="IGUANATEXCURSOR" val="166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1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vdots&#10;$$&#10;&#10;\end{document}"/>
  <p:tag name="IGUANATEXSIZE" val="18"/>
  <p:tag name="IGUANATEXCURSOR" val="1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14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hat y_{m+1:N} = \mathcal{M}_\phi(u_{m+1:N}, u_{1:m}, y_{1:m}) &#10;$$&#10;&#10;\end{document}"/>
  <p:tag name="IGUANATEXSIZE" val="18"/>
  <p:tag name="IGUANATEXCURSOR" val="198"/>
  <p:tag name="TRANSPARENCY" val="True"/>
  <p:tag name="LATEXENGINEID" val="0"/>
  <p:tag name="TEMPFOLDER" val="/Users/marco.forgione/Library/Containers/com.microsoft.Powerpoint/Data/tmp/TemporaryItems/"/>
  <p:tag name="LATEXFORMHEIGHT" val="501"/>
  <p:tag name="LATEXFORMWIDTH" val="820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327"/>
  <p:tag name="ORIGINALWIDTH" val=" 982"/>
  <p:tag name="OUTPUTTYPE" val="PNG"/>
  <p:tag name="IGUANATEXVERSION" val="162"/>
  <p:tag name="LATEXADDIN" val="\documentclass{article}&#10;\usepackage{amsmath}&#10;\usepackage{amsfonts}&#10;\usepackage{color}&#10;\newcommand{\red}[1]{{\color{red}#1}}&#10;&#10;\pagestyle{empty}&#10;&#10;\begin{document}&#10;&#10;&#10;\begin{align*}&#10;\theta &amp;= \mathrm{DeepSets}_\phi(D) \\&#10;\hat y &amp;= \mathrm{MLP}_\theta(x).&#10;\end{align*}&#10;\end{document}"/>
  <p:tag name="IGUANATEXSIZE" val="18"/>
  <p:tag name="IGUANATEXCURSOR" val="204"/>
  <p:tag name="TRANSPARENCY" val="True"/>
  <p:tag name="CHOOSECOLOR" val="False"/>
  <p:tag name="COLORHEX" val="000000"/>
  <p:tag name="LATEXENGINEID" val="0"/>
  <p:tag name="TEMPFOLDER" val="/Users/marco.forgione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30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x_1, y_1)&#10;$$&#10;&#10;\end{document}"/>
  <p:tag name="IGUANATEXSIZE" val="18"/>
  <p:tag name="IGUANATEXCURSOR" val="175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30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x_2, y_2)&#10;$$&#10;&#10;\end{document}"/>
  <p:tag name="IGUANATEXSIZE" val="18"/>
  <p:tag name="IGUANATEXCURSOR" val="17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36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x_K, y_K)&#10;$$&#10;&#10;\end{document}"/>
  <p:tag name="IGUANATEXSIZE" val="18"/>
  <p:tag name="IGUANATEXCURSOR" val="17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"/>
  <p:tag name="ORIGINALWIDTH" val="8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c_1&#10;$$&#10;&#10;\end{document}"/>
  <p:tag name="IGUANATEXSIZE" val="18"/>
  <p:tag name="IGUANATEXCURSOR" val="168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"/>
  <p:tag name="ORIGINALWIDTH" val="8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c_2&#10;$$&#10;&#10;\end{document}"/>
  <p:tag name="IGUANATEXSIZE" val="18"/>
  <p:tag name="IGUANATEXCURSOR" val="168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6"/>
  <p:tag name="ORIGINALWIDTH" val="11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c_K&#10;$$&#10;&#10;\end{document}"/>
  <p:tag name="IGUANATEXSIZE" val="18"/>
  <p:tag name="IGUANATEXCURSOR" val="168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1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vdots&#10;$$&#10;&#10;\end{document}"/>
  <p:tag name="IGUANATEXSIZE" val="18"/>
  <p:tag name="IGUANATEXCURSOR" val="1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72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theta = \{W_1, b_1, \dots\}&#10;$$&#10;\end{document}"/>
  <p:tag name="IGUANATEXSIZE" val="18"/>
  <p:tag name="IGUANATEXCURSOR" val="1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hat y&#10;$$&#10;&#10;\end{document}"/>
  <p:tag name="IGUANATEXSIZE" val="18"/>
  <p:tag name="IGUANATEXCURSOR" val="171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x&#10;$$&#10;\end{document}"/>
  <p:tag name="IGUANATEXSIZE" val="18"/>
  <p:tag name="IGUANATEXCURSOR" val="166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6"/>
  <p:tag name="ORIGINALWIDTH" val="140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\begin{align*}&#10;\theta &amp;= \mathrm{Alg}_\theta(D) = \phi - \alpha \nabla_\theta \mathcal{L}(\theta, D), \\&#10;\hat y &amp;= \mathrm{MLP}_\phi(x).&#10;\end{align*}&#10;&#10;\end{document}"/>
  <p:tag name="IGUANATEXSIZE" val="18"/>
  <p:tag name="IGUANATEXCURSOR" val="216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9"/>
  <p:tag name="ORIGINALWIDTH" val="126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J(\phi) = \sum_{i=1}^b \mathcal{L} (\mathrm{Alg}_\phi(D^{\rm tr}_i), D^{\rm te}_i)$$&#10;&#10;\end{document}"/>
  <p:tag name="IGUANATEXSIZE" val="18"/>
  <p:tag name="IGUANATEXCURSOR" val="21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heme/theme1.xml><?xml version="1.0" encoding="utf-8"?>
<a:theme xmlns:a="http://schemas.openxmlformats.org/drawingml/2006/main" name="SUPSI_DACD_CCR_2010">
  <a:themeElements>
    <a:clrScheme name="SUPSI 1">
      <a:dk1>
        <a:srgbClr val="000000"/>
      </a:dk1>
      <a:lt1>
        <a:sysClr val="window" lastClr="FFFFFF"/>
      </a:lt1>
      <a:dk2>
        <a:srgbClr val="141C64"/>
      </a:dk2>
      <a:lt2>
        <a:srgbClr val="FFFFFF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000000"/>
      </a:hlink>
      <a:folHlink>
        <a:srgbClr val="646464"/>
      </a:folHlink>
    </a:clrScheme>
    <a:fontScheme name="SUPSI_DSAS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lIns="0" tIns="0" rIns="0" bIns="0">
        <a:prstTxWarp prst="textNoShape">
          <a:avLst/>
        </a:prstTxWarp>
      </a:bodyPr>
      <a:lstStyle>
        <a:defPPr eaLnBrk="0" hangingPunct="0">
          <a:spcBef>
            <a:spcPct val="20000"/>
          </a:spcBef>
          <a:defRPr sz="1400" kern="0" dirty="0" smtClean="0">
            <a:latin typeface="+mn-lt"/>
            <a:ea typeface="ＭＳ Ｐゴシック" pitchFamily="-112" charset="-128"/>
            <a:cs typeface="ＭＳ Ｐゴシック" pitchFamily="-112" charset="-128"/>
          </a:defRPr>
        </a:defPPr>
      </a:lstStyle>
    </a:txDef>
  </a:objectDefaults>
  <a:extraClrSchemeLst>
    <a:extraClrScheme>
      <a:clrScheme name="SUPSI_DSA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c05fedb-ed2a-4eb3-93de-5f5a6c97bfe0">
      <Terms xmlns="http://schemas.microsoft.com/office/infopath/2007/PartnerControls"/>
    </lcf76f155ced4ddcb4097134ff3c332f>
    <TaxCatchAll xmlns="c69d801c-64cd-49bc-b1b3-ec2496ede09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43B4D0C91CA54E9BBFAD215D4A4FF7" ma:contentTypeVersion="18" ma:contentTypeDescription="Create a new document." ma:contentTypeScope="" ma:versionID="48c4930ddcec7bff74490998dd84a4c1">
  <xsd:schema xmlns:xsd="http://www.w3.org/2001/XMLSchema" xmlns:xs="http://www.w3.org/2001/XMLSchema" xmlns:p="http://schemas.microsoft.com/office/2006/metadata/properties" xmlns:ns2="0c05fedb-ed2a-4eb3-93de-5f5a6c97bfe0" xmlns:ns3="c69d801c-64cd-49bc-b1b3-ec2496ede094" targetNamespace="http://schemas.microsoft.com/office/2006/metadata/properties" ma:root="true" ma:fieldsID="dcb337392c8a5973c5e221652a72fbb4" ns2:_="" ns3:_="">
    <xsd:import namespace="0c05fedb-ed2a-4eb3-93de-5f5a6c97bfe0"/>
    <xsd:import namespace="c69d801c-64cd-49bc-b1b3-ec2496ede0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05fedb-ed2a-4eb3-93de-5f5a6c97bf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ec321eb7-7579-4b0b-aaae-46c07e4320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9d801c-64cd-49bc-b1b3-ec2496ede094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25ad22e3-f7d4-475a-9946-b2f27a0b53ef}" ma:internalName="TaxCatchAll" ma:showField="CatchAllData" ma:web="c69d801c-64cd-49bc-b1b3-ec2496ede09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2A9E72-43F2-4CCE-8F90-EBA4919DBB42}">
  <ds:schemaRefs>
    <ds:schemaRef ds:uri="http://schemas.microsoft.com/office/2006/documentManagement/types"/>
    <ds:schemaRef ds:uri="c69d801c-64cd-49bc-b1b3-ec2496ede094"/>
    <ds:schemaRef ds:uri="http://purl.org/dc/dcmitype/"/>
    <ds:schemaRef ds:uri="http://purl.org/dc/elements/1.1/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0c05fedb-ed2a-4eb3-93de-5f5a6c97bfe0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57E0BBE-38AF-4179-B401-F6E82B6A5F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50C4CF8-8E6C-4481-8DE0-79509E1800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05fedb-ed2a-4eb3-93de-5f5a6c97bfe0"/>
    <ds:schemaRef ds:uri="c69d801c-64cd-49bc-b1b3-ec2496ede0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Powerpoint_ST_CS_1 copia</Template>
  <TotalTime>311</TotalTime>
  <Words>557</Words>
  <Application>Microsoft Macintosh PowerPoint</Application>
  <PresentationFormat>Widescreen</PresentationFormat>
  <Paragraphs>127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ＭＳ Ｐゴシック</vt:lpstr>
      <vt:lpstr>Arial</vt:lpstr>
      <vt:lpstr>Cambria Math</vt:lpstr>
      <vt:lpstr>Times New Roman</vt:lpstr>
      <vt:lpstr>SUPSI_DACD_CCR_2010</vt:lpstr>
      <vt:lpstr>Exercise: Meta Learning for Static Regression</vt:lpstr>
      <vt:lpstr>The “sine” meta learning example</vt:lpstr>
      <vt:lpstr>Meta Learning Setting</vt:lpstr>
      <vt:lpstr>Meta Learning: In-context learning</vt:lpstr>
      <vt:lpstr>In-context learning architecture for static regression</vt:lpstr>
      <vt:lpstr>Performance with meta learning (in-context learning)</vt:lpstr>
      <vt:lpstr>In-context learning architecture for system identification</vt:lpstr>
      <vt:lpstr>Exercise</vt:lpstr>
      <vt:lpstr>Meta Learning with Hyper-Nerworks</vt:lpstr>
      <vt:lpstr>Gradient-Based Meta Learning (MAML)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Utente di Microsoft Office</dc:creator>
  <cp:lastModifiedBy>Forgione Marco</cp:lastModifiedBy>
  <cp:revision>116</cp:revision>
  <dcterms:created xsi:type="dcterms:W3CDTF">2017-01-20T15:44:58Z</dcterms:created>
  <dcterms:modified xsi:type="dcterms:W3CDTF">2026-06-11T16:34:04Z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0x010100E943B4D0C91CA54E9BBFAD215D4A4FF7</vt:lpwstr>
  </property>
  <property fmtid="{D5CDD505-2E9C-101B-9397-08002B2CF9AE}" pid="3" name="MediaServiceImageTags">
    <vt:lpwstr/>
  </property>
</Properties>
</file>
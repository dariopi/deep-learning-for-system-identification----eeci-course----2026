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9" r:id="rId4"/>
  </p:sldMasterIdLst>
  <p:notesMasterIdLst>
    <p:notesMasterId r:id="rId16"/>
  </p:notesMasterIdLst>
  <p:handoutMasterIdLst>
    <p:handoutMasterId r:id="rId17"/>
  </p:handoutMasterIdLst>
  <p:sldIdLst>
    <p:sldId id="258" r:id="rId5"/>
    <p:sldId id="259" r:id="rId6"/>
    <p:sldId id="260" r:id="rId7"/>
    <p:sldId id="261" r:id="rId8"/>
    <p:sldId id="263" r:id="rId9"/>
    <p:sldId id="264" r:id="rId10"/>
    <p:sldId id="265" r:id="rId11"/>
    <p:sldId id="266" r:id="rId12"/>
    <p:sldId id="268" r:id="rId13"/>
    <p:sldId id="267" r:id="rId14"/>
    <p:sldId id="269" r:id="rId15"/>
  </p:sldIdLst>
  <p:sldSz cx="12192000" cy="6858000"/>
  <p:notesSz cx="6858000" cy="9144000"/>
  <p:defaultTextStyle>
    <a:defPPr>
      <a:defRPr lang="it-IT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ＭＳ Ｐゴシック" charset="-128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ＭＳ Ｐゴシック" charset="-128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ＭＳ Ｐゴシック" charset="-128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ＭＳ Ｐゴシック" charset="-128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ＭＳ Ｐゴシック" charset="-128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Arial" charset="0"/>
        <a:ea typeface="ＭＳ Ｐゴシック" charset="-128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Arial" charset="0"/>
        <a:ea typeface="ＭＳ Ｐゴシック" charset="-128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Arial" charset="0"/>
        <a:ea typeface="ＭＳ Ｐゴシック" charset="-128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Arial" charset="0"/>
        <a:ea typeface="ＭＳ Ｐゴシック" charset="-128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B2B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ile medio 2 - Color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5212"/>
    <p:restoredTop sz="94734"/>
  </p:normalViewPr>
  <p:slideViewPr>
    <p:cSldViewPr>
      <p:cViewPr varScale="1">
        <p:scale>
          <a:sx n="150" d="100"/>
          <a:sy n="150" d="100"/>
        </p:scale>
        <p:origin x="1040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ea typeface="+mn-ea"/>
                <a:cs typeface="+mn-cs"/>
              </a:defRPr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57AF82F7-3B33-6D48-9626-CABC5CBE1A55}" type="datetime1">
              <a:rPr lang="it-IT" altLang="x-none"/>
              <a:pPr/>
              <a:t>19/06/26</a:t>
            </a:fld>
            <a:endParaRPr lang="it-IT" altLang="x-none"/>
          </a:p>
        </p:txBody>
      </p:sp>
      <p:sp>
        <p:nvSpPr>
          <p:cNvPr id="4" name="Segnaposto piè di pagina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ea typeface="+mn-ea"/>
                <a:cs typeface="+mn-cs"/>
              </a:defRPr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5" name="Segnaposto numero diapositiva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A3183107-877A-3843-B981-15C7FF01828C}" type="slidenum">
              <a:rPr lang="it-IT" altLang="x-none"/>
              <a:pPr/>
              <a:t>‹#›</a:t>
            </a:fld>
            <a:endParaRPr lang="it-IT" altLang="x-none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ea typeface="+mn-ea"/>
                <a:cs typeface="+mn-cs"/>
              </a:defRPr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ea typeface="+mn-ea"/>
                <a:cs typeface="+mn-cs"/>
              </a:defRPr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1536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717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it-IT" noProof="0"/>
              <a:t>Click to edit Master text styles</a:t>
            </a:r>
          </a:p>
          <a:p>
            <a:pPr lvl="1"/>
            <a:r>
              <a:rPr lang="it-IT" noProof="0"/>
              <a:t>Second level</a:t>
            </a:r>
          </a:p>
          <a:p>
            <a:pPr lvl="2"/>
            <a:r>
              <a:rPr lang="it-IT" noProof="0"/>
              <a:t>Third level</a:t>
            </a:r>
          </a:p>
          <a:p>
            <a:pPr lvl="3"/>
            <a:r>
              <a:rPr lang="it-IT" noProof="0"/>
              <a:t>Fourth level</a:t>
            </a:r>
          </a:p>
          <a:p>
            <a:pPr lvl="4"/>
            <a:r>
              <a:rPr lang="it-IT" noProof="0"/>
              <a:t>Fifth level</a:t>
            </a:r>
          </a:p>
        </p:txBody>
      </p:sp>
      <p:sp>
        <p:nvSpPr>
          <p:cNvPr id="717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ea typeface="+mn-ea"/>
                <a:cs typeface="+mn-cs"/>
              </a:defRPr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717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DBE5DE3-AADE-E24A-8400-E9BC47681F7D}" type="slidenum">
              <a:rPr lang="it-IT" altLang="x-none"/>
              <a:pPr/>
              <a:t>‹#›</a:t>
            </a:fld>
            <a:endParaRPr lang="it-IT" altLang="x-non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-112" charset="0"/>
        <a:ea typeface="ＭＳ Ｐゴシック" pitchFamily="-112" charset="-128"/>
        <a:cs typeface="ＭＳ Ｐゴシック" pitchFamily="-112" charset="-128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-112" charset="0"/>
        <a:ea typeface="ＭＳ Ｐゴシック" pitchFamily="-112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-112" charset="0"/>
        <a:ea typeface="ＭＳ Ｐゴシック" pitchFamily="-112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-112" charset="0"/>
        <a:ea typeface="ＭＳ Ｐゴシック" pitchFamily="-112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-112" charset="0"/>
        <a:ea typeface="ＭＳ Ｐゴシック" pitchFamily="-112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431800" y="1773239"/>
            <a:ext cx="11328400" cy="1584325"/>
          </a:xfrm>
        </p:spPr>
        <p:txBody>
          <a:bodyPr/>
          <a:lstStyle>
            <a:lvl1pPr>
              <a:defRPr sz="4800">
                <a:solidFill>
                  <a:srgbClr val="00B2BD"/>
                </a:solidFill>
              </a:defRPr>
            </a:lvl1pPr>
          </a:lstStyle>
          <a:p>
            <a:r>
              <a:rPr lang="it-IT" dirty="0"/>
              <a:t>Fare clic per modificare stile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431800" y="3357564"/>
            <a:ext cx="11328400" cy="1900237"/>
          </a:xfrm>
        </p:spPr>
        <p:txBody>
          <a:bodyPr/>
          <a:lstStyle>
            <a:lvl1pPr marL="0" indent="0">
              <a:buFontTx/>
              <a:buNone/>
              <a:defRPr/>
            </a:lvl1pPr>
          </a:lstStyle>
          <a:p>
            <a:r>
              <a:rPr lang="it-IT"/>
              <a:t>Fare clic per modificare lo stile del sottotitolo dello schema</a:t>
            </a:r>
            <a:endParaRPr lang="it-IT" dirty="0"/>
          </a:p>
        </p:txBody>
      </p:sp>
      <p:sp>
        <p:nvSpPr>
          <p:cNvPr id="13" name="Segnaposto testo 12"/>
          <p:cNvSpPr>
            <a:spLocks noGrp="1"/>
          </p:cNvSpPr>
          <p:nvPr>
            <p:ph type="body" sz="quarter" idx="13"/>
          </p:nvPr>
        </p:nvSpPr>
        <p:spPr>
          <a:xfrm>
            <a:off x="435909" y="5371909"/>
            <a:ext cx="11329577" cy="952691"/>
          </a:xfrm>
        </p:spPr>
        <p:txBody>
          <a:bodyPr/>
          <a:lstStyle>
            <a:lvl1pPr algn="l">
              <a:buNone/>
              <a:defRPr sz="1800"/>
            </a:lvl1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</p:spTree>
    <p:extLst>
      <p:ext uri="{BB962C8B-B14F-4D97-AF65-F5344CB8AC3E}">
        <p14:creationId xmlns:p14="http://schemas.microsoft.com/office/powerpoint/2010/main" val="4387497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2400">
                <a:solidFill>
                  <a:srgbClr val="00B2BD"/>
                </a:solidFill>
              </a:defRPr>
            </a:lvl1pPr>
          </a:lstStyle>
          <a:p>
            <a:r>
              <a:rPr lang="it-IT" dirty="0"/>
              <a:t>Fare clic per modificare stile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788301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u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2400">
                <a:solidFill>
                  <a:srgbClr val="00B2BD"/>
                </a:solidFill>
              </a:defRPr>
            </a:lvl1pPr>
          </a:lstStyle>
          <a:p>
            <a:r>
              <a:rPr lang="it-IT" dirty="0"/>
              <a:t>Fare clic per modificare stile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sz="half" idx="1"/>
          </p:nvPr>
        </p:nvSpPr>
        <p:spPr>
          <a:xfrm>
            <a:off x="431800" y="1916114"/>
            <a:ext cx="5562600" cy="4321175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it-IT" dirty="0"/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6197600" y="1916114"/>
            <a:ext cx="5562600" cy="4321175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1647931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406400" y="1126800"/>
            <a:ext cx="11379200" cy="579438"/>
          </a:xfrm>
        </p:spPr>
        <p:txBody>
          <a:bodyPr/>
          <a:lstStyle>
            <a:lvl1pPr>
              <a:defRPr sz="2400">
                <a:solidFill>
                  <a:srgbClr val="00B2BD"/>
                </a:solidFill>
              </a:defRPr>
            </a:lvl1pPr>
          </a:lstStyle>
          <a:p>
            <a:r>
              <a:rPr lang="it-IT" dirty="0"/>
              <a:t>Fare clic per modificare stile</a:t>
            </a:r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406400" y="1752600"/>
            <a:ext cx="5590117" cy="639762"/>
          </a:xfrm>
        </p:spPr>
        <p:txBody>
          <a:bodyPr/>
          <a:lstStyle>
            <a:lvl1pPr marL="0" indent="0">
              <a:buNone/>
              <a:defRPr sz="18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406400" y="2438400"/>
            <a:ext cx="5590117" cy="3687763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it-IT" dirty="0"/>
          </a:p>
        </p:txBody>
      </p:sp>
      <p:sp>
        <p:nvSpPr>
          <p:cNvPr id="5" name="Segnaposto testo 4"/>
          <p:cNvSpPr>
            <a:spLocks noGrp="1"/>
          </p:cNvSpPr>
          <p:nvPr>
            <p:ph type="body" sz="quarter" idx="3"/>
          </p:nvPr>
        </p:nvSpPr>
        <p:spPr>
          <a:xfrm>
            <a:off x="6193368" y="1752600"/>
            <a:ext cx="5592233" cy="639762"/>
          </a:xfrm>
        </p:spPr>
        <p:txBody>
          <a:bodyPr/>
          <a:lstStyle>
            <a:lvl1pPr marL="0" indent="0">
              <a:buNone/>
              <a:defRPr sz="18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Segnaposto contenuto 5"/>
          <p:cNvSpPr>
            <a:spLocks noGrp="1"/>
          </p:cNvSpPr>
          <p:nvPr>
            <p:ph sz="quarter" idx="4"/>
          </p:nvPr>
        </p:nvSpPr>
        <p:spPr>
          <a:xfrm>
            <a:off x="6193368" y="2438400"/>
            <a:ext cx="5592233" cy="3687763"/>
          </a:xfrm>
        </p:spPr>
        <p:txBody>
          <a:bodyPr>
            <a:no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buNone/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fr-CH" dirty="0"/>
          </a:p>
        </p:txBody>
      </p:sp>
    </p:spTree>
    <p:extLst>
      <p:ext uri="{BB962C8B-B14F-4D97-AF65-F5344CB8AC3E}">
        <p14:creationId xmlns:p14="http://schemas.microsoft.com/office/powerpoint/2010/main" val="2172266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407999" y="1125539"/>
            <a:ext cx="11355023" cy="719137"/>
          </a:xfrm>
        </p:spPr>
        <p:txBody>
          <a:bodyPr/>
          <a:lstStyle>
            <a:lvl1pPr>
              <a:defRPr sz="2400">
                <a:solidFill>
                  <a:srgbClr val="00B2BD"/>
                </a:solidFill>
              </a:defRPr>
            </a:lvl1pPr>
          </a:lstStyle>
          <a:p>
            <a:r>
              <a:rPr lang="it-IT" dirty="0"/>
              <a:t>Fare clic per modificare stile</a:t>
            </a:r>
          </a:p>
        </p:txBody>
      </p:sp>
    </p:spTree>
    <p:extLst>
      <p:ext uri="{BB962C8B-B14F-4D97-AF65-F5344CB8AC3E}">
        <p14:creationId xmlns:p14="http://schemas.microsoft.com/office/powerpoint/2010/main" val="2063587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u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55053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435114" y="1127797"/>
            <a:ext cx="4035287" cy="914400"/>
          </a:xfrm>
        </p:spPr>
        <p:txBody>
          <a:bodyPr/>
          <a:lstStyle>
            <a:lvl1pPr algn="l">
              <a:defRPr sz="2400" b="0">
                <a:solidFill>
                  <a:srgbClr val="00B2BD"/>
                </a:solidFill>
              </a:defRPr>
            </a:lvl1pPr>
          </a:lstStyle>
          <a:p>
            <a:r>
              <a:rPr lang="it-IT" dirty="0"/>
              <a:t>Fare clic per modificare stile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4766734" y="1126800"/>
            <a:ext cx="6993093" cy="4995525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it-IT" dirty="0"/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435115" y="2133601"/>
            <a:ext cx="4035285" cy="3992563"/>
          </a:xfrm>
        </p:spPr>
        <p:txBody>
          <a:bodyPr/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</p:spTree>
    <p:extLst>
      <p:ext uri="{BB962C8B-B14F-4D97-AF65-F5344CB8AC3E}">
        <p14:creationId xmlns:p14="http://schemas.microsoft.com/office/powerpoint/2010/main" val="4223618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406400" y="4800600"/>
            <a:ext cx="11359085" cy="566738"/>
          </a:xfrm>
        </p:spPr>
        <p:txBody>
          <a:bodyPr/>
          <a:lstStyle>
            <a:lvl1pPr algn="l">
              <a:defRPr sz="2400" b="0">
                <a:solidFill>
                  <a:srgbClr val="00B2BD"/>
                </a:solidFill>
              </a:defRPr>
            </a:lvl1pPr>
          </a:lstStyle>
          <a:p>
            <a:r>
              <a:rPr lang="it-IT" dirty="0"/>
              <a:t>Fare clic per modificare stile</a:t>
            </a:r>
          </a:p>
        </p:txBody>
      </p:sp>
      <p:sp>
        <p:nvSpPr>
          <p:cNvPr id="3" name="Segnaposto immagine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it-IT" noProof="0"/>
              <a:t>Trascinare l'immagine su un segnaposto o fare clic sull'icona per aggiungerla</a:t>
            </a:r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406400" y="5367338"/>
            <a:ext cx="11359085" cy="804862"/>
          </a:xfrm>
        </p:spPr>
        <p:txBody>
          <a:bodyPr/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</p:spTree>
    <p:extLst>
      <p:ext uri="{BB962C8B-B14F-4D97-AF65-F5344CB8AC3E}">
        <p14:creationId xmlns:p14="http://schemas.microsoft.com/office/powerpoint/2010/main" val="12016049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magine 1">
            <a:extLst>
              <a:ext uri="{FF2B5EF4-FFF2-40B4-BE49-F238E27FC236}">
                <a16:creationId xmlns:a16="http://schemas.microsoft.com/office/drawing/2014/main" id="{6AFCF993-D11C-B448-A99B-84A5F27957B2}"/>
              </a:ext>
            </a:extLst>
          </p:cNvPr>
          <p:cNvPicPr>
            <a:picLocks noChangeAspect="1"/>
          </p:cNvPicPr>
          <p:nvPr userDrawn="1"/>
        </p:nvPicPr>
        <p:blipFill>
          <a:blip r:embed="rId10"/>
          <a:srcRect/>
          <a:stretch/>
        </p:blipFill>
        <p:spPr>
          <a:xfrm>
            <a:off x="-6036" y="0"/>
            <a:ext cx="12192000" cy="6858000"/>
          </a:xfrm>
          <a:prstGeom prst="rect">
            <a:avLst/>
          </a:prstGeom>
        </p:spPr>
      </p:pic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31800" y="1125539"/>
            <a:ext cx="11328400" cy="719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it-IT" altLang="x-none" dirty="0"/>
              <a:t>Fare clic per modificare stile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31800" y="1916114"/>
            <a:ext cx="11328400" cy="4321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it-IT" altLang="x-none"/>
              <a:t>Fare clic per modificare gli stili del testo dello schema</a:t>
            </a:r>
          </a:p>
          <a:p>
            <a:pPr lvl="1"/>
            <a:r>
              <a:rPr lang="it-IT" altLang="x-none"/>
              <a:t>Secondo livello</a:t>
            </a:r>
          </a:p>
          <a:p>
            <a:pPr lvl="2"/>
            <a:r>
              <a:rPr lang="it-IT" altLang="x-none"/>
              <a:t>Terzo livello</a:t>
            </a:r>
          </a:p>
          <a:p>
            <a:pPr lvl="3"/>
            <a:r>
              <a:rPr lang="it-IT" altLang="x-none"/>
              <a:t>Quarto livello</a:t>
            </a:r>
          </a:p>
          <a:p>
            <a:pPr lvl="4"/>
            <a:r>
              <a:rPr lang="it-IT" altLang="x-none"/>
              <a:t>Quinto livello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147" r:id="rId1"/>
    <p:sldLayoutId id="2147484140" r:id="rId2"/>
    <p:sldLayoutId id="2147484141" r:id="rId3"/>
    <p:sldLayoutId id="2147484142" r:id="rId4"/>
    <p:sldLayoutId id="2147484143" r:id="rId5"/>
    <p:sldLayoutId id="2147484144" r:id="rId6"/>
    <p:sldLayoutId id="2147484145" r:id="rId7"/>
    <p:sldLayoutId id="2147484146" r:id="rId8"/>
  </p:sldLayoutIdLst>
  <p:hf hdr="0" ftr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2400">
          <a:solidFill>
            <a:srgbClr val="00B2BD"/>
          </a:solidFill>
          <a:latin typeface="+mj-lt"/>
          <a:ea typeface="ＭＳ Ｐゴシック" pitchFamily="-112" charset="-128"/>
          <a:cs typeface="ＭＳ Ｐゴシック" pitchFamily="-112" charset="-128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2400">
          <a:solidFill>
            <a:schemeClr val="accent2"/>
          </a:solidFill>
          <a:latin typeface="Times New Roman" pitchFamily="-112" charset="-52"/>
          <a:ea typeface="ＭＳ Ｐゴシック" pitchFamily="-112" charset="-128"/>
          <a:cs typeface="ＭＳ Ｐゴシック" pitchFamily="-112" charset="-128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2400">
          <a:solidFill>
            <a:schemeClr val="accent2"/>
          </a:solidFill>
          <a:latin typeface="Times New Roman" pitchFamily="-112" charset="-52"/>
          <a:ea typeface="ＭＳ Ｐゴシック" pitchFamily="-112" charset="-128"/>
          <a:cs typeface="ＭＳ Ｐゴシック" pitchFamily="-112" charset="-128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2400">
          <a:solidFill>
            <a:schemeClr val="accent2"/>
          </a:solidFill>
          <a:latin typeface="Times New Roman" pitchFamily="-112" charset="-52"/>
          <a:ea typeface="ＭＳ Ｐゴシック" pitchFamily="-112" charset="-128"/>
          <a:cs typeface="ＭＳ Ｐゴシック" pitchFamily="-112" charset="-128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2400">
          <a:solidFill>
            <a:schemeClr val="accent2"/>
          </a:solidFill>
          <a:latin typeface="Times New Roman" pitchFamily="-112" charset="-52"/>
          <a:ea typeface="ＭＳ Ｐゴシック" pitchFamily="-112" charset="-128"/>
          <a:cs typeface="ＭＳ Ｐゴシック" pitchFamily="-112" charset="-128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accent2"/>
          </a:solidFill>
          <a:latin typeface="Times New Roman" pitchFamily="-112" charset="-52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accent2"/>
          </a:solidFill>
          <a:latin typeface="Times New Roman" pitchFamily="-112" charset="-52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accent2"/>
          </a:solidFill>
          <a:latin typeface="Times New Roman" pitchFamily="-112" charset="-52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accent2"/>
          </a:solidFill>
          <a:latin typeface="Times New Roman" pitchFamily="-112" charset="-52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>
          <a:solidFill>
            <a:schemeClr val="tx1"/>
          </a:solidFill>
          <a:latin typeface="+mn-lt"/>
          <a:ea typeface="ＭＳ Ｐゴシック" pitchFamily="-112" charset="-128"/>
          <a:cs typeface="ＭＳ Ｐゴシック" pitchFamily="-112" charset="-128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>
          <a:solidFill>
            <a:schemeClr val="tx1"/>
          </a:solidFill>
          <a:latin typeface="+mn-lt"/>
          <a:ea typeface="ＭＳ Ｐゴシック" pitchFamily="-112" charset="-128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>
          <a:solidFill>
            <a:schemeClr val="tx1"/>
          </a:solidFill>
          <a:latin typeface="+mn-lt"/>
          <a:ea typeface="ＭＳ Ｐゴシック" pitchFamily="-112" charset="-128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>
          <a:solidFill>
            <a:schemeClr val="tx1"/>
          </a:solidFill>
          <a:latin typeface="+mn-lt"/>
          <a:ea typeface="ＭＳ Ｐゴシック" pitchFamily="-112" charset="-128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+mn-lt"/>
          <a:ea typeface="ＭＳ Ｐゴシック" pitchFamily="-112" charset="-128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1200">
          <a:solidFill>
            <a:schemeClr val="tx1"/>
          </a:solidFill>
          <a:latin typeface="+mn-lt"/>
          <a:ea typeface="ＭＳ Ｐゴシック" pitchFamily="-112" charset="-128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1200">
          <a:solidFill>
            <a:schemeClr val="tx1"/>
          </a:solidFill>
          <a:latin typeface="+mn-lt"/>
          <a:ea typeface="ＭＳ Ｐゴシック" pitchFamily="-112" charset="-128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1200">
          <a:solidFill>
            <a:schemeClr val="tx1"/>
          </a:solidFill>
          <a:latin typeface="+mn-lt"/>
          <a:ea typeface="ＭＳ Ｐゴシック" pitchFamily="-112" charset="-128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1200">
          <a:solidFill>
            <a:schemeClr val="tx1"/>
          </a:solidFill>
          <a:latin typeface="+mn-lt"/>
          <a:ea typeface="ＭＳ Ｐゴシック" pitchFamily="-112" charset="-128"/>
        </a:defRPr>
      </a:lvl9pPr>
    </p:bodyStyle>
    <p:otherStyle>
      <a:defPPr>
        <a:defRPr lang="it-IT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image" Target="../media/image4.png"/><Relationship Id="rId5" Type="http://schemas.openxmlformats.org/officeDocument/2006/relationships/image" Target="../media/image3.emf"/><Relationship Id="rId4" Type="http://schemas.openxmlformats.org/officeDocument/2006/relationships/image" Target="../media/image2.emf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emf"/><Relationship Id="rId3" Type="http://schemas.openxmlformats.org/officeDocument/2006/relationships/slideLayout" Target="../slideLayouts/slideLayout2.xml"/><Relationship Id="rId7" Type="http://schemas.openxmlformats.org/officeDocument/2006/relationships/image" Target="../media/image17.emf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hyperlink" Target="https://www.nonlinearbenchmark.org/benchmarks/emps" TargetMode="Externa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tags" Target="../tags/tag7.xml"/><Relationship Id="rId7" Type="http://schemas.openxmlformats.org/officeDocument/2006/relationships/image" Target="../media/image23.emf"/><Relationship Id="rId2" Type="http://schemas.openxmlformats.org/officeDocument/2006/relationships/tags" Target="../tags/tag6.xml"/><Relationship Id="rId1" Type="http://schemas.openxmlformats.org/officeDocument/2006/relationships/tags" Target="../tags/tag5.xml"/><Relationship Id="rId6" Type="http://schemas.openxmlformats.org/officeDocument/2006/relationships/image" Target="../media/image22.emf"/><Relationship Id="rId5" Type="http://schemas.openxmlformats.org/officeDocument/2006/relationships/image" Target="../media/image21.png"/><Relationship Id="rId4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9.xml"/><Relationship Id="rId1" Type="http://schemas.openxmlformats.org/officeDocument/2006/relationships/tags" Target="../tags/tag8.xml"/><Relationship Id="rId6" Type="http://schemas.openxmlformats.org/officeDocument/2006/relationships/image" Target="../media/image27.png"/><Relationship Id="rId5" Type="http://schemas.openxmlformats.org/officeDocument/2006/relationships/image" Target="../media/image26.emf"/><Relationship Id="rId4" Type="http://schemas.openxmlformats.org/officeDocument/2006/relationships/image" Target="../media/image2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emf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0.xml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emf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1.xml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ito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CH" altLang="x-none" sz="4400" dirty="0" err="1">
                <a:solidFill>
                  <a:srgbClr val="00B2BD"/>
                </a:solidFill>
                <a:ea typeface="ＭＳ Ｐゴシック" charset="-128"/>
              </a:rPr>
              <a:t>Regression</a:t>
            </a:r>
            <a:r>
              <a:rPr lang="fr-CH" altLang="x-none" sz="4400" dirty="0">
                <a:solidFill>
                  <a:srgbClr val="00B2BD"/>
                </a:solidFill>
                <a:ea typeface="ＭＳ Ｐゴシック" charset="-128"/>
              </a:rPr>
              <a:t> </a:t>
            </a:r>
            <a:r>
              <a:rPr lang="fr-CH" altLang="x-none" sz="4400" dirty="0" err="1">
                <a:solidFill>
                  <a:srgbClr val="00B2BD"/>
                </a:solidFill>
                <a:ea typeface="ＭＳ Ｐゴシック" charset="-128"/>
              </a:rPr>
              <a:t>with</a:t>
            </a:r>
            <a:r>
              <a:rPr lang="fr-CH" altLang="x-none" sz="4400" dirty="0">
                <a:solidFill>
                  <a:srgbClr val="00B2BD"/>
                </a:solidFill>
                <a:ea typeface="ＭＳ Ｐゴシック" charset="-128"/>
              </a:rPr>
              <a:t> </a:t>
            </a:r>
            <a:r>
              <a:rPr lang="fr-CH" altLang="x-none" sz="4400" dirty="0" err="1">
                <a:solidFill>
                  <a:srgbClr val="00B2BD"/>
                </a:solidFill>
                <a:ea typeface="ＭＳ Ｐゴシック" charset="-128"/>
              </a:rPr>
              <a:t>Feedforward</a:t>
            </a:r>
            <a:r>
              <a:rPr lang="fr-CH" altLang="x-none" sz="4400" dirty="0">
                <a:solidFill>
                  <a:srgbClr val="00B2BD"/>
                </a:solidFill>
                <a:ea typeface="ＭＳ Ｐゴシック" charset="-128"/>
              </a:rPr>
              <a:t> Neural Networks</a:t>
            </a:r>
            <a:br>
              <a:rPr lang="fr-CH" altLang="x-none" sz="4400" dirty="0">
                <a:solidFill>
                  <a:srgbClr val="00B2BD"/>
                </a:solidFill>
                <a:ea typeface="ＭＳ Ｐゴシック" charset="-128"/>
              </a:rPr>
            </a:br>
            <a:endParaRPr lang="x-none" altLang="x-none" sz="4400">
              <a:solidFill>
                <a:srgbClr val="00B2BD"/>
              </a:solidFill>
              <a:ea typeface="ＭＳ Ｐゴシック" charset="-128"/>
            </a:endParaRPr>
          </a:p>
        </p:txBody>
      </p:sp>
      <p:sp>
        <p:nvSpPr>
          <p:cNvPr id="16387" name="Sottotitolo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x-none" dirty="0">
                <a:ea typeface="ＭＳ Ｐゴシック" charset="-128"/>
              </a:rPr>
              <a:t>Exercises in PyTorch</a:t>
            </a:r>
            <a:endParaRPr lang="x-none" altLang="x-none">
              <a:ea typeface="ＭＳ Ｐゴシック" charset="-128"/>
            </a:endParaRPr>
          </a:p>
        </p:txBody>
      </p:sp>
      <p:sp>
        <p:nvSpPr>
          <p:cNvPr id="16390" name="Segnaposto testo 5"/>
          <p:cNvSpPr>
            <a:spLocks noGrp="1"/>
          </p:cNvSpPr>
          <p:nvPr>
            <p:ph type="body" sz="quarter" idx="13"/>
          </p:nvPr>
        </p:nvSpPr>
        <p:spPr>
          <a:xfrm>
            <a:off x="431800" y="5372100"/>
            <a:ext cx="11328400" cy="952500"/>
          </a:xfrm>
        </p:spPr>
        <p:txBody>
          <a:bodyPr/>
          <a:lstStyle/>
          <a:p>
            <a:r>
              <a:rPr lang="en-US" dirty="0">
                <a:latin typeface="Trebuchet MS" charset="0"/>
                <a:ea typeface="Trebuchet MS" charset="0"/>
                <a:cs typeface="Trebuchet MS" charset="0"/>
              </a:rPr>
              <a:t>Marco Forgione, Dalle Molle Institute for Artificial Intelligence, USI-SUPSI, Lugano, Switzerland</a:t>
            </a:r>
            <a:endParaRPr lang="en-GB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E5F9FC-F866-BB65-58D8-D66B45F390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2D regression on synthetic data (</a:t>
            </a:r>
            <a:r>
              <a:rPr lang="en-US"/>
              <a:t>synthetic_2d </a:t>
            </a:r>
            <a:r>
              <a:rPr lang="en-US" dirty="0"/>
              <a:t>folder)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B05CF2-6073-6C99-1D2C-B5E2D56EC15F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Consider the 2D function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Training and test datasets: 500 points uniformly sampled in the domain.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Additive noise with standard deviation 0.1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 </a:t>
            </a:r>
          </a:p>
        </p:txBody>
      </p:sp>
      <p:pic>
        <p:nvPicPr>
          <p:cNvPr id="15" name="Picture 14" descr="\documentclass{article}&#10;\usepackage{amsmath}&#10;\usepackage{amsfonts}&#10;&#10;\pagestyle{empty}&#10;&#10;\begin{document}&#10;&#10;% $$f : \mathbb{R}^2 \rightarrow \mathbb{R}; \qquad x \rightarrow 2\sin (x_1) - 3\cos (x_2)$$&#10;&#10;$$ f(x) = 2\sin (x_1) - 3\cos (x_2) $$&#10;$$ x \in [-2, 2]^2 \subset \mathbb{R}^2$$&#10;&#10;\end{document}" title="IguanaTex Bitmap Display">
            <a:extLst>
              <a:ext uri="{FF2B5EF4-FFF2-40B4-BE49-F238E27FC236}">
                <a16:creationId xmlns:a16="http://schemas.microsoft.com/office/drawing/2014/main" id="{80CC267D-3EC5-EA07-1A32-744B63959DF4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1348484" y="2564904"/>
            <a:ext cx="2880320" cy="683466"/>
          </a:xfrm>
          <a:prstGeom prst="rect">
            <a:avLst/>
          </a:prstGeom>
        </p:spPr>
      </p:pic>
      <p:pic>
        <p:nvPicPr>
          <p:cNvPr id="29" name="Picture 28" descr="\documentclass{article}&#10;\usepackage{amsmath}&#10;\usepackage{amsfonts}&#10;&#10;\pagestyle{empty}&#10;&#10;\begin{document}&#10;&#10;\begin{equation*}&#10;f : \mathbb{R}^2 \rightarrow \mathbb{R}&#10;\end{equation*}&#10;&#10;\end{document}" title="IguanaTex Bitmap Display">
            <a:extLst>
              <a:ext uri="{FF2B5EF4-FFF2-40B4-BE49-F238E27FC236}">
                <a16:creationId xmlns:a16="http://schemas.microsoft.com/office/drawing/2014/main" id="{01ED47AF-BE2A-E7E9-9716-0E6F20B51B3D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3143672" y="1916114"/>
            <a:ext cx="1219200" cy="279400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7632B98A-5FA7-9C26-A837-54245EF6E60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40676" y="1628800"/>
            <a:ext cx="3600400" cy="37209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05244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7804E7-0721-7149-948A-85259177F9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H" dirty="0"/>
              <a:t>Feed-forward neural network model</a:t>
            </a:r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6E4D8950-C0BF-A6A6-09C7-4106EAE27FE6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5375920" y="1284628"/>
            <a:ext cx="4807663" cy="4894329"/>
          </a:xfr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3" name="Content Placeholder 2">
                <a:extLst>
                  <a:ext uri="{FF2B5EF4-FFF2-40B4-BE49-F238E27FC236}">
                    <a16:creationId xmlns:a16="http://schemas.microsoft.com/office/drawing/2014/main" id="{97F13347-09B8-E160-C192-94DD0224C3C6}"/>
                  </a:ext>
                </a:extLst>
              </p:cNvPr>
              <p:cNvSpPr txBox="1">
                <a:spLocks/>
              </p:cNvSpPr>
              <p:nvPr/>
            </p:nvSpPr>
            <p:spPr bwMode="auto">
              <a:xfrm>
                <a:off x="431800" y="1916114"/>
                <a:ext cx="6116866" cy="432117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FAA26D3D-D897-4be2-8F04-BA451C77F1D7}">
                  <ma14:placeholderFlag xmlns:ma14="http://schemas.microsoft.com/office/mac/drawingml/2011/main" xmlns="" val="1"/>
                </a:ext>
              </a:extLst>
            </p:spPr>
            <p:txBody>
              <a:bodyPr vert="horz" wrap="square" lIns="0" tIns="0" rIns="0" bIns="0" numCol="1" anchor="t" anchorCtr="0" compatLnSpc="1">
                <a:prstTxWarp prst="textNoShape">
                  <a:avLst/>
                </a:prstTxWarp>
              </a:bodyPr>
              <a:lstStyle>
                <a:lvl1pPr marL="342900" indent="-3429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•"/>
                  <a:defRPr sz="1800">
                    <a:solidFill>
                      <a:schemeClr val="tx1"/>
                    </a:solidFill>
                    <a:latin typeface="+mn-lt"/>
                    <a:ea typeface="ＭＳ Ｐゴシック" pitchFamily="-112" charset="-128"/>
                    <a:cs typeface="ＭＳ Ｐゴシック" pitchFamily="-112" charset="-128"/>
                  </a:defRPr>
                </a:lvl1pPr>
                <a:lvl2pPr marL="742950" indent="-28575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–"/>
                  <a:defRPr sz="1800">
                    <a:solidFill>
                      <a:schemeClr val="tx1"/>
                    </a:solidFill>
                    <a:latin typeface="+mn-lt"/>
                    <a:ea typeface="ＭＳ Ｐゴシック" pitchFamily="-112" charset="-128"/>
                  </a:defRPr>
                </a:lvl2pPr>
                <a:lvl3pPr marL="1143000" indent="-2286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•"/>
                  <a:defRPr sz="1800">
                    <a:solidFill>
                      <a:schemeClr val="tx1"/>
                    </a:solidFill>
                    <a:latin typeface="+mn-lt"/>
                    <a:ea typeface="ＭＳ Ｐゴシック" pitchFamily="-112" charset="-128"/>
                  </a:defRPr>
                </a:lvl3pPr>
                <a:lvl4pPr marL="1600200" indent="-2286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–"/>
                  <a:defRPr sz="1800">
                    <a:solidFill>
                      <a:schemeClr val="tx1"/>
                    </a:solidFill>
                    <a:latin typeface="+mn-lt"/>
                    <a:ea typeface="ＭＳ Ｐゴシック" pitchFamily="-112" charset="-128"/>
                  </a:defRPr>
                </a:lvl4pPr>
                <a:lvl5pPr marL="2057400" indent="-2286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»"/>
                  <a:defRPr sz="1800">
                    <a:solidFill>
                      <a:schemeClr val="tx1"/>
                    </a:solidFill>
                    <a:latin typeface="+mn-lt"/>
                    <a:ea typeface="ＭＳ Ｐゴシック" pitchFamily="-112" charset="-128"/>
                  </a:defRPr>
                </a:lvl5pPr>
                <a:lvl6pPr marL="2514600" indent="-2286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»"/>
                  <a:defRPr sz="1800">
                    <a:solidFill>
                      <a:schemeClr val="tx1"/>
                    </a:solidFill>
                    <a:latin typeface="+mn-lt"/>
                    <a:ea typeface="ＭＳ Ｐゴシック" pitchFamily="-112" charset="-128"/>
                  </a:defRPr>
                </a:lvl6pPr>
                <a:lvl7pPr marL="2971800" indent="-2286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»"/>
                  <a:defRPr sz="1800">
                    <a:solidFill>
                      <a:schemeClr val="tx1"/>
                    </a:solidFill>
                    <a:latin typeface="+mn-lt"/>
                    <a:ea typeface="ＭＳ Ｐゴシック" pitchFamily="-112" charset="-128"/>
                  </a:defRPr>
                </a:lvl7pPr>
                <a:lvl8pPr marL="3429000" indent="-2286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»"/>
                  <a:defRPr sz="1800">
                    <a:solidFill>
                      <a:schemeClr val="tx1"/>
                    </a:solidFill>
                    <a:latin typeface="+mn-lt"/>
                    <a:ea typeface="ＭＳ Ｐゴシック" pitchFamily="-112" charset="-128"/>
                  </a:defRPr>
                </a:lvl8pPr>
                <a:lvl9pPr marL="3886200" indent="-2286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»"/>
                  <a:defRPr sz="1800">
                    <a:solidFill>
                      <a:schemeClr val="tx1"/>
                    </a:solidFill>
                    <a:latin typeface="+mn-lt"/>
                    <a:ea typeface="ＭＳ Ｐゴシック" pitchFamily="-112" charset="-128"/>
                  </a:defRPr>
                </a:lvl9pPr>
              </a:lstStyle>
              <a:p>
                <a:r>
                  <a:rPr lang="en-US" kern="0" dirty="0"/>
                  <a:t>2 inputs, 1 output - this is the structure of </a:t>
                </a:r>
                <a14:m>
                  <m:oMath xmlns:m="http://schemas.openxmlformats.org/officeDocument/2006/math">
                    <m:r>
                      <a:rPr lang="en-US" b="0" i="1" kern="0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b="0" i="1" kern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kern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kern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kern="0" dirty="0"/>
              </a:p>
              <a:p>
                <a:r>
                  <a:rPr lang="en-US" kern="0" dirty="0"/>
                  <a:t>2 hidden layers with [16, 8] neurons</a:t>
                </a:r>
              </a:p>
              <a:p>
                <a:r>
                  <a:rPr lang="en-US" kern="0" dirty="0"/>
                  <a:t>tanh non-linearities</a:t>
                </a:r>
              </a:p>
              <a:p>
                <a:pPr marL="0" indent="0">
                  <a:buFontTx/>
                  <a:buNone/>
                </a:pPr>
                <a:endParaRPr lang="en-US" kern="0" dirty="0"/>
              </a:p>
              <a:p>
                <a:pPr marL="0" indent="0">
                  <a:buFontTx/>
                  <a:buNone/>
                </a:pPr>
                <a:endParaRPr lang="en-US" kern="0" dirty="0"/>
              </a:p>
              <a:p>
                <a:pPr marL="0" indent="0">
                  <a:buFontTx/>
                  <a:buNone/>
                </a:pPr>
                <a:r>
                  <a:rPr lang="en-US" kern="0" dirty="0"/>
                  <a:t> </a:t>
                </a:r>
              </a:p>
            </p:txBody>
          </p:sp>
        </mc:Choice>
        <mc:Fallback xmlns="">
          <p:sp>
            <p:nvSpPr>
              <p:cNvPr id="13" name="Content Placeholder 2">
                <a:extLst>
                  <a:ext uri="{FF2B5EF4-FFF2-40B4-BE49-F238E27FC236}">
                    <a16:creationId xmlns:a16="http://schemas.microsoft.com/office/drawing/2014/main" id="{97F13347-09B8-E160-C192-94DD0224C3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31800" y="1916114"/>
                <a:ext cx="6116866" cy="4321175"/>
              </a:xfrm>
              <a:prstGeom prst="rect">
                <a:avLst/>
              </a:prstGeom>
              <a:blipFill>
                <a:blip r:embed="rId3"/>
                <a:stretch>
                  <a:fillRect l="-2075" t="-1754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FAA26D3D-D897-4be2-8F04-BA451C77F1D7}">
                  <ma14:placeholderFlag xmlns:ma14="http://schemas.microsoft.com/office/mac/drawingml/2011/main" xmlns="" val="1"/>
                </a:ext>
              </a:extLst>
            </p:spPr>
            <p:txBody>
              <a:bodyPr/>
              <a:lstStyle/>
              <a:p>
                <a:r>
                  <a:rPr lang="en-CH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0" name="Picture 19" descr="A picture containing chart&#10;&#10;Description automatically generated">
            <a:extLst>
              <a:ext uri="{FF2B5EF4-FFF2-40B4-BE49-F238E27FC236}">
                <a16:creationId xmlns:a16="http://schemas.microsoft.com/office/drawing/2014/main" id="{C9EC537F-D1C5-9BBC-10B7-32B245F7D31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08368" y="2060848"/>
            <a:ext cx="1697177" cy="841053"/>
          </a:xfrm>
          <a:prstGeom prst="rect">
            <a:avLst/>
          </a:prstGeom>
        </p:spPr>
      </p:pic>
      <p:sp>
        <p:nvSpPr>
          <p:cNvPr id="21" name="Isosceles Triangle 24">
            <a:extLst>
              <a:ext uri="{FF2B5EF4-FFF2-40B4-BE49-F238E27FC236}">
                <a16:creationId xmlns:a16="http://schemas.microsoft.com/office/drawing/2014/main" id="{70B74A45-9947-2966-FE8C-6778609000ED}"/>
              </a:ext>
            </a:extLst>
          </p:cNvPr>
          <p:cNvSpPr/>
          <p:nvPr/>
        </p:nvSpPr>
        <p:spPr>
          <a:xfrm rot="16200000">
            <a:off x="8421504" y="2111608"/>
            <a:ext cx="896357" cy="794837"/>
          </a:xfrm>
          <a:prstGeom prst="triangle">
            <a:avLst>
              <a:gd name="adj" fmla="val 49470"/>
            </a:avLst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dirty="0"/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D5CCF408-6AA1-6F29-478B-FCD446C5910A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839416" y="3647735"/>
            <a:ext cx="3846736" cy="21346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74535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7AE7B4-6CB6-3ABE-5938-867583A2DA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800" y="1125539"/>
            <a:ext cx="4584080" cy="719137"/>
          </a:xfrm>
        </p:spPr>
        <p:txBody>
          <a:bodyPr/>
          <a:lstStyle/>
          <a:p>
            <a:r>
              <a:rPr lang="en-CH" dirty="0"/>
              <a:t>Model training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37B83810-1EB9-EBC1-02D0-F95DAFAD6D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28048" y="1844676"/>
            <a:ext cx="4248472" cy="346626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AD758A9-DDCF-C472-543A-77E7A1B04E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1384" y="1844676"/>
            <a:ext cx="5268219" cy="21609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5271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EBB37C-6113-EED2-058E-0505CCF595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800" y="1052736"/>
            <a:ext cx="11328400" cy="719137"/>
          </a:xfrm>
        </p:spPr>
        <p:txBody>
          <a:bodyPr/>
          <a:lstStyle/>
          <a:p>
            <a:r>
              <a:rPr lang="en-CH" kern="0" dirty="0"/>
              <a:t>Model evaluation</a:t>
            </a:r>
            <a:endParaRPr lang="en-CH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E8249AE-A792-8844-978A-35D4858BE99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9076294" y="1266402"/>
            <a:ext cx="2580692" cy="201967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95D232C-CB44-6982-EE87-9F005982651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065670" y="1199843"/>
            <a:ext cx="2969424" cy="238390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9447361-1382-758F-863C-EF6F4421EFB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36360" y="3654664"/>
            <a:ext cx="2621112" cy="245122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1DD11E5-2088-AE16-D69D-7AF3CF055CC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0" y="3583746"/>
            <a:ext cx="2772777" cy="2593060"/>
          </a:xfrm>
          <a:prstGeom prst="rect">
            <a:avLst/>
          </a:prstGeom>
        </p:spPr>
      </p:pic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C9E5B0C4-5B6B-65BD-FC4E-71A373CD028A}"/>
              </a:ext>
            </a:extLst>
          </p:cNvPr>
          <p:cNvSpPr txBox="1">
            <a:spLocks/>
          </p:cNvSpPr>
          <p:nvPr/>
        </p:nvSpPr>
        <p:spPr bwMode="auto">
          <a:xfrm>
            <a:off x="431799" y="1916114"/>
            <a:ext cx="5566099" cy="4321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1800">
                <a:solidFill>
                  <a:schemeClr val="tx1"/>
                </a:solidFill>
                <a:latin typeface="+mn-lt"/>
                <a:ea typeface="ＭＳ Ｐゴシック" pitchFamily="-112" charset="-128"/>
                <a:cs typeface="ＭＳ Ｐゴシック" pitchFamily="-112" charset="-128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+mn-lt"/>
                <a:ea typeface="ＭＳ Ｐゴシック" pitchFamily="-112" charset="-128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1800">
                <a:solidFill>
                  <a:schemeClr val="tx1"/>
                </a:solidFill>
                <a:latin typeface="+mn-lt"/>
                <a:ea typeface="ＭＳ Ｐゴシック" pitchFamily="-112" charset="-128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+mn-lt"/>
                <a:ea typeface="ＭＳ Ｐゴシック" pitchFamily="-112" charset="-128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ＭＳ Ｐゴシック" pitchFamily="-112" charset="-128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ＭＳ Ｐゴシック" pitchFamily="-112" charset="-128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ＭＳ Ｐゴシック" pitchFamily="-112" charset="-128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ＭＳ Ｐゴシック" pitchFamily="-112" charset="-128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ＭＳ Ｐゴシック" pitchFamily="-112" charset="-128"/>
              </a:defRPr>
            </a:lvl9pPr>
          </a:lstStyle>
          <a:p>
            <a:pPr marL="0" indent="0">
              <a:buNone/>
            </a:pPr>
            <a:r>
              <a:rPr lang="en-US" kern="0" dirty="0"/>
              <a:t>It is common to inspect, on the test dataset:</a:t>
            </a:r>
          </a:p>
          <a:p>
            <a:pPr marL="0" indent="0">
              <a:buNone/>
            </a:pPr>
            <a:endParaRPr lang="en-US" kern="0" dirty="0"/>
          </a:p>
          <a:p>
            <a:r>
              <a:rPr lang="en-US" kern="0" dirty="0"/>
              <a:t>Predictions and residuals vs measured y (top left)</a:t>
            </a:r>
          </a:p>
          <a:p>
            <a:r>
              <a:rPr lang="en-US" kern="0" dirty="0"/>
              <a:t>Histogram of residuals (top right)</a:t>
            </a:r>
          </a:p>
          <a:p>
            <a:pPr marL="0" indent="0">
              <a:buNone/>
            </a:pPr>
            <a:endParaRPr lang="en-US" kern="0" dirty="0"/>
          </a:p>
          <a:p>
            <a:pPr marL="0" indent="0">
              <a:buNone/>
            </a:pPr>
            <a:r>
              <a:rPr lang="en-US" kern="0" dirty="0"/>
              <a:t>In this toy example:</a:t>
            </a:r>
          </a:p>
          <a:p>
            <a:r>
              <a:rPr lang="en-US" kern="0" dirty="0"/>
              <a:t>The input is only 2D. We can visualize the learned function (bottom left)</a:t>
            </a:r>
          </a:p>
          <a:p>
            <a:r>
              <a:rPr lang="en-US" kern="0" dirty="0"/>
              <a:t>The true function is known. We can visualize also visualize it in 2D (bottom right)</a:t>
            </a:r>
          </a:p>
          <a:p>
            <a:endParaRPr lang="en-US" kern="0" dirty="0"/>
          </a:p>
          <a:p>
            <a:pPr marL="0" indent="0">
              <a:buNone/>
            </a:pPr>
            <a:endParaRPr lang="en-US" kern="0" dirty="0"/>
          </a:p>
          <a:p>
            <a:pPr marL="0" indent="0">
              <a:buFontTx/>
              <a:buNone/>
            </a:pPr>
            <a:endParaRPr lang="en-US" kern="0" dirty="0"/>
          </a:p>
          <a:p>
            <a:pPr marL="0" indent="0">
              <a:buFontTx/>
              <a:buNone/>
            </a:pPr>
            <a:endParaRPr lang="en-US" kern="0" dirty="0"/>
          </a:p>
          <a:p>
            <a:pPr marL="0" indent="0">
              <a:buFontTx/>
              <a:buNone/>
            </a:pPr>
            <a:r>
              <a:rPr lang="en-US" kern="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6245560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0512FC-A623-9199-D5BA-85AA4F35D5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H" dirty="0"/>
              <a:t>Inverse Dynamical Modeling on the EMPS benchmark (emps folder)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6">
                <a:extLst>
                  <a:ext uri="{FF2B5EF4-FFF2-40B4-BE49-F238E27FC236}">
                    <a16:creationId xmlns:a16="http://schemas.microsoft.com/office/drawing/2014/main" id="{928C5DF9-78EE-175B-ED6D-B98D53065B3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CH" dirty="0"/>
                  <a:t>Real dataset from a (simple) mechanical system: the </a:t>
                </a:r>
                <a:r>
                  <a:rPr lang="en-GB" dirty="0">
                    <a:hlinkClick r:id="rId4"/>
                  </a:rPr>
                  <a:t>Electro-Mechanical Positioning System</a:t>
                </a:r>
                <a:endParaRPr lang="en-GB" dirty="0"/>
              </a:p>
              <a:p>
                <a:pPr marL="0" indent="0">
                  <a:buNone/>
                </a:pPr>
                <a:endParaRPr lang="en-GB" dirty="0"/>
              </a:p>
              <a:p>
                <a:r>
                  <a:rPr lang="en-GB" dirty="0"/>
                  <a:t>Prismatic joint, 1-DoF mechanical system</a:t>
                </a:r>
              </a:p>
              <a:p>
                <a:endParaRPr lang="en-GB" dirty="0"/>
              </a:p>
              <a:p>
                <a:endParaRPr lang="en-GB" dirty="0"/>
              </a:p>
              <a:p>
                <a:endParaRPr lang="en-GB" dirty="0"/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GB" dirty="0"/>
                  <a:t>: measured position (m)</a:t>
                </a:r>
              </a:p>
              <a:p>
                <a14:m>
                  <m:oMath xmlns:m="http://schemas.openxmlformats.org/officeDocument/2006/math">
                    <m:r>
                      <a:rPr lang="en-GB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𝜏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:</m:t>
                    </m:r>
                  </m:oMath>
                </a14:m>
                <a:r>
                  <a:rPr lang="en-GB" dirty="0"/>
                  <a:t> known applied force (N)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GB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𝜏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GB" dirty="0"/>
                  <a:t>: unknown friction (N)</a:t>
                </a:r>
              </a:p>
              <a:p>
                <a14:m>
                  <m:oMath xmlns:m="http://schemas.openxmlformats.org/officeDocument/2006/math">
                    <m:r>
                      <a:rPr lang="en-GB" i="1" dirty="0" smtClean="0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GB" dirty="0"/>
                  <a:t>: unknown mass (kg)</a:t>
                </a:r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GB" dirty="0"/>
                  <a:t>: force measurement bias (N)</a:t>
                </a:r>
              </a:p>
              <a:p>
                <a:endParaRPr lang="en-GB" dirty="0"/>
              </a:p>
              <a:p>
                <a:pPr marL="0" indent="0">
                  <a:buNone/>
                </a:pPr>
                <a:r>
                  <a:rPr lang="en-GB" dirty="0"/>
                  <a:t>We want an inverse dynamical model (IDM):</a:t>
                </a:r>
              </a:p>
              <a:p>
                <a:endParaRPr lang="en-GB" dirty="0"/>
              </a:p>
              <a:p>
                <a:endParaRPr lang="en-GB" dirty="0"/>
              </a:p>
              <a:p>
                <a:endParaRPr lang="en-CH" dirty="0"/>
              </a:p>
            </p:txBody>
          </p:sp>
        </mc:Choice>
        <mc:Fallback xmlns="">
          <p:sp>
            <p:nvSpPr>
              <p:cNvPr id="7" name="Content Placeholder 6">
                <a:extLst>
                  <a:ext uri="{FF2B5EF4-FFF2-40B4-BE49-F238E27FC236}">
                    <a16:creationId xmlns:a16="http://schemas.microsoft.com/office/drawing/2014/main" id="{928C5DF9-78EE-175B-ED6D-B98D53065B3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5"/>
                <a:stretch>
                  <a:fillRect l="-1345" t="-1754" b="-1754"/>
                </a:stretch>
              </a:blipFill>
            </p:spPr>
            <p:txBody>
              <a:bodyPr/>
              <a:lstStyle/>
              <a:p>
                <a:r>
                  <a:rPr lang="en-CH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Picture 7">
            <a:extLst>
              <a:ext uri="{FF2B5EF4-FFF2-40B4-BE49-F238E27FC236}">
                <a16:creationId xmlns:a16="http://schemas.microsoft.com/office/drawing/2014/main" id="{01671B2E-A611-1025-9A46-6156CB906C1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74079" y="2348880"/>
            <a:ext cx="4824536" cy="3279351"/>
          </a:xfrm>
          <a:prstGeom prst="rect">
            <a:avLst/>
          </a:prstGeom>
        </p:spPr>
      </p:pic>
      <p:pic>
        <p:nvPicPr>
          <p:cNvPr id="10" name="Picture 9" descr="\documentclass{article}&#10;\usepackage{amsmath}&#10;\usepackage{amsfonts}&#10;&#10;\pagestyle{empty}&#10;&#10;\begin{document}&#10;&#10;\begin{equation*}&#10;M \ddot q(t) = \tau(t) - \tau_{f}(t) - b &#10;\end{equation*}&#10;&#10;\end{document}" title="IguanaTex Bitmap Display">
            <a:extLst>
              <a:ext uri="{FF2B5EF4-FFF2-40B4-BE49-F238E27FC236}">
                <a16:creationId xmlns:a16="http://schemas.microsoft.com/office/drawing/2014/main" id="{136F45A0-9258-474F-CE9F-E9B0C9D858EC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1415480" y="3126859"/>
            <a:ext cx="2911541" cy="302141"/>
          </a:xfrm>
          <a:prstGeom prst="rect">
            <a:avLst/>
          </a:prstGeom>
        </p:spPr>
      </p:pic>
      <p:pic>
        <p:nvPicPr>
          <p:cNvPr id="14" name="Picture 13" descr="\documentclass{article}&#10;\usepackage{amsmath}&#10;\usepackage{amsfonts}&#10;&#10;\pagestyle{empty}&#10;&#10;\begin{document}&#10;&#10;\begin{equation*}&#10;q(t), \dot q(t), \ddot q(t) \rightarrow \tau(t)&#10;\end{equation*}&#10;&#10;\end{document}" title="IguanaTex Bitmap Display">
            <a:extLst>
              <a:ext uri="{FF2B5EF4-FFF2-40B4-BE49-F238E27FC236}">
                <a16:creationId xmlns:a16="http://schemas.microsoft.com/office/drawing/2014/main" id="{98A9CFFD-E35A-7882-3404-2B8602DAB394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8"/>
          <a:stretch>
            <a:fillRect/>
          </a:stretch>
        </p:blipFill>
        <p:spPr>
          <a:xfrm>
            <a:off x="5015880" y="5877272"/>
            <a:ext cx="2489834" cy="2797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74854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5DE05C-5ED9-4D0D-5B0A-04CDA057F2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H" dirty="0"/>
              <a:t>Training and test datasets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EE10D59-1EBD-19D9-2D4A-1DE2BD7C1F8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695400" y="1562780"/>
            <a:ext cx="4536504" cy="447364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570D84A-4F7F-1BD3-7F57-7496A04D795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124420" y="1562780"/>
            <a:ext cx="4536504" cy="44736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69199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0D8A7A-507D-8508-A2AE-7F2F5CE28C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H" dirty="0"/>
              <a:t>Linear 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4094BF-871F-B67C-D016-D4E1A01EE2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CH" dirty="0"/>
              <a:t>We assume a linear friction model:                       </a:t>
            </a:r>
          </a:p>
          <a:p>
            <a:pPr marL="0" indent="0">
              <a:buNone/>
            </a:pPr>
            <a:r>
              <a:rPr lang="en-CH" dirty="0"/>
              <a:t>Then, the IDM is:                                                 . We can fit the IDM with a </a:t>
            </a:r>
            <a:r>
              <a:rPr lang="en-CH" b="1" dirty="0"/>
              <a:t>linear regression</a:t>
            </a:r>
            <a:r>
              <a:rPr lang="en-CH" dirty="0"/>
              <a:t>:</a:t>
            </a:r>
          </a:p>
          <a:p>
            <a:pPr marL="0" indent="0">
              <a:buNone/>
            </a:pPr>
            <a:endParaRPr lang="en-CH" dirty="0"/>
          </a:p>
          <a:p>
            <a:pPr marL="0" indent="0">
              <a:buNone/>
            </a:pPr>
            <a:r>
              <a:rPr lang="en-CH" dirty="0"/>
              <a:t>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FDD0066-CB44-7A01-65C2-11CAA59E8641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4007769" y="1898528"/>
            <a:ext cx="1247507" cy="265427"/>
          </a:xfrm>
          <a:prstGeom prst="rect">
            <a:avLst/>
          </a:prstGeom>
        </p:spPr>
      </p:pic>
      <p:pic>
        <p:nvPicPr>
          <p:cNvPr id="9" name="Picture 8" descr="\documentclass{article}&#10;\usepackage{amsmath}&#10;\usepackage{amsfonts}&#10;&#10;\pagestyle{empty}&#10;&#10;\begin{document}&#10;&#10;\begin{equation*}&#10;\tau(t) = M\ddot q(t) + F_v \dot q(t) + b&#10;\end{equation*}&#10;&#10;\end{document}" title="IguanaTex Bitmap Display">
            <a:extLst>
              <a:ext uri="{FF2B5EF4-FFF2-40B4-BE49-F238E27FC236}">
                <a16:creationId xmlns:a16="http://schemas.microsoft.com/office/drawing/2014/main" id="{293AEDE0-02E0-6903-1EFD-7CD75A7A0572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2207568" y="2250705"/>
            <a:ext cx="3024336" cy="267640"/>
          </a:xfrm>
          <a:prstGeom prst="rect">
            <a:avLst/>
          </a:prstGeom>
        </p:spPr>
      </p:pic>
      <p:pic>
        <p:nvPicPr>
          <p:cNvPr id="12" name="Picture 11" descr="\documentclass{article}&#10;\usepackage{amsmath}&#10;\usepackage{amsfonts}&#10;&#10;\pagestyle{empty}&#10;&#10;\begin{document}&#10;&#10;$$ \tau(t) = \phi(t) \theta, \qquad \phi(t) = [\ddot q(t)\, \dot q(t)\, 1], \qquad \theta = [M\, F_v\,  b]^\top$$&#10;&#10;\end{document}" title="IguanaTex Bitmap Display">
            <a:extLst>
              <a:ext uri="{FF2B5EF4-FFF2-40B4-BE49-F238E27FC236}">
                <a16:creationId xmlns:a16="http://schemas.microsoft.com/office/drawing/2014/main" id="{5DB574CD-B20D-7217-93DA-8A672B69B4FA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2927648" y="2671323"/>
            <a:ext cx="5544616" cy="28074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C33E936A-4A08-1A19-F132-601C3E16C2A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813756" y="3296698"/>
            <a:ext cx="7772400" cy="30965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00694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236190-4084-1BFC-6BC9-AA2FAE8671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H" dirty="0"/>
              <a:t>Linear model with static friction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DB576C-D2F3-6646-2F68-FCC9754B6F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CH" dirty="0"/>
              <a:t>We use a more sophisticated friction model: </a:t>
            </a:r>
            <a:br>
              <a:rPr lang="en-CH" dirty="0"/>
            </a:br>
            <a:br>
              <a:rPr lang="en-CH" dirty="0"/>
            </a:br>
            <a:endParaRPr lang="en-CH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DD545F2-7E64-7910-253F-2F457DB090DD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5015880" y="1916115"/>
            <a:ext cx="2906810" cy="243955"/>
          </a:xfrm>
          <a:prstGeom prst="rect">
            <a:avLst/>
          </a:prstGeom>
        </p:spPr>
      </p:pic>
      <p:pic>
        <p:nvPicPr>
          <p:cNvPr id="10" name="Picture 9" descr="\documentclass{article}&#10;\usepackage{amsmath}&#10;\usepackage{amsfonts}&#10;&#10;\pagestyle{empty}&#10;&#10;\begin{document}&#10;&#10;\begin{equation*}&#10;\tau(t) = \phi(t) \theta, \qquad \phi(t) = [\ddot q(t)\, \dot q(t)\, \text{sign}(q(t))\, 1], \qquad \theta = [M\, F_v\, F_c\, b]^\top&#10;\end{equation*}&#10;&#10;\end{document}" title="IguanaTex Bitmap Display">
            <a:extLst>
              <a:ext uri="{FF2B5EF4-FFF2-40B4-BE49-F238E27FC236}">
                <a16:creationId xmlns:a16="http://schemas.microsoft.com/office/drawing/2014/main" id="{AA2D549F-7F82-C910-9397-9160901450E1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2063552" y="2348880"/>
            <a:ext cx="7416800" cy="3048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F0485F77-F26C-50CE-20E8-82DE6BD6C9E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85752" y="2897222"/>
            <a:ext cx="7772400" cy="30965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63216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0320BA-0AF8-21B4-FC27-C8AFF37308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H" dirty="0"/>
              <a:t>Feed-forward neural network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2CB80A-A993-DB10-61E7-78663C7A2D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CH" dirty="0"/>
              <a:t>We ignore all physics and fit a feed-forward neural network instead:</a:t>
            </a:r>
          </a:p>
          <a:p>
            <a:pPr marL="0" indent="0">
              <a:buNone/>
            </a:pPr>
            <a:endParaRPr lang="en-CH" dirty="0"/>
          </a:p>
          <a:p>
            <a:pPr marL="0" indent="0">
              <a:buNone/>
            </a:pPr>
            <a:endParaRPr lang="en-CH" dirty="0"/>
          </a:p>
          <a:p>
            <a:pPr marL="0" indent="0">
              <a:buNone/>
            </a:pPr>
            <a:endParaRPr lang="en-CH" dirty="0"/>
          </a:p>
          <a:p>
            <a:pPr marL="0" indent="0">
              <a:buNone/>
            </a:pPr>
            <a:endParaRPr lang="en-CH" dirty="0"/>
          </a:p>
          <a:p>
            <a:pPr marL="0" indent="0">
              <a:buNone/>
            </a:pPr>
            <a:endParaRPr lang="en-CH" dirty="0"/>
          </a:p>
          <a:p>
            <a:pPr marL="0" indent="0">
              <a:buNone/>
            </a:pPr>
            <a:endParaRPr lang="en-CH" dirty="0"/>
          </a:p>
          <a:p>
            <a:pPr marL="0" indent="0">
              <a:buNone/>
            </a:pPr>
            <a:endParaRPr lang="en-CH" dirty="0"/>
          </a:p>
          <a:p>
            <a:pPr marL="0" indent="0">
              <a:buNone/>
            </a:pPr>
            <a:endParaRPr lang="en-CH" dirty="0"/>
          </a:p>
          <a:p>
            <a:pPr marL="0" indent="0">
              <a:buNone/>
            </a:pPr>
            <a:endParaRPr lang="en-CH" dirty="0"/>
          </a:p>
          <a:p>
            <a:pPr marL="0" indent="0">
              <a:buNone/>
            </a:pPr>
            <a:endParaRPr lang="en-CH" dirty="0"/>
          </a:p>
          <a:p>
            <a:pPr marL="0" indent="0">
              <a:buNone/>
            </a:pPr>
            <a:endParaRPr lang="en-CH" dirty="0"/>
          </a:p>
          <a:p>
            <a:pPr marL="0" indent="0">
              <a:buNone/>
            </a:pPr>
            <a:r>
              <a:rPr lang="en-CH" dirty="0"/>
              <a:t>Train it yourself!</a:t>
            </a:r>
          </a:p>
          <a:p>
            <a:pPr marL="0" indent="0">
              <a:buNone/>
            </a:pPr>
            <a:endParaRPr lang="en-CH" dirty="0"/>
          </a:p>
          <a:p>
            <a:pPr marL="0" indent="0">
              <a:buNone/>
            </a:pPr>
            <a:endParaRPr lang="en-CH" dirty="0"/>
          </a:p>
          <a:p>
            <a:endParaRPr lang="en-CH" dirty="0"/>
          </a:p>
        </p:txBody>
      </p:sp>
      <p:pic>
        <p:nvPicPr>
          <p:cNvPr id="5" name="Picture 4" descr="\documentclass{article}&#10;\usepackage{amsmath}&#10;\usepackage{amsfonts}&#10;&#10;\pagestyle{empty}&#10;&#10;\begin{document}&#10;&#10;\begin{equation*}&#10;\tau(t) = \mathrm{FF}(\ddot q, \dot q)&#10;\end{equation*}&#10;&#10;\end{document}" title="IguanaTex Bitmap Display">
            <a:extLst>
              <a:ext uri="{FF2B5EF4-FFF2-40B4-BE49-F238E27FC236}">
                <a16:creationId xmlns:a16="http://schemas.microsoft.com/office/drawing/2014/main" id="{9E5CEFB8-F9D6-E813-1846-15AB542A4B2B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7320136" y="1957336"/>
            <a:ext cx="1584176" cy="247528"/>
          </a:xfrm>
          <a:prstGeom prst="rect">
            <a:avLst/>
          </a:prstGeom>
        </p:spPr>
      </p:pic>
      <p:pic>
        <p:nvPicPr>
          <p:cNvPr id="12" name="Picture 11" descr="A graph of a network model&#10;&#10;AI-generated content may be incorrect.">
            <a:extLst>
              <a:ext uri="{FF2B5EF4-FFF2-40B4-BE49-F238E27FC236}">
                <a16:creationId xmlns:a16="http://schemas.microsoft.com/office/drawing/2014/main" id="{AF71B8DF-7993-193E-3101-9C2AD178A55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28048" y="2331229"/>
            <a:ext cx="3888432" cy="3520869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43555090-D028-D456-30F4-C24F2E4848E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1800" y="2492896"/>
            <a:ext cx="4584080" cy="31062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066415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6AC23D-D03A-7297-D67F-93C480075C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B0E314-47C7-D355-AB68-4BC021CADF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H" dirty="0"/>
              <a:t>Physics-inspired neural network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6BE116-CC71-ADAA-EDEE-DDF26D969F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CH" dirty="0"/>
              <a:t>We trust Newton’s law, but nothing else:</a:t>
            </a:r>
          </a:p>
          <a:p>
            <a:pPr marL="0" indent="0">
              <a:buNone/>
            </a:pPr>
            <a:endParaRPr lang="en-CH" dirty="0"/>
          </a:p>
          <a:p>
            <a:pPr marL="0" indent="0">
              <a:buNone/>
            </a:pPr>
            <a:endParaRPr lang="en-CH" dirty="0"/>
          </a:p>
          <a:p>
            <a:pPr marL="0" indent="0">
              <a:buNone/>
            </a:pPr>
            <a:endParaRPr lang="en-CH" dirty="0"/>
          </a:p>
          <a:p>
            <a:pPr marL="0" indent="0">
              <a:buNone/>
            </a:pPr>
            <a:endParaRPr lang="en-CH" dirty="0"/>
          </a:p>
          <a:p>
            <a:pPr marL="0" indent="0">
              <a:buNone/>
            </a:pPr>
            <a:endParaRPr lang="en-CH" dirty="0"/>
          </a:p>
          <a:p>
            <a:pPr marL="0" indent="0">
              <a:buNone/>
            </a:pPr>
            <a:endParaRPr lang="en-CH" dirty="0"/>
          </a:p>
          <a:p>
            <a:pPr marL="0" indent="0">
              <a:buNone/>
            </a:pPr>
            <a:endParaRPr lang="en-CH" dirty="0"/>
          </a:p>
          <a:p>
            <a:pPr marL="0" indent="0">
              <a:buNone/>
            </a:pPr>
            <a:endParaRPr lang="en-CH" dirty="0"/>
          </a:p>
          <a:p>
            <a:pPr marL="0" indent="0">
              <a:buNone/>
            </a:pPr>
            <a:endParaRPr lang="en-CH" dirty="0"/>
          </a:p>
          <a:p>
            <a:pPr marL="0" indent="0">
              <a:buNone/>
            </a:pPr>
            <a:endParaRPr lang="en-CH" dirty="0"/>
          </a:p>
          <a:p>
            <a:pPr marL="0" indent="0">
              <a:buNone/>
            </a:pPr>
            <a:endParaRPr lang="en-CH" dirty="0"/>
          </a:p>
          <a:p>
            <a:pPr marL="0" indent="0">
              <a:buNone/>
            </a:pPr>
            <a:r>
              <a:rPr lang="en-CH" dirty="0"/>
              <a:t>Train it yourself!</a:t>
            </a:r>
          </a:p>
          <a:p>
            <a:pPr marL="0" indent="0">
              <a:buNone/>
            </a:pPr>
            <a:endParaRPr lang="en-CH" dirty="0"/>
          </a:p>
          <a:p>
            <a:pPr marL="0" indent="0">
              <a:buNone/>
            </a:pPr>
            <a:endParaRPr lang="en-CH" dirty="0"/>
          </a:p>
          <a:p>
            <a:endParaRPr lang="en-CH" dirty="0"/>
          </a:p>
        </p:txBody>
      </p:sp>
      <p:pic>
        <p:nvPicPr>
          <p:cNvPr id="9" name="Picture 8" descr="\documentclass{article}&#10;\usepackage{amsmath}&#10;\usepackage{amsfonts}&#10;&#10;\pagestyle{empty}&#10;&#10;\begin{document}&#10;&#10;$$\tau(t) = M \ddot q + \mathrm{FF}(\dot q)$$&#10;&#10;\end{document}" title="IguanaTex Bitmap Display">
            <a:extLst>
              <a:ext uri="{FF2B5EF4-FFF2-40B4-BE49-F238E27FC236}">
                <a16:creationId xmlns:a16="http://schemas.microsoft.com/office/drawing/2014/main" id="{C89B8B92-ED29-FF9C-73E8-09B47255DFF2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4583832" y="1933389"/>
            <a:ext cx="2082800" cy="254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7B4867E-2510-57F7-7719-05B2FDC3A06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8025" y="2458663"/>
            <a:ext cx="6043935" cy="327379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7368F59D-6769-4DC4-2B14-3796F926580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16080" y="2400021"/>
            <a:ext cx="4176464" cy="33324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2133564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8"/>
  <p:tag name="ORIGINALWIDTH" val="118"/>
  <p:tag name="OUTPUTTYPE" val="PDF"/>
  <p:tag name="IGUANATEXVERSION" val="160"/>
  <p:tag name="LATEXADDIN" val="\documentclass{article}&#10;\usepackage{amsmath}&#10;\usepackage{amsfonts}&#10;&#10;\pagestyle{empty}&#10;&#10;\begin{document}&#10;&#10;% $$f : \mathbb{R}^2 \rightarrow \mathbb{R}; \qquad x \rightarrow 2\sin (x_1) - 3\cos (x_2)$$&#10;&#10;$$ f(x) = 2\sin (x_1) - 3\cos (x_2) $$&#10;$$ x \in [-2, 2]^2 \subset \mathbb{R}^2$$&#10;&#10;\end{document}"/>
  <p:tag name="IGUANATEXSIZE" val="18"/>
  <p:tag name="IGUANATEXCURSOR" val="259"/>
  <p:tag name="TRANSPARENCY" val="True"/>
  <p:tag name="LATEXENGINEID" val="0"/>
  <p:tag name="TEMPFOLDER" val="/Users/marco.forgione/Library/Containers/com.microsoft.Powerpoint/Data/tmp/TemporaryItems/"/>
  <p:tag name="LATEXFORMHEIGHT" val="434"/>
  <p:tag name="LATEXFORMWIDTH" val="888"/>
  <p:tag name="LATEXFORMWRAP" val="True"/>
  <p:tag name="BITMAPVECTOR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1"/>
  <p:tag name="ORIGINALWIDTH" val="48"/>
  <p:tag name="OUTPUTTYPE" val="PDF"/>
  <p:tag name="IGUANATEXVERSION" val="160"/>
  <p:tag name="LATEXADDIN" val="\documentclass{article}&#10;\usepackage{amsmath}&#10;\usepackage{amsfonts}&#10;&#10;\pagestyle{empty}&#10;&#10;\begin{document}&#10;&#10;\begin{equation*}&#10;f : \mathbb{R}^2 \rightarrow \mathbb{R}&#10;\end{equation*}&#10;&#10;\end{document}"/>
  <p:tag name="IGUANATEXSIZE" val="20"/>
  <p:tag name="IGUANATEXCURSOR" val="162"/>
  <p:tag name="TRANSPARENCY" val="True"/>
  <p:tag name="LATEXENGINEID" val="0"/>
  <p:tag name="TEMPFOLDER" val="/Users/marco.forgione/Library/Containers/com.microsoft.Powerpoint/Data/tmp/TemporaryItems/"/>
  <p:tag name="LATEXFORMHEIGHT" val="426.65"/>
  <p:tag name="LATEXFORMWIDTH" val="513.35"/>
  <p:tag name="LATEXFORMWRAP" val="True"/>
  <p:tag name="BITMAPVECTOR" val="0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1"/>
  <p:tag name="ORIGINALWIDTH" val="106"/>
  <p:tag name="OUTPUTTYPE" val="PDF"/>
  <p:tag name="IGUANATEXVERSION" val="160"/>
  <p:tag name="LATEXADDIN" val="\documentclass{article}&#10;\usepackage{amsmath}&#10;\usepackage{amsfonts}&#10;&#10;\pagestyle{empty}&#10;&#10;\begin{document}&#10;&#10;\begin{equation*}&#10;M \ddot q(t) = \tau(t) - \tau_{f}(t) - b &#10;\end{equation*}&#10;&#10;\end{document}"/>
  <p:tag name="IGUANATEXSIZE" val="18"/>
  <p:tag name="IGUANATEXCURSOR" val="163"/>
  <p:tag name="TRANSPARENCY" val="True"/>
  <p:tag name="LATEXENGINEID" val="0"/>
  <p:tag name="TEMPFOLDER" val="/Users/marco.forgione/Library/Containers/com.microsoft.Powerpoint/Data/tmp/TemporaryItems/"/>
  <p:tag name="LATEXFORMHEIGHT" val="426.65"/>
  <p:tag name="LATEXFORMWIDTH" val="513.35"/>
  <p:tag name="LATEXFORMWRAP" val="True"/>
  <p:tag name="BITMAPVECTOR" val="0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0"/>
  <p:tag name="ORIGINALWIDTH" val="89"/>
  <p:tag name="OUTPUTTYPE" val="PDF"/>
  <p:tag name="IGUANATEXVERSION" val="160"/>
  <p:tag name="LATEXADDIN" val="\documentclass{article}&#10;\usepackage{amsmath}&#10;\usepackage{amsfonts}&#10;&#10;\pagestyle{empty}&#10;&#10;\begin{document}&#10;&#10;\begin{equation*}&#10;q(t), \dot q(t), \ddot q(t) \rightarrow \tau(t)&#10;\end{equation*}&#10;&#10;\end{document}"/>
  <p:tag name="IGUANATEXSIZE" val="18"/>
  <p:tag name="IGUANATEXCURSOR" val="170"/>
  <p:tag name="TRANSPARENCY" val="True"/>
  <p:tag name="LATEXENGINEID" val="0"/>
  <p:tag name="TEMPFOLDER" val="/Users/marco.forgione/Library/Containers/com.microsoft.Powerpoint/Data/tmp/TemporaryItems/"/>
  <p:tag name="LATEXFORMHEIGHT" val="426.65"/>
  <p:tag name="LATEXFORMWIDTH" val="513.35"/>
  <p:tag name="LATEXFORMWRAP" val="True"/>
  <p:tag name="BITMAPVECTOR" val="0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130"/>
  <p:tag name="ORIGINALWIDTH" val=" 611"/>
  <p:tag name="OUTPUTTYPE" val="PNG"/>
  <p:tag name="IGUANATEXVERSION" val="162"/>
  <p:tag name="LATEXADDIN" val="\documentclass{article}&#10;\usepackage{amsmath}&#10;\usepackage{amsfonts}&#10;&#10;\pagestyle{empty}&#10;&#10;\begin{document}&#10;&#10;\begin{equation*}&#10;\tau_{f} = F_v \dot q(t)&#10;\end{equation*}&#10;&#10;\end{document}"/>
  <p:tag name="IGUANATEXSIZE" val="18"/>
  <p:tag name="IGUANATEXCURSOR" val="134"/>
  <p:tag name="TRANSPARENCY" val="True"/>
  <p:tag name="CHOOSECOLOR" val="False"/>
  <p:tag name="COLORHEX" val="000000"/>
  <p:tag name="LATEXENGINEID" val="0"/>
  <p:tag name="TEMPFOLDER" val="/Users/marco.forgione/Library/Containers/com.microsoft.Powerpoint/Data/tmp/TemporaryItems/"/>
  <p:tag name="LATEXFORMHEIGHT" val=" 426.65"/>
  <p:tag name="LATEXFORMWIDTH" val=" 513.35"/>
  <p:tag name="LATEXFORMWRAP" val="True"/>
  <p:tag name="BITMAPVECTOR" val="0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0"/>
  <p:tag name="ORIGINALWIDTH" val="113"/>
  <p:tag name="OUTPUTTYPE" val="PDF"/>
  <p:tag name="IGUANATEXVERSION" val="160"/>
  <p:tag name="LATEXADDIN" val="\documentclass{article}&#10;\usepackage{amsmath}&#10;\usepackage{amsfonts}&#10;&#10;\pagestyle{empty}&#10;&#10;\begin{document}&#10;&#10;\begin{equation*}&#10;\tau(t) = M\ddot q(t) + F_v \dot q(t) + b&#10;\end{equation*}&#10;&#10;\end{document}"/>
  <p:tag name="IGUANATEXSIZE" val="18"/>
  <p:tag name="IGUANATEXCURSOR" val="123"/>
  <p:tag name="TRANSPARENCY" val="True"/>
  <p:tag name="LATEXENGINEID" val="0"/>
  <p:tag name="TEMPFOLDER" val="/Users/marco.forgione/Library/Containers/com.microsoft.Powerpoint/Data/tmp/TemporaryItems/"/>
  <p:tag name="LATEXFORMHEIGHT" val="426.65"/>
  <p:tag name="LATEXFORMWIDTH" val="513.35"/>
  <p:tag name="LATEXFORMWRAP" val="True"/>
  <p:tag name="BITMAPVECTOR" val="0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"/>
  <p:tag name="ORIGINALWIDTH" val="237"/>
  <p:tag name="OUTPUTTYPE" val="PDF"/>
  <p:tag name="IGUANATEXVERSION" val="160"/>
  <p:tag name="LATEXADDIN" val="\documentclass{article}&#10;\usepackage{amsmath}&#10;\usepackage{amsfonts}&#10;&#10;\pagestyle{empty}&#10;&#10;\begin{document}&#10;&#10;$$ \tau(t) = \phi(t) \theta, \qquad \phi(t) = [\ddot q(t)\, \dot q(t)\, 1], \qquad \theta = [M\, F_v\,  b]^\top$$&#10;&#10;\end{document}"/>
  <p:tag name="IGUANATEXSIZE" val="18"/>
  <p:tag name="IGUANATEXCURSOR" val="219"/>
  <p:tag name="TRANSPARENCY" val="True"/>
  <p:tag name="LATEXENGINEID" val="0"/>
  <p:tag name="TEMPFOLDER" val="/Users/marco.forgione/Library/Containers/com.microsoft.Powerpoint/Data/tmp/TemporaryItems/"/>
  <p:tag name="LATEXFORMHEIGHT" val="426.65"/>
  <p:tag name="LATEXFORMWIDTH" val="513.35"/>
  <p:tag name="LATEXFORMWRAP" val="True"/>
  <p:tag name="BITMAPVECTOR" val="0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130"/>
  <p:tag name="ORIGINALWIDTH" val=" 1549"/>
  <p:tag name="OUTPUTTYPE" val="PNG"/>
  <p:tag name="IGUANATEXVERSION" val="162"/>
  <p:tag name="LATEXADDIN" val="\documentclass{article}&#10;\usepackage{amsmath}&#10;\usepackage{amsfonts}&#10;&#10;\pagestyle{empty}&#10;&#10;\begin{document}&#10;&#10;\begin{equation*}&#10;\tau_{f}(t) = F_v \dot q(t) + F_c \text{sign}(\dot q(t))&#10;\end{equation*}&#10;&#10;\end{document}"/>
  <p:tag name="IGUANATEXSIZE" val="18"/>
  <p:tag name="IGUANATEXCURSOR" val="153"/>
  <p:tag name="TRANSPARENCY" val="True"/>
  <p:tag name="CHOOSECOLOR" val="False"/>
  <p:tag name="COLORHEX" val="000000"/>
  <p:tag name="LATEXENGINEID" val="0"/>
  <p:tag name="TEMPFOLDER" val="/Users/marco.forgione/Library/Containers/com.microsoft.Powerpoint/Data/tmp/TemporaryItems/"/>
  <p:tag name="LATEXFORMHEIGHT" val=" 426.65"/>
  <p:tag name="LATEXFORMWIDTH" val=" 513.35"/>
  <p:tag name="LATEXFORMWRAP" val="True"/>
  <p:tag name="BITMAPVECTOR" val="0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"/>
  <p:tag name="ORIGINALWIDTH" val="292"/>
  <p:tag name="OUTPUTTYPE" val="PDF"/>
  <p:tag name="IGUANATEXVERSION" val="160"/>
  <p:tag name="LATEXADDIN" val="\documentclass{article}&#10;\usepackage{amsmath}&#10;\usepackage{amsfonts}&#10;&#10;\pagestyle{empty}&#10;&#10;\begin{document}&#10;&#10;\begin{equation*}&#10;\tau(t) = \phi(t) \theta, \qquad \phi(t) = [\ddot q(t)\, \dot q(t)\, \text{sign}(q(t))\, 1], \qquad \theta = [M\, F_v\, F_c\, b]^\top&#10;\end{equation*}&#10;&#10;\end{document}"/>
  <p:tag name="IGUANATEXSIZE" val="20"/>
  <p:tag name="IGUANATEXCURSOR" val="130"/>
  <p:tag name="TRANSPARENCY" val="True"/>
  <p:tag name="LATEXENGINEID" val="0"/>
  <p:tag name="TEMPFOLDER" val="/Users/marco.forgione/Library/Containers/com.microsoft.Powerpoint/Data/tmp/TemporaryItems/"/>
  <p:tag name="LATEXFORMHEIGHT" val="426.65"/>
  <p:tag name="LATEXFORMWIDTH" val="513.35"/>
  <p:tag name="LATEXFORMWRAP" val="True"/>
  <p:tag name="BITMAPVECTOR" val="0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0"/>
  <p:tag name="ORIGINALWIDTH" val="64"/>
  <p:tag name="OUTPUTTYPE" val="PDF"/>
  <p:tag name="IGUANATEXVERSION" val="160"/>
  <p:tag name="LATEXADDIN" val="\documentclass{article}&#10;\usepackage{amsmath}&#10;\usepackage{amsfonts}&#10;&#10;\pagestyle{empty}&#10;&#10;\begin{document}&#10;&#10;\begin{equation*}&#10;\tau(t) = \mathrm{FF}(\ddot q, \dot q)&#10;\end{equation*}&#10;&#10;\end{document}"/>
  <p:tag name="IGUANATEXSIZE" val="18"/>
  <p:tag name="IGUANATEXCURSOR" val="161"/>
  <p:tag name="TRANSPARENCY" val="True"/>
  <p:tag name="LATEXENGINEID" val="0"/>
  <p:tag name="TEMPFOLDER" val="/Users/marco.forgione/Library/Containers/com.microsoft.Powerpoint/Data/tmp/TemporaryItems/"/>
  <p:tag name="LATEXFORMHEIGHT" val="426.65"/>
  <p:tag name="LATEXFORMWIDTH" val="513.35"/>
  <p:tag name="LATEXFORMWRAP" val="True"/>
  <p:tag name="BITMAPVECTOR" val="0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0"/>
  <p:tag name="ORIGINALWIDTH" val="82"/>
  <p:tag name="OUTPUTTYPE" val="PDF"/>
  <p:tag name="IGUANATEXVERSION" val="160"/>
  <p:tag name="LATEXADDIN" val="\documentclass{article}&#10;\usepackage{amsmath}&#10;\usepackage{amsfonts}&#10;&#10;\pagestyle{empty}&#10;&#10;\begin{document}&#10;&#10;$$\tau(t) = M \ddot q + \mathrm{FF}(\dot q)$$&#10;&#10;\end{document}"/>
  <p:tag name="IGUANATEXSIZE" val="20"/>
  <p:tag name="IGUANATEXCURSOR" val="114"/>
  <p:tag name="TRANSPARENCY" val="True"/>
  <p:tag name="LATEXENGINEID" val="0"/>
  <p:tag name="TEMPFOLDER" val="/Users/marco.forgione/Library/Containers/com.microsoft.Powerpoint/Data/tmp/TemporaryItems/"/>
  <p:tag name="LATEXFORMHEIGHT" val="426.65"/>
  <p:tag name="LATEXFORMWIDTH" val="513.35"/>
  <p:tag name="LATEXFORMWRAP" val="True"/>
  <p:tag name="BITMAPVECTOR" val="0"/>
</p:tagLst>
</file>

<file path=ppt/theme/theme1.xml><?xml version="1.0" encoding="utf-8"?>
<a:theme xmlns:a="http://schemas.openxmlformats.org/drawingml/2006/main" name="SUPSI_DACD_CCR_2010">
  <a:themeElements>
    <a:clrScheme name="SUPSI 1">
      <a:dk1>
        <a:srgbClr val="000000"/>
      </a:dk1>
      <a:lt1>
        <a:sysClr val="window" lastClr="FFFFFF"/>
      </a:lt1>
      <a:dk2>
        <a:srgbClr val="141C64"/>
      </a:dk2>
      <a:lt2>
        <a:srgbClr val="FFFFFF"/>
      </a:lt2>
      <a:accent1>
        <a:srgbClr val="141C78"/>
      </a:accent1>
      <a:accent2>
        <a:srgbClr val="2838C8"/>
      </a:accent2>
      <a:accent3>
        <a:srgbClr val="0063C8"/>
      </a:accent3>
      <a:accent4>
        <a:srgbClr val="0096FF"/>
      </a:accent4>
      <a:accent5>
        <a:srgbClr val="46A01E"/>
      </a:accent5>
      <a:accent6>
        <a:srgbClr val="8CD23C"/>
      </a:accent6>
      <a:hlink>
        <a:srgbClr val="000000"/>
      </a:hlink>
      <a:folHlink>
        <a:srgbClr val="646464"/>
      </a:folHlink>
    </a:clrScheme>
    <a:fontScheme name="SUPSI_DSAS">
      <a:majorFont>
        <a:latin typeface="Times New Roman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 bwMode="auto">
        <a:noFill/>
        <a:ln w="9525">
          <a:noFill/>
          <a:miter lim="800000"/>
          <a:headEnd/>
          <a:tailEnd/>
        </a:ln>
      </a:spPr>
      <a:bodyPr lIns="0" tIns="0" rIns="0" bIns="0">
        <a:prstTxWarp prst="textNoShape">
          <a:avLst/>
        </a:prstTxWarp>
      </a:bodyPr>
      <a:lstStyle>
        <a:defPPr eaLnBrk="0" hangingPunct="0">
          <a:spcBef>
            <a:spcPct val="20000"/>
          </a:spcBef>
          <a:defRPr sz="1400" kern="0" dirty="0" smtClean="0">
            <a:latin typeface="+mn-lt"/>
            <a:ea typeface="ＭＳ Ｐゴシック" pitchFamily="-112" charset="-128"/>
            <a:cs typeface="ＭＳ Ｐゴシック" pitchFamily="-112" charset="-128"/>
          </a:defRPr>
        </a:defPPr>
      </a:lstStyle>
    </a:txDef>
  </a:objectDefaults>
  <a:extraClrSchemeLst>
    <a:extraClrScheme>
      <a:clrScheme name="SUPSI_DSAS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UPSI_DSAS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UPSI_DSAS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UPSI_DSAS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UPSI_DSAS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UPSI_DSAS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UPSI_DSAS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UPSI_DSAS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UPSI_DSAS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UPSI_DSAS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UPSI_DSAS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UPSI_DSAS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ema di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943B4D0C91CA54E9BBFAD215D4A4FF7" ma:contentTypeVersion="18" ma:contentTypeDescription="Create a new document." ma:contentTypeScope="" ma:versionID="48c4930ddcec7bff74490998dd84a4c1">
  <xsd:schema xmlns:xsd="http://www.w3.org/2001/XMLSchema" xmlns:xs="http://www.w3.org/2001/XMLSchema" xmlns:p="http://schemas.microsoft.com/office/2006/metadata/properties" xmlns:ns2="0c05fedb-ed2a-4eb3-93de-5f5a6c97bfe0" xmlns:ns3="c69d801c-64cd-49bc-b1b3-ec2496ede094" targetNamespace="http://schemas.microsoft.com/office/2006/metadata/properties" ma:root="true" ma:fieldsID="dcb337392c8a5973c5e221652a72fbb4" ns2:_="" ns3:_="">
    <xsd:import namespace="0c05fedb-ed2a-4eb3-93de-5f5a6c97bfe0"/>
    <xsd:import namespace="c69d801c-64cd-49bc-b1b3-ec2496ede094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  <xsd:element ref="ns2:MediaServiceOCR" minOccurs="0"/>
                <xsd:element ref="ns2:MediaServiceAutoKeyPoints" minOccurs="0"/>
                <xsd:element ref="ns2:MediaServiceKeyPoints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Location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c05fedb-ed2a-4eb3-93de-5f5a6c97bfe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AutoKeyPoints" ma:index="17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8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21" nillable="true" ma:taxonomy="true" ma:internalName="lcf76f155ced4ddcb4097134ff3c332f" ma:taxonomyFieldName="MediaServiceImageTags" ma:displayName="Image Tags" ma:readOnly="false" ma:fieldId="{5cf76f15-5ced-4ddc-b409-7134ff3c332f}" ma:taxonomyMulti="true" ma:sspId="ec321eb7-7579-4b0b-aaae-46c07e43205a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3" nillable="true" ma:displayName="Location" ma:indexed="true" ma:internalName="MediaServiceLocation" ma:readOnly="true">
      <xsd:simpleType>
        <xsd:restriction base="dms:Text"/>
      </xsd:simpleType>
    </xsd:element>
    <xsd:element name="MediaServiceObjectDetectorVersions" ma:index="2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69d801c-64cd-49bc-b1b3-ec2496ede094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2" nillable="true" ma:displayName="Taxonomy Catch All Column" ma:hidden="true" ma:list="{25ad22e3-f7d4-475a-9946-b2f27a0b53ef}" ma:internalName="TaxCatchAll" ma:showField="CatchAllData" ma:web="c69d801c-64cd-49bc-b1b3-ec2496ede094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0c05fedb-ed2a-4eb3-93de-5f5a6c97bfe0">
      <Terms xmlns="http://schemas.microsoft.com/office/infopath/2007/PartnerControls"/>
    </lcf76f155ced4ddcb4097134ff3c332f>
    <TaxCatchAll xmlns="c69d801c-64cd-49bc-b1b3-ec2496ede094" xsi:nil="true"/>
  </documentManagement>
</p:properties>
</file>

<file path=customXml/itemProps1.xml><?xml version="1.0" encoding="utf-8"?>
<ds:datastoreItem xmlns:ds="http://schemas.openxmlformats.org/officeDocument/2006/customXml" ds:itemID="{957E0BBE-38AF-4179-B401-F6E82B6A5F3D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950C4CF8-8E6C-4481-8DE0-79509E1800D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0c05fedb-ed2a-4eb3-93de-5f5a6c97bfe0"/>
    <ds:schemaRef ds:uri="c69d801c-64cd-49bc-b1b3-ec2496ede094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862A9E72-43F2-4CCE-8F90-EBA4919DBB42}">
  <ds:schemaRefs>
    <ds:schemaRef ds:uri="http://schemas.microsoft.com/office/2006/documentManagement/types"/>
    <ds:schemaRef ds:uri="c69d801c-64cd-49bc-b1b3-ec2496ede094"/>
    <ds:schemaRef ds:uri="http://purl.org/dc/dcmitype/"/>
    <ds:schemaRef ds:uri="http://purl.org/dc/elements/1.1/"/>
    <ds:schemaRef ds:uri="http://schemas.openxmlformats.org/package/2006/metadata/core-properties"/>
    <ds:schemaRef ds:uri="http://purl.org/dc/terms/"/>
    <ds:schemaRef ds:uri="http://www.w3.org/XML/1998/namespace"/>
    <ds:schemaRef ds:uri="http://schemas.microsoft.com/office/infopath/2007/PartnerControls"/>
    <ds:schemaRef ds:uri="0c05fedb-ed2a-4eb3-93de-5f5a6c97bfe0"/>
    <ds:schemaRef ds:uri="http://schemas.microsoft.com/office/2006/metadata/propertie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Powerpoint_ST_CS_1 copia</Template>
  <TotalTime>302</TotalTime>
  <Words>328</Words>
  <Application>Microsoft Macintosh PowerPoint</Application>
  <PresentationFormat>Widescreen</PresentationFormat>
  <Paragraphs>90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ＭＳ Ｐゴシック</vt:lpstr>
      <vt:lpstr>Arial</vt:lpstr>
      <vt:lpstr>Cambria Math</vt:lpstr>
      <vt:lpstr>Times New Roman</vt:lpstr>
      <vt:lpstr>Trebuchet MS</vt:lpstr>
      <vt:lpstr>SUPSI_DACD_CCR_2010</vt:lpstr>
      <vt:lpstr>Regression with Feedforward Neural Networks </vt:lpstr>
      <vt:lpstr>2D regression on synthetic data (synthetic_2d folder)</vt:lpstr>
      <vt:lpstr>Feed-forward neural network model</vt:lpstr>
      <vt:lpstr>Model training</vt:lpstr>
      <vt:lpstr>Model evaluation</vt:lpstr>
      <vt:lpstr>Inverse Dynamical Modeling on the EMPS benchmark (emps folder)</vt:lpstr>
      <vt:lpstr>Training and test datasets</vt:lpstr>
      <vt:lpstr>Linear model</vt:lpstr>
      <vt:lpstr>Linear model with static friction </vt:lpstr>
      <vt:lpstr>Feed-forward neural network</vt:lpstr>
      <vt:lpstr>Physics-inspired neural network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Presentazione di PowerPoint</dc:title>
  <dc:creator>Utente di Microsoft Office</dc:creator>
  <cp:lastModifiedBy>Forgione Marco</cp:lastModifiedBy>
  <cp:revision>81</cp:revision>
  <dcterms:created xsi:type="dcterms:W3CDTF">2017-01-20T15:44:58Z</dcterms:created>
  <dcterms:modified xsi:type="dcterms:W3CDTF">2026-06-19T20:04:58Z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0x010100E943B4D0C91CA54E9BBFAD215D4A4FF7</vt:lpwstr>
  </property>
  <property fmtid="{D5CDD505-2E9C-101B-9397-08002B2CF9AE}" pid="3" name="MediaServiceImageTags">
    <vt:lpwstr/>
  </property>
</Properties>
</file>